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các bạn thực tập sinh. Slide này dùng để mở đầu buổi hướng dẫn. Nhắc lại mốc thời gian của đợt thực tập trước khi vào nội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bản thân ngắn gọn. Nhấn mạnh rằng mentor đóng vai Product Owner của dự án, và các bạn nên hỏi sớm thay vì tự loay hoay.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4 tuần dự án và 1 tuần đánh giá. Các bạn nên hình dung công việc của từng tuần ngay từ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luôn 4 khối cụ thể để các bạn tự tìm dòng của mình. Mỗi khối một đề bài khác nhau, nhắc đọc đúng backlog của khối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ai làm gì. Nhấn mạnh Team Charter phải xong ngay phiên đầu tiên, không để sang tuần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checklist các bạn có thể tick ngay trong buổi đầu. Nhắc nhóm trưởng chịu trách nhiệm rà lại cuối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các bạn đăng ký khóa ngay trong ngày đầu, và học đều mỗi ngày thay vì dồn vào tuần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mục nhật ký gồm 4 phần. Nhấn mạnh rằng nhật ký là căn cứ theo dõi và là một phần của đánh giá cuối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tả nhịp làm việc một tuần điển hình. Nhấn mạnh tính chủ động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cách đọc buổi offline từ tên khối. Khuyến khích đặt câu hỏi công khai trên kênh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hỏi các bạn hay hỏi nhất. Trả lời dứt khoát: ngày nào cũng có việc phải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bốn tiêu chí. Nhấn mạnh đánh giá là quá trình liên tục, không phải chỉ ở tuần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kỳ vọng về tác phong. Có thể lấy ví dụ thực tế từ các đợt thực tập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các bạn lưu bốn liên kết này ngay. Kiểm tra quyền truy cập của các thư mục trước buổi hướng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file backlog thật lên màn hình khi nói slide này, chỉ từng phần cho các bạn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khó: nông hộ có quyền yêu cầu xoá dữ liệu định danh nhưng chuỗi hash vẫn phải nguyên vẹn. Nhóm nên bàn cách làm từ sớm.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trung tâm là tranh chấp ghế khi nhiều người bấm cùng lúc. Nhóm phải chọn cơ chế giữ chỗ ngay từ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gốc yêu cầu staging ngay Sprint 1; với TTS mới, tuần đầu hạ mục tiêu xuống chạy trên máy cá nhân. Hạ tầng sẽ nâng dần từ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nhóm: việc 1 và 2 phải xong trong hai ngày đầu, nếu không cả tuần sẽ tắc. Việc 5 mới là thứ Mentor nghiệm thu cuối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thời gian thật cho hỏi đáp. Nếu không ai hỏi, hãy hỏi ngược lại các bạn: nhóm đã biết đề bài của khối mình chưa, đã chọn Scrum Master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rive.google.com/drive/folders/1YueYc-ZlRpzFOvY7Zp0ej1bVqNEA0JQ9" TargetMode="External"/><Relationship Id="rId2" Type="http://schemas.openxmlformats.org/officeDocument/2006/relationships/hyperlink" Target="https://drive.google.com/drive/folders/1Kt1q4KzONRJ9VtuPxyCFaBOs1ka5UHo-" TargetMode="External"/><Relationship Id="rId3" Type="http://schemas.openxmlformats.org/officeDocument/2006/relationships/hyperlink" Target="https://docs.google.com/document/d/1C5hBS_kW1qfoUnYvnEefC22Z8SjZD9_J/edit" TargetMode="External"/><Relationship Id="rId4" Type="http://schemas.openxmlformats.org/officeDocument/2006/relationships/hyperlink" Target="https://drive.google.com/drive/folders/1OaU1uZ-DzyLbLOCsVp4sfcDabhZOrZTh" TargetMode="Externa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882"/>
        </a:solidFill>
      </p:bgPr>
    </p:bg>
    <p:spTree>
      <p:nvGrpSpPr>
        <p:cNvPr id="1" name=""/>
        <p:cNvGrpSpPr/>
        <p:nvPr/>
      </p:nvGrpSpPr>
      <p:grpSpPr>
        <a:xfrm>
          <a:off x="0" y="0"/>
          <a:ext cx="0" cy="0"/>
          <a:chOff x="0" y="0"/>
          <a:chExt cx="0" cy="0"/>
        </a:xfrm>
      </p:grpSpPr>
      <p:pic>
        <p:nvPicPr>
          <p:cNvPr id="2" name="Image 0" descr="Logo CodeGym">    </p:cNvPr>
          <p:cNvPicPr>
            <a:picLocks noChangeAspect="1"/>
          </p:cNvPicPr>
          <p:nvPr/>
        </p:nvPicPr>
        <p:blipFill>
          <a:blip r:embed="rId1"/>
          <a:srcRect l="0" r="0" t="-146" b="-146"/>
          <a:stretch/>
        </p:blipFill>
        <p:spPr>
          <a:xfrm>
            <a:off x="4425950" y="558800"/>
            <a:ext cx="3340100" cy="1098550"/>
          </a:xfrm>
          <a:prstGeom prst="rect">
            <a:avLst/>
          </a:prstGeom>
        </p:spPr>
      </p:pic>
      <p:pic>
        <p:nvPicPr>
          <p:cNvPr id="3" name="Image 1" descr="line">    </p:cNvPr>
          <p:cNvPicPr>
            <a:picLocks noChangeAspect="1"/>
          </p:cNvPicPr>
          <p:nvPr/>
        </p:nvPicPr>
        <p:blipFill>
          <a:blip r:embed="rId2"/>
          <a:srcRect l="0" r="0" t="0" b="0"/>
          <a:stretch/>
        </p:blipFill>
        <p:spPr>
          <a:xfrm>
            <a:off x="2476500" y="1981200"/>
            <a:ext cx="7239000" cy="38100"/>
          </a:xfrm>
          <a:prstGeom prst="rect">
            <a:avLst/>
          </a:prstGeom>
        </p:spPr>
      </p:pic>
      <p:sp>
        <p:nvSpPr>
          <p:cNvPr id="4" name="Text 0"/>
          <p:cNvSpPr/>
          <p:nvPr/>
        </p:nvSpPr>
        <p:spPr>
          <a:xfrm>
            <a:off x="1853515" y="2746276"/>
            <a:ext cx="8484970" cy="1390848"/>
          </a:xfrm>
          <a:prstGeom prst="rect">
            <a:avLst/>
          </a:prstGeom>
          <a:noFill/>
          <a:ln/>
        </p:spPr>
        <p:txBody>
          <a:bodyPr wrap="square" lIns="0" tIns="0" rIns="0" bIns="0" rtlCol="0" anchor="t">
            <a:normAutofit/>
          </a:bodyPr>
          <a:lstStyle/>
          <a:p>
            <a:pPr algn="ctr" indent="0" marL="0">
              <a:lnSpc>
                <a:spcPts val="5376"/>
              </a:lnSpc>
              <a:buNone/>
            </a:pPr>
            <a:r>
              <a:rPr lang="en-US" sz="4200" b="1" dirty="0">
                <a:solidFill>
                  <a:srgbClr val="FFFFFF"/>
                </a:solidFill>
                <a:latin typeface="Be Vietnam Pro" pitchFamily="34" charset="0"/>
                <a:ea typeface="Be Vietnam Pro" pitchFamily="34" charset="-122"/>
                <a:cs typeface="Be Vietnam Pro" pitchFamily="34" charset="-120"/>
              </a:rPr>
              <a:t>HƯỚNG DẪN THỰC TẬP CƠ SỞ</a:t>
            </a:r>
            <a:endParaRPr lang="en-US" sz="4200" dirty="0"/>
          </a:p>
          <a:p>
            <a:pPr algn="ctr" indent="0" marL="0">
              <a:lnSpc>
                <a:spcPts val="5376"/>
              </a:lnSpc>
              <a:buNone/>
            </a:pPr>
            <a:r>
              <a:rPr lang="en-US" sz="4200" b="1" dirty="0">
                <a:solidFill>
                  <a:srgbClr val="FFFFFF"/>
                </a:solidFill>
                <a:latin typeface="Be Vietnam Pro" pitchFamily="34" charset="0"/>
                <a:ea typeface="Be Vietnam Pro" pitchFamily="34" charset="-122"/>
                <a:cs typeface="Be Vietnam Pro" pitchFamily="34" charset="-120"/>
              </a:rPr>
              <a:t>DÀNH CHO THỰC TẬP SINH</a:t>
            </a:r>
            <a:endParaRPr lang="en-US" sz="4200" dirty="0"/>
          </a:p>
        </p:txBody>
      </p:sp>
      <p:sp>
        <p:nvSpPr>
          <p:cNvPr id="5" name="Text 1"/>
          <p:cNvSpPr/>
          <p:nvPr/>
        </p:nvSpPr>
        <p:spPr>
          <a:xfrm>
            <a:off x="654304" y="5862340"/>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CADCFC"/>
                </a:solidFill>
                <a:latin typeface="Be Vietnam Pro" pitchFamily="34" charset="0"/>
                <a:ea typeface="Be Vietnam Pro" pitchFamily="34" charset="-122"/>
                <a:cs typeface="Be Vietnam Pro" pitchFamily="34" charset="-120"/>
              </a:rPr>
              <a:t>Chương trình TTCS tại ICTU · giai đoạn dự án từ 21/9 đến 26/10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Mentor đồng hành cùng bạn</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Product Owner của dự án, người các bạn sẽ làm việc cùng trong 5 tuần tới</a:t>
            </a:r>
            <a:endParaRPr lang="en-US" sz="1300" dirty="0"/>
          </a:p>
        </p:txBody>
      </p:sp>
      <p:pic>
        <p:nvPicPr>
          <p:cNvPr id="4" name="Image 0" descr="Ảnh chân dung mentor Lê Đình Tuấn">    </p:cNvPr>
          <p:cNvPicPr>
            <a:picLocks noChangeAspect="1"/>
          </p:cNvPicPr>
          <p:nvPr/>
        </p:nvPicPr>
        <p:blipFill>
          <a:blip r:embed="rId1"/>
          <a:srcRect l="0" r="0" t="0" b="0"/>
          <a:stretch/>
        </p:blipFill>
        <p:spPr>
          <a:xfrm>
            <a:off x="812800" y="1643360"/>
            <a:ext cx="2540000" cy="3810000"/>
          </a:xfrm>
          <a:prstGeom prst="rect">
            <a:avLst/>
          </a:prstGeom>
        </p:spPr>
      </p:pic>
      <p:sp>
        <p:nvSpPr>
          <p:cNvPr id="5" name="Text 2"/>
          <p:cNvSpPr/>
          <p:nvPr/>
        </p:nvSpPr>
        <p:spPr>
          <a:xfrm>
            <a:off x="3759200" y="1643360"/>
            <a:ext cx="7848600" cy="467320"/>
          </a:xfrm>
          <a:prstGeom prst="rect">
            <a:avLst/>
          </a:prstGeom>
          <a:noFill/>
          <a:ln/>
        </p:spPr>
        <p:txBody>
          <a:bodyPr wrap="square" lIns="0" tIns="0" rIns="0" bIns="0" rtlCol="0" anchor="t">
            <a:normAutofit/>
          </a:bodyPr>
          <a:lstStyle/>
          <a:p>
            <a:pPr algn="l" indent="0" marL="0">
              <a:lnSpc>
                <a:spcPts val="3480"/>
              </a:lnSpc>
              <a:buNone/>
            </a:pPr>
            <a:r>
              <a:rPr lang="en-US" sz="2900" b="1" dirty="0">
                <a:solidFill>
                  <a:srgbClr val="282882"/>
                </a:solidFill>
                <a:latin typeface="Be Vietnam Pro" pitchFamily="34" charset="0"/>
                <a:ea typeface="Be Vietnam Pro" pitchFamily="34" charset="-122"/>
                <a:cs typeface="Be Vietnam Pro" pitchFamily="34" charset="-120"/>
              </a:rPr>
              <a:t>Lê Đình Tuấn</a:t>
            </a:r>
            <a:endParaRPr lang="en-US" sz="2900" dirty="0"/>
          </a:p>
        </p:txBody>
      </p:sp>
      <p:sp>
        <p:nvSpPr>
          <p:cNvPr id="6" name="Text 3"/>
          <p:cNvSpPr/>
          <p:nvPr/>
        </p:nvSpPr>
        <p:spPr>
          <a:xfrm>
            <a:off x="3759200" y="2136080"/>
            <a:ext cx="784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4E23"/>
                </a:solidFill>
                <a:latin typeface="Be Vietnam Pro" pitchFamily="34" charset="0"/>
                <a:ea typeface="Be Vietnam Pro" pitchFamily="34" charset="-122"/>
                <a:cs typeface="Be Vietnam Pro" pitchFamily="34" charset="-120"/>
              </a:rPr>
              <a:t>Mentor</a:t>
            </a:r>
            <a:endParaRPr lang="en-US" sz="1400" dirty="0"/>
          </a:p>
        </p:txBody>
      </p:sp>
      <p:sp>
        <p:nvSpPr>
          <p:cNvPr id="7" name="Shape 4"/>
          <p:cNvSpPr/>
          <p:nvPr/>
        </p:nvSpPr>
        <p:spPr>
          <a:xfrm>
            <a:off x="3759200" y="2527846"/>
            <a:ext cx="7620000" cy="0"/>
          </a:xfrm>
          <a:prstGeom prst="line">
            <a:avLst/>
          </a:prstGeom>
          <a:noFill/>
          <a:ln w="6350">
            <a:solidFill>
              <a:srgbClr val="EEF0F8"/>
            </a:solidFill>
            <a:prstDash val="solid"/>
          </a:ln>
        </p:spPr>
      </p:sp>
      <p:sp>
        <p:nvSpPr>
          <p:cNvPr id="8" name="Text 5"/>
          <p:cNvSpPr/>
          <p:nvPr/>
        </p:nvSpPr>
        <p:spPr>
          <a:xfrm>
            <a:off x="3759200" y="265802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82882"/>
                </a:solidFill>
                <a:latin typeface="Be Vietnam Pro" pitchFamily="34" charset="0"/>
                <a:ea typeface="Be Vietnam Pro" pitchFamily="34" charset="-122"/>
                <a:cs typeface="Be Vietnam Pro" pitchFamily="34" charset="-120"/>
              </a:rPr>
              <a:t>Kinh nghiệm</a:t>
            </a:r>
            <a:endParaRPr lang="en-US" sz="1300" dirty="0"/>
          </a:p>
        </p:txBody>
      </p:sp>
      <p:sp>
        <p:nvSpPr>
          <p:cNvPr id="9" name="Text 6"/>
          <p:cNvSpPr/>
          <p:nvPr/>
        </p:nvSpPr>
        <p:spPr>
          <a:xfrm>
            <a:off x="5461000" y="2658021"/>
            <a:ext cx="60957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Gần 5 năm phát triển phần mềm với các dự án PHP, Laravel, React</a:t>
            </a:r>
            <a:endParaRPr lang="en-US" sz="1300" dirty="0"/>
          </a:p>
        </p:txBody>
      </p:sp>
      <p:sp>
        <p:nvSpPr>
          <p:cNvPr id="10" name="Shape 7"/>
          <p:cNvSpPr/>
          <p:nvPr/>
        </p:nvSpPr>
        <p:spPr>
          <a:xfrm>
            <a:off x="3759200" y="3032026"/>
            <a:ext cx="7620000" cy="0"/>
          </a:xfrm>
          <a:prstGeom prst="line">
            <a:avLst/>
          </a:prstGeom>
          <a:noFill/>
          <a:ln w="6350">
            <a:solidFill>
              <a:srgbClr val="EEF0F8"/>
            </a:solidFill>
            <a:prstDash val="solid"/>
          </a:ln>
        </p:spPr>
      </p:sp>
      <p:sp>
        <p:nvSpPr>
          <p:cNvPr id="11" name="Text 8"/>
          <p:cNvSpPr/>
          <p:nvPr/>
        </p:nvSpPr>
        <p:spPr>
          <a:xfrm>
            <a:off x="3759200" y="316220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82882"/>
                </a:solidFill>
                <a:latin typeface="Be Vietnam Pro" pitchFamily="34" charset="0"/>
                <a:ea typeface="Be Vietnam Pro" pitchFamily="34" charset="-122"/>
                <a:cs typeface="Be Vietnam Pro" pitchFamily="34" charset="-120"/>
              </a:rPr>
              <a:t>Liên hệ</a:t>
            </a:r>
            <a:endParaRPr lang="en-US" sz="1300" dirty="0"/>
          </a:p>
        </p:txBody>
      </p:sp>
      <p:sp>
        <p:nvSpPr>
          <p:cNvPr id="12" name="Text 9"/>
          <p:cNvSpPr/>
          <p:nvPr/>
        </p:nvSpPr>
        <p:spPr>
          <a:xfrm>
            <a:off x="5461000" y="3162201"/>
            <a:ext cx="60957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Zalo, điện thoại: 0988 259 782 · Email: tuan.le@codegym.vn</a:t>
            </a:r>
            <a:endParaRPr lang="en-US" sz="1300" dirty="0"/>
          </a:p>
        </p:txBody>
      </p:sp>
      <p:sp>
        <p:nvSpPr>
          <p:cNvPr id="13" name="Shape 10"/>
          <p:cNvSpPr/>
          <p:nvPr/>
        </p:nvSpPr>
        <p:spPr>
          <a:xfrm>
            <a:off x="3759200" y="3536206"/>
            <a:ext cx="7620000" cy="0"/>
          </a:xfrm>
          <a:prstGeom prst="line">
            <a:avLst/>
          </a:prstGeom>
          <a:noFill/>
          <a:ln w="6350">
            <a:solidFill>
              <a:srgbClr val="EEF0F8"/>
            </a:solidFill>
            <a:prstDash val="solid"/>
          </a:ln>
        </p:spPr>
      </p:sp>
      <p:sp>
        <p:nvSpPr>
          <p:cNvPr id="14" name="Text 11"/>
          <p:cNvSpPr/>
          <p:nvPr/>
        </p:nvSpPr>
        <p:spPr>
          <a:xfrm>
            <a:off x="3759200" y="366638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82882"/>
                </a:solidFill>
                <a:latin typeface="Be Vietnam Pro" pitchFamily="34" charset="0"/>
                <a:ea typeface="Be Vietnam Pro" pitchFamily="34" charset="-122"/>
                <a:cs typeface="Be Vietnam Pro" pitchFamily="34" charset="-120"/>
              </a:rPr>
              <a:t>Lịch gặp offline</a:t>
            </a:r>
            <a:endParaRPr lang="en-US" sz="1300" dirty="0"/>
          </a:p>
        </p:txBody>
      </p:sp>
      <p:sp>
        <p:nvSpPr>
          <p:cNvPr id="15" name="Text 12"/>
          <p:cNvSpPr/>
          <p:nvPr/>
        </p:nvSpPr>
        <p:spPr>
          <a:xfrm>
            <a:off x="5461000" y="3666381"/>
            <a:ext cx="60957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Chiều Thứ 4 và chiều Thứ 5 hàng tuần, 13:00–17:30</a:t>
            </a:r>
            <a:endParaRPr lang="en-US" sz="1300" dirty="0"/>
          </a:p>
        </p:txBody>
      </p:sp>
      <p:sp>
        <p:nvSpPr>
          <p:cNvPr id="16" name="Shape 13"/>
          <p:cNvSpPr/>
          <p:nvPr/>
        </p:nvSpPr>
        <p:spPr>
          <a:xfrm>
            <a:off x="3759200" y="4040386"/>
            <a:ext cx="7620000" cy="0"/>
          </a:xfrm>
          <a:prstGeom prst="line">
            <a:avLst/>
          </a:prstGeom>
          <a:noFill/>
          <a:ln w="6350">
            <a:solidFill>
              <a:srgbClr val="EEF0F8"/>
            </a:solidFill>
            <a:prstDash val="solid"/>
          </a:ln>
        </p:spPr>
      </p:sp>
      <p:sp>
        <p:nvSpPr>
          <p:cNvPr id="17" name="Text 14"/>
          <p:cNvSpPr/>
          <p:nvPr/>
        </p:nvSpPr>
        <p:spPr>
          <a:xfrm>
            <a:off x="3759200" y="417056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82882"/>
                </a:solidFill>
                <a:latin typeface="Be Vietnam Pro" pitchFamily="34" charset="0"/>
                <a:ea typeface="Be Vietnam Pro" pitchFamily="34" charset="-122"/>
                <a:cs typeface="Be Vietnam Pro" pitchFamily="34" charset="-120"/>
              </a:rPr>
              <a:t>Hỏi tôi khi</a:t>
            </a:r>
            <a:endParaRPr lang="en-US" sz="1300" dirty="0"/>
          </a:p>
        </p:txBody>
      </p:sp>
      <p:sp>
        <p:nvSpPr>
          <p:cNvPr id="18" name="Text 15"/>
          <p:cNvSpPr/>
          <p:nvPr/>
        </p:nvSpPr>
        <p:spPr>
          <a:xfrm>
            <a:off x="5461000" y="4170561"/>
            <a:ext cx="60957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Vướng kỹ thuật, chưa rõ cách làm việc theo Scrum, hoặc nhóm gặp khó khăn nội bộ</a:t>
            </a:r>
            <a:endParaRPr lang="en-US" sz="1300" dirty="0"/>
          </a:p>
        </p:txBody>
      </p:sp>
      <p:sp>
        <p:nvSpPr>
          <p:cNvPr id="19"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0" name="Text 1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Lộ trình 5 tuần thực tập</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4 tuần làm dự án theo nhóm và 1 tuần đánh giá, từ 21/9 đến 26/10</a:t>
            </a:r>
            <a:endParaRPr lang="en-US" sz="1300" dirty="0"/>
          </a:p>
        </p:txBody>
      </p:sp>
      <p:sp>
        <p:nvSpPr>
          <p:cNvPr id="4" name="Shape 2"/>
          <p:cNvSpPr/>
          <p:nvPr/>
        </p:nvSpPr>
        <p:spPr>
          <a:xfrm>
            <a:off x="812800" y="1617960"/>
            <a:ext cx="3386634" cy="1081980"/>
          </a:xfrm>
          <a:prstGeom prst="roundRect">
            <a:avLst>
              <a:gd name="adj" fmla="val 11738"/>
            </a:avLst>
          </a:prstGeom>
          <a:solidFill>
            <a:srgbClr val="EEF0F8"/>
          </a:solidFill>
          <a:ln/>
        </p:spPr>
      </p:sp>
      <p:sp>
        <p:nvSpPr>
          <p:cNvPr id="5" name="Text 3"/>
          <p:cNvSpPr/>
          <p:nvPr/>
        </p:nvSpPr>
        <p:spPr>
          <a:xfrm>
            <a:off x="1041400" y="1795760"/>
            <a:ext cx="3017317"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82882"/>
                </a:solidFill>
                <a:latin typeface="Be Vietnam Pro" pitchFamily="34" charset="0"/>
                <a:ea typeface="Be Vietnam Pro" pitchFamily="34" charset="-122"/>
                <a:cs typeface="Be Vietnam Pro" pitchFamily="34" charset="-120"/>
              </a:rPr>
              <a:t>5</a:t>
            </a:r>
            <a:endParaRPr lang="en-US" sz="3200" dirty="0"/>
          </a:p>
        </p:txBody>
      </p:sp>
      <p:sp>
        <p:nvSpPr>
          <p:cNvPr id="6" name="Text 4"/>
          <p:cNvSpPr/>
          <p:nvPr/>
        </p:nvSpPr>
        <p:spPr>
          <a:xfrm>
            <a:off x="1041400" y="2308820"/>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tuần</a:t>
            </a:r>
            <a:endParaRPr lang="en-US" sz="1200" dirty="0"/>
          </a:p>
        </p:txBody>
      </p:sp>
      <p:sp>
        <p:nvSpPr>
          <p:cNvPr id="7" name="Shape 5"/>
          <p:cNvSpPr/>
          <p:nvPr/>
        </p:nvSpPr>
        <p:spPr>
          <a:xfrm>
            <a:off x="4402634" y="1617960"/>
            <a:ext cx="3386683" cy="1081980"/>
          </a:xfrm>
          <a:prstGeom prst="roundRect">
            <a:avLst>
              <a:gd name="adj" fmla="val 11738"/>
            </a:avLst>
          </a:prstGeom>
          <a:solidFill>
            <a:srgbClr val="EEF0F8"/>
          </a:solidFill>
          <a:ln/>
        </p:spPr>
      </p:sp>
      <p:sp>
        <p:nvSpPr>
          <p:cNvPr id="8" name="Text 6"/>
          <p:cNvSpPr/>
          <p:nvPr/>
        </p:nvSpPr>
        <p:spPr>
          <a:xfrm>
            <a:off x="4631234" y="1795760"/>
            <a:ext cx="3017368"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282882"/>
                </a:solidFill>
                <a:latin typeface="Be Vietnam Pro" pitchFamily="34" charset="0"/>
                <a:ea typeface="Be Vietnam Pro" pitchFamily="34" charset="-122"/>
                <a:cs typeface="Be Vietnam Pro" pitchFamily="34" charset="-120"/>
              </a:rPr>
              <a:t>21/9</a:t>
            </a:r>
            <a:endParaRPr lang="en-US" sz="3200" dirty="0"/>
          </a:p>
        </p:txBody>
      </p:sp>
      <p:sp>
        <p:nvSpPr>
          <p:cNvPr id="9" name="Text 7"/>
          <p:cNvSpPr/>
          <p:nvPr/>
        </p:nvSpPr>
        <p:spPr>
          <a:xfrm>
            <a:off x="4631234" y="2308820"/>
            <a:ext cx="3017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bắt đầu</a:t>
            </a:r>
            <a:endParaRPr lang="en-US" sz="1200" dirty="0"/>
          </a:p>
        </p:txBody>
      </p:sp>
      <p:sp>
        <p:nvSpPr>
          <p:cNvPr id="10" name="Shape 8"/>
          <p:cNvSpPr/>
          <p:nvPr/>
        </p:nvSpPr>
        <p:spPr>
          <a:xfrm>
            <a:off x="7992517" y="1617960"/>
            <a:ext cx="3386683" cy="1081980"/>
          </a:xfrm>
          <a:prstGeom prst="roundRect">
            <a:avLst>
              <a:gd name="adj" fmla="val 11738"/>
            </a:avLst>
          </a:prstGeom>
          <a:solidFill>
            <a:srgbClr val="EEF0F8"/>
          </a:solidFill>
          <a:ln/>
        </p:spPr>
      </p:sp>
      <p:sp>
        <p:nvSpPr>
          <p:cNvPr id="11" name="Text 9"/>
          <p:cNvSpPr/>
          <p:nvPr/>
        </p:nvSpPr>
        <p:spPr>
          <a:xfrm>
            <a:off x="8221117" y="1795760"/>
            <a:ext cx="3017368"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04E23"/>
                </a:solidFill>
                <a:latin typeface="Be Vietnam Pro" pitchFamily="34" charset="0"/>
                <a:ea typeface="Be Vietnam Pro" pitchFamily="34" charset="-122"/>
                <a:cs typeface="Be Vietnam Pro" pitchFamily="34" charset="-120"/>
              </a:rPr>
              <a:t>26/10</a:t>
            </a:r>
            <a:endParaRPr lang="en-US" sz="3200" dirty="0"/>
          </a:p>
        </p:txBody>
      </p:sp>
      <p:sp>
        <p:nvSpPr>
          <p:cNvPr id="12" name="Text 10"/>
          <p:cNvSpPr/>
          <p:nvPr/>
        </p:nvSpPr>
        <p:spPr>
          <a:xfrm>
            <a:off x="8221117" y="2308820"/>
            <a:ext cx="3017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kết thúc</a:t>
            </a:r>
            <a:endParaRPr lang="en-US" sz="1200" dirty="0"/>
          </a:p>
        </p:txBody>
      </p:sp>
      <p:sp>
        <p:nvSpPr>
          <p:cNvPr id="13" name="Shape 11"/>
          <p:cNvSpPr/>
          <p:nvPr/>
        </p:nvSpPr>
        <p:spPr>
          <a:xfrm>
            <a:off x="812800" y="2966641"/>
            <a:ext cx="1991320" cy="0"/>
          </a:xfrm>
          <a:prstGeom prst="line">
            <a:avLst/>
          </a:prstGeom>
          <a:noFill/>
          <a:ln w="25400">
            <a:solidFill>
              <a:srgbClr val="282882"/>
            </a:solidFill>
            <a:prstDash val="solid"/>
          </a:ln>
        </p:spPr>
      </p:sp>
      <p:sp>
        <p:nvSpPr>
          <p:cNvPr id="14" name="Shape 12"/>
          <p:cNvSpPr/>
          <p:nvPr/>
        </p:nvSpPr>
        <p:spPr>
          <a:xfrm>
            <a:off x="812800" y="3144441"/>
            <a:ext cx="330200" cy="330200"/>
          </a:xfrm>
          <a:prstGeom prst="roundRect">
            <a:avLst>
              <a:gd name="adj" fmla="val 50000"/>
            </a:avLst>
          </a:prstGeom>
          <a:solidFill>
            <a:srgbClr val="282882"/>
          </a:solidFill>
          <a:ln/>
        </p:spPr>
      </p:sp>
      <p:sp>
        <p:nvSpPr>
          <p:cNvPr id="15" name="Text 13"/>
          <p:cNvSpPr/>
          <p:nvPr/>
        </p:nvSpPr>
        <p:spPr>
          <a:xfrm>
            <a:off x="943620" y="3193951"/>
            <a:ext cx="1193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1</a:t>
            </a:r>
            <a:endParaRPr lang="en-US" sz="1300" dirty="0"/>
          </a:p>
        </p:txBody>
      </p:sp>
      <p:sp>
        <p:nvSpPr>
          <p:cNvPr id="16" name="Text 14"/>
          <p:cNvSpPr/>
          <p:nvPr/>
        </p:nvSpPr>
        <p:spPr>
          <a:xfrm>
            <a:off x="812800" y="3576241"/>
            <a:ext cx="205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82882"/>
                </a:solidFill>
                <a:latin typeface="Be Vietnam Pro" pitchFamily="34" charset="0"/>
                <a:ea typeface="Be Vietnam Pro" pitchFamily="34" charset="-122"/>
                <a:cs typeface="Be Vietnam Pro" pitchFamily="34" charset="-120"/>
              </a:rPr>
              <a:t>Tuần 1</a:t>
            </a:r>
            <a:endParaRPr lang="en-US" sz="1400" dirty="0"/>
          </a:p>
        </p:txBody>
      </p:sp>
      <p:sp>
        <p:nvSpPr>
          <p:cNvPr id="17" name="Text 15"/>
          <p:cNvSpPr/>
          <p:nvPr/>
        </p:nvSpPr>
        <p:spPr>
          <a:xfrm>
            <a:off x="812800" y="3926731"/>
            <a:ext cx="205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Be Vietnam Pro" pitchFamily="34" charset="0"/>
                <a:ea typeface="Be Vietnam Pro" pitchFamily="34" charset="-122"/>
                <a:cs typeface="Be Vietnam Pro" pitchFamily="34" charset="-120"/>
              </a:rPr>
              <a:t>Lập nhóm, Team Charter, Kickoff, Sprint 1</a:t>
            </a:r>
            <a:endParaRPr lang="en-US" sz="1200" dirty="0"/>
          </a:p>
        </p:txBody>
      </p:sp>
      <p:sp>
        <p:nvSpPr>
          <p:cNvPr id="18" name="Shape 16"/>
          <p:cNvSpPr/>
          <p:nvPr/>
        </p:nvSpPr>
        <p:spPr>
          <a:xfrm>
            <a:off x="2956520" y="2966641"/>
            <a:ext cx="1991370" cy="0"/>
          </a:xfrm>
          <a:prstGeom prst="line">
            <a:avLst/>
          </a:prstGeom>
          <a:noFill/>
          <a:ln w="25400">
            <a:solidFill>
              <a:srgbClr val="282882"/>
            </a:solidFill>
            <a:prstDash val="solid"/>
          </a:ln>
        </p:spPr>
      </p:sp>
      <p:sp>
        <p:nvSpPr>
          <p:cNvPr id="19" name="Shape 17"/>
          <p:cNvSpPr/>
          <p:nvPr/>
        </p:nvSpPr>
        <p:spPr>
          <a:xfrm>
            <a:off x="2956520" y="3144441"/>
            <a:ext cx="330200" cy="330200"/>
          </a:xfrm>
          <a:prstGeom prst="roundRect">
            <a:avLst>
              <a:gd name="adj" fmla="val 50000"/>
            </a:avLst>
          </a:prstGeom>
          <a:solidFill>
            <a:srgbClr val="282882"/>
          </a:solidFill>
          <a:ln/>
        </p:spPr>
      </p:sp>
      <p:sp>
        <p:nvSpPr>
          <p:cNvPr id="20" name="Text 18"/>
          <p:cNvSpPr/>
          <p:nvPr/>
        </p:nvSpPr>
        <p:spPr>
          <a:xfrm>
            <a:off x="3067100" y="3193951"/>
            <a:ext cx="1597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2</a:t>
            </a:r>
            <a:endParaRPr lang="en-US" sz="1300" dirty="0"/>
          </a:p>
        </p:txBody>
      </p:sp>
      <p:sp>
        <p:nvSpPr>
          <p:cNvPr id="21" name="Text 19"/>
          <p:cNvSpPr/>
          <p:nvPr/>
        </p:nvSpPr>
        <p:spPr>
          <a:xfrm>
            <a:off x="2956520" y="3576241"/>
            <a:ext cx="20511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82882"/>
                </a:solidFill>
                <a:latin typeface="Be Vietnam Pro" pitchFamily="34" charset="0"/>
                <a:ea typeface="Be Vietnam Pro" pitchFamily="34" charset="-122"/>
                <a:cs typeface="Be Vietnam Pro" pitchFamily="34" charset="-120"/>
              </a:rPr>
              <a:t>Tuần 2</a:t>
            </a:r>
            <a:endParaRPr lang="en-US" sz="1400" dirty="0"/>
          </a:p>
        </p:txBody>
      </p:sp>
      <p:sp>
        <p:nvSpPr>
          <p:cNvPr id="22" name="Text 20"/>
          <p:cNvSpPr/>
          <p:nvPr/>
        </p:nvSpPr>
        <p:spPr>
          <a:xfrm>
            <a:off x="2956520" y="39267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Be Vietnam Pro" pitchFamily="34" charset="0"/>
                <a:ea typeface="Be Vietnam Pro" pitchFamily="34" charset="-122"/>
                <a:cs typeface="Be Vietnam Pro" pitchFamily="34" charset="-120"/>
              </a:rPr>
              <a:t>Làm dự án theo sprint, nhật ký và học LMS</a:t>
            </a:r>
            <a:endParaRPr lang="en-US" sz="1200" dirty="0"/>
          </a:p>
        </p:txBody>
      </p:sp>
      <p:sp>
        <p:nvSpPr>
          <p:cNvPr id="23" name="Shape 21"/>
          <p:cNvSpPr/>
          <p:nvPr/>
        </p:nvSpPr>
        <p:spPr>
          <a:xfrm>
            <a:off x="5100290" y="2966641"/>
            <a:ext cx="1991370" cy="0"/>
          </a:xfrm>
          <a:prstGeom prst="line">
            <a:avLst/>
          </a:prstGeom>
          <a:noFill/>
          <a:ln w="25400">
            <a:solidFill>
              <a:srgbClr val="282882"/>
            </a:solidFill>
            <a:prstDash val="solid"/>
          </a:ln>
        </p:spPr>
      </p:sp>
      <p:sp>
        <p:nvSpPr>
          <p:cNvPr id="24" name="Shape 22"/>
          <p:cNvSpPr/>
          <p:nvPr/>
        </p:nvSpPr>
        <p:spPr>
          <a:xfrm>
            <a:off x="5100290" y="3144441"/>
            <a:ext cx="330200" cy="330200"/>
          </a:xfrm>
          <a:prstGeom prst="roundRect">
            <a:avLst>
              <a:gd name="adj" fmla="val 50000"/>
            </a:avLst>
          </a:prstGeom>
          <a:solidFill>
            <a:srgbClr val="282882"/>
          </a:solidFill>
          <a:ln/>
        </p:spPr>
      </p:sp>
      <p:sp>
        <p:nvSpPr>
          <p:cNvPr id="25" name="Text 23"/>
          <p:cNvSpPr/>
          <p:nvPr/>
        </p:nvSpPr>
        <p:spPr>
          <a:xfrm>
            <a:off x="5209729" y="3193951"/>
            <a:ext cx="1621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3</a:t>
            </a:r>
            <a:endParaRPr lang="en-US" sz="1300" dirty="0"/>
          </a:p>
        </p:txBody>
      </p:sp>
      <p:sp>
        <p:nvSpPr>
          <p:cNvPr id="26" name="Text 24"/>
          <p:cNvSpPr/>
          <p:nvPr/>
        </p:nvSpPr>
        <p:spPr>
          <a:xfrm>
            <a:off x="5100290" y="3576241"/>
            <a:ext cx="20511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82882"/>
                </a:solidFill>
                <a:latin typeface="Be Vietnam Pro" pitchFamily="34" charset="0"/>
                <a:ea typeface="Be Vietnam Pro" pitchFamily="34" charset="-122"/>
                <a:cs typeface="Be Vietnam Pro" pitchFamily="34" charset="-120"/>
              </a:rPr>
              <a:t>Tuần 3</a:t>
            </a:r>
            <a:endParaRPr lang="en-US" sz="1400" dirty="0"/>
          </a:p>
        </p:txBody>
      </p:sp>
      <p:sp>
        <p:nvSpPr>
          <p:cNvPr id="27" name="Text 25"/>
          <p:cNvSpPr/>
          <p:nvPr/>
        </p:nvSpPr>
        <p:spPr>
          <a:xfrm>
            <a:off x="5100290" y="39267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Be Vietnam Pro" pitchFamily="34" charset="0"/>
                <a:ea typeface="Be Vietnam Pro" pitchFamily="34" charset="-122"/>
                <a:cs typeface="Be Vietnam Pro" pitchFamily="34" charset="-120"/>
              </a:rPr>
              <a:t>Tiếp tục sprint, review với Mentor</a:t>
            </a:r>
            <a:endParaRPr lang="en-US" sz="1200" dirty="0"/>
          </a:p>
        </p:txBody>
      </p:sp>
      <p:sp>
        <p:nvSpPr>
          <p:cNvPr id="28" name="Shape 26"/>
          <p:cNvSpPr/>
          <p:nvPr/>
        </p:nvSpPr>
        <p:spPr>
          <a:xfrm>
            <a:off x="7244060" y="2966641"/>
            <a:ext cx="1991370" cy="0"/>
          </a:xfrm>
          <a:prstGeom prst="line">
            <a:avLst/>
          </a:prstGeom>
          <a:noFill/>
          <a:ln w="25400">
            <a:solidFill>
              <a:srgbClr val="282882"/>
            </a:solidFill>
            <a:prstDash val="solid"/>
          </a:ln>
        </p:spPr>
      </p:sp>
      <p:sp>
        <p:nvSpPr>
          <p:cNvPr id="29" name="Shape 27"/>
          <p:cNvSpPr/>
          <p:nvPr/>
        </p:nvSpPr>
        <p:spPr>
          <a:xfrm>
            <a:off x="7244060" y="3144441"/>
            <a:ext cx="330200" cy="330200"/>
          </a:xfrm>
          <a:prstGeom prst="roundRect">
            <a:avLst>
              <a:gd name="adj" fmla="val 50000"/>
            </a:avLst>
          </a:prstGeom>
          <a:solidFill>
            <a:srgbClr val="282882"/>
          </a:solidFill>
          <a:ln/>
        </p:spPr>
      </p:sp>
      <p:sp>
        <p:nvSpPr>
          <p:cNvPr id="30" name="Text 28"/>
          <p:cNvSpPr/>
          <p:nvPr/>
        </p:nvSpPr>
        <p:spPr>
          <a:xfrm>
            <a:off x="7350026" y="3193951"/>
            <a:ext cx="16901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4</a:t>
            </a:r>
            <a:endParaRPr lang="en-US" sz="1300" dirty="0"/>
          </a:p>
        </p:txBody>
      </p:sp>
      <p:sp>
        <p:nvSpPr>
          <p:cNvPr id="31" name="Text 29"/>
          <p:cNvSpPr/>
          <p:nvPr/>
        </p:nvSpPr>
        <p:spPr>
          <a:xfrm>
            <a:off x="7244060" y="3576241"/>
            <a:ext cx="20511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82882"/>
                </a:solidFill>
                <a:latin typeface="Be Vietnam Pro" pitchFamily="34" charset="0"/>
                <a:ea typeface="Be Vietnam Pro" pitchFamily="34" charset="-122"/>
                <a:cs typeface="Be Vietnam Pro" pitchFamily="34" charset="-120"/>
              </a:rPr>
              <a:t>Tuần 4</a:t>
            </a:r>
            <a:endParaRPr lang="en-US" sz="1400" dirty="0"/>
          </a:p>
        </p:txBody>
      </p:sp>
      <p:sp>
        <p:nvSpPr>
          <p:cNvPr id="32" name="Text 30"/>
          <p:cNvSpPr/>
          <p:nvPr/>
        </p:nvSpPr>
        <p:spPr>
          <a:xfrm>
            <a:off x="7244060" y="39267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Be Vietnam Pro" pitchFamily="34" charset="0"/>
                <a:ea typeface="Be Vietnam Pro" pitchFamily="34" charset="-122"/>
                <a:cs typeface="Be Vietnam Pro" pitchFamily="34" charset="-120"/>
              </a:rPr>
              <a:t>Hoàn thiện sản phẩm, hoàn tất khóa học LMS</a:t>
            </a:r>
            <a:endParaRPr lang="en-US" sz="1200" dirty="0"/>
          </a:p>
        </p:txBody>
      </p:sp>
      <p:sp>
        <p:nvSpPr>
          <p:cNvPr id="33" name="Shape 31"/>
          <p:cNvSpPr/>
          <p:nvPr/>
        </p:nvSpPr>
        <p:spPr>
          <a:xfrm>
            <a:off x="9387830" y="2966641"/>
            <a:ext cx="1991370" cy="0"/>
          </a:xfrm>
          <a:prstGeom prst="line">
            <a:avLst/>
          </a:prstGeom>
          <a:noFill/>
          <a:ln w="25400">
            <a:solidFill>
              <a:srgbClr val="F04E23"/>
            </a:solidFill>
            <a:prstDash val="solid"/>
          </a:ln>
        </p:spPr>
      </p:sp>
      <p:sp>
        <p:nvSpPr>
          <p:cNvPr id="34" name="Shape 32"/>
          <p:cNvSpPr/>
          <p:nvPr/>
        </p:nvSpPr>
        <p:spPr>
          <a:xfrm>
            <a:off x="9387830" y="3144441"/>
            <a:ext cx="330200" cy="330200"/>
          </a:xfrm>
          <a:prstGeom prst="roundRect">
            <a:avLst>
              <a:gd name="adj" fmla="val 50000"/>
            </a:avLst>
          </a:prstGeom>
          <a:solidFill>
            <a:srgbClr val="F04E23"/>
          </a:solidFill>
          <a:ln/>
        </p:spPr>
      </p:sp>
      <p:sp>
        <p:nvSpPr>
          <p:cNvPr id="35" name="Text 33"/>
          <p:cNvSpPr/>
          <p:nvPr/>
        </p:nvSpPr>
        <p:spPr>
          <a:xfrm>
            <a:off x="9497268" y="3193951"/>
            <a:ext cx="1621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5</a:t>
            </a:r>
            <a:endParaRPr lang="en-US" sz="1300" dirty="0"/>
          </a:p>
        </p:txBody>
      </p:sp>
      <p:sp>
        <p:nvSpPr>
          <p:cNvPr id="36" name="Text 34"/>
          <p:cNvSpPr/>
          <p:nvPr/>
        </p:nvSpPr>
        <p:spPr>
          <a:xfrm>
            <a:off x="9387830" y="3576241"/>
            <a:ext cx="20511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4E23"/>
                </a:solidFill>
                <a:latin typeface="Be Vietnam Pro" pitchFamily="34" charset="0"/>
                <a:ea typeface="Be Vietnam Pro" pitchFamily="34" charset="-122"/>
                <a:cs typeface="Be Vietnam Pro" pitchFamily="34" charset="-120"/>
              </a:rPr>
              <a:t>Tuần 5</a:t>
            </a:r>
            <a:endParaRPr lang="en-US" sz="1400" dirty="0"/>
          </a:p>
        </p:txBody>
      </p:sp>
      <p:sp>
        <p:nvSpPr>
          <p:cNvPr id="37" name="Text 35"/>
          <p:cNvSpPr/>
          <p:nvPr/>
        </p:nvSpPr>
        <p:spPr>
          <a:xfrm>
            <a:off x="9387830" y="39267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5959"/>
                </a:solidFill>
                <a:latin typeface="Be Vietnam Pro" pitchFamily="34" charset="0"/>
                <a:ea typeface="Be Vietnam Pro" pitchFamily="34" charset="-122"/>
                <a:cs typeface="Be Vietnam Pro" pitchFamily="34" charset="-120"/>
              </a:rPr>
              <a:t>Đánh giá cuối kỳ, Mentor chấm điểm</a:t>
            </a:r>
            <a:endParaRPr lang="en-US" sz="1200" dirty="0"/>
          </a:p>
        </p:txBody>
      </p:sp>
      <p:sp>
        <p:nvSpPr>
          <p:cNvPr id="38" name="Shape 36"/>
          <p:cNvSpPr/>
          <p:nvPr/>
        </p:nvSpPr>
        <p:spPr>
          <a:xfrm>
            <a:off x="812800" y="4607371"/>
            <a:ext cx="8148340" cy="391120"/>
          </a:xfrm>
          <a:prstGeom prst="roundRect">
            <a:avLst>
              <a:gd name="adj" fmla="val 19483"/>
            </a:avLst>
          </a:prstGeom>
          <a:solidFill>
            <a:srgbClr val="282882"/>
          </a:solidFill>
          <a:ln/>
        </p:spPr>
      </p:sp>
      <p:sp>
        <p:nvSpPr>
          <p:cNvPr id="39" name="Text 37"/>
          <p:cNvSpPr/>
          <p:nvPr/>
        </p:nvSpPr>
        <p:spPr>
          <a:xfrm>
            <a:off x="965200" y="4696271"/>
            <a:ext cx="80788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Be Vietnam Pro" pitchFamily="34" charset="0"/>
                <a:ea typeface="Be Vietnam Pro" pitchFamily="34" charset="-122"/>
                <a:cs typeface="Be Vietnam Pro" pitchFamily="34" charset="-120"/>
              </a:rPr>
              <a:t>Dự án · 4 tuần</a:t>
            </a:r>
            <a:endParaRPr lang="en-US" sz="1200" dirty="0"/>
          </a:p>
        </p:txBody>
      </p:sp>
      <p:sp>
        <p:nvSpPr>
          <p:cNvPr id="40" name="Shape 38"/>
          <p:cNvSpPr/>
          <p:nvPr/>
        </p:nvSpPr>
        <p:spPr>
          <a:xfrm>
            <a:off x="9113540" y="4607371"/>
            <a:ext cx="2265660" cy="391120"/>
          </a:xfrm>
          <a:prstGeom prst="roundRect">
            <a:avLst>
              <a:gd name="adj" fmla="val 19483"/>
            </a:avLst>
          </a:prstGeom>
          <a:solidFill>
            <a:srgbClr val="F04E23"/>
          </a:solidFill>
          <a:ln/>
        </p:spPr>
      </p:sp>
      <p:sp>
        <p:nvSpPr>
          <p:cNvPr id="41" name="Text 39"/>
          <p:cNvSpPr/>
          <p:nvPr/>
        </p:nvSpPr>
        <p:spPr>
          <a:xfrm>
            <a:off x="9265940" y="4696271"/>
            <a:ext cx="2019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Be Vietnam Pro" pitchFamily="34" charset="0"/>
                <a:ea typeface="Be Vietnam Pro" pitchFamily="34" charset="-122"/>
                <a:cs typeface="Be Vietnam Pro" pitchFamily="34" charset="-120"/>
              </a:rPr>
              <a:t>Đánh giá · 1 tuần</a:t>
            </a:r>
            <a:endParaRPr lang="en-US" sz="1200" dirty="0"/>
          </a:p>
        </p:txBody>
      </p:sp>
      <p:sp>
        <p:nvSpPr>
          <p:cNvPr id="42" name="Text 4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43" name="Text 4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Khối, Nhóm và dự án của bạn</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Mỗi Lớp học trên LMS là một Nhóm dự án; nhìn tên khối là biết buổi offline: S = Sáng, C = Chiều</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617960"/>
          <a:ext cx="10566400" cy="1077962"/>
        </p:xfrm>
        <a:graphic>
          <a:graphicData uri="http://schemas.openxmlformats.org/drawingml/2006/table">
            <a:tbl>
              <a:tblPr/>
              <a:tblGrid>
                <a:gridCol w="1056640"/>
                <a:gridCol w="2007616"/>
                <a:gridCol w="2324608"/>
                <a:gridCol w="739648"/>
                <a:gridCol w="4437888"/>
              </a:tblGrid>
              <a:tr h="359321">
                <a:tc>
                  <a:txBody>
                    <a:bodyPr/>
                    <a:lstStyle/>
                    <a:p>
                      <a:pP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Khối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c>
                  <a:txBody>
                    <a:bodyPr/>
                    <a:lstStyle/>
                    <a:p>
                      <a:pP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Tên khối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c>
                  <a:txBody>
                    <a:bodyPr/>
                    <a:lstStyle/>
                    <a:p>
                      <a:pP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Buổi offline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c>
                  <a:txBody>
                    <a:bodyPr/>
                    <a:lstStyle/>
                    <a:p>
                      <a:pP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Sĩ số</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c>
                  <a:txBody>
                    <a:bodyPr/>
                    <a:lstStyle/>
                    <a:p>
                      <a:pPr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Dự án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r>
              <a:tr h="359321">
                <a:tc>
                  <a:txBody>
                    <a:bodyPr/>
                    <a:lstStyle/>
                    <a:p>
                      <a:pPr indent="0" marL="0">
                        <a:lnSpc>
                          <a:spcPts val="1820"/>
                        </a:lnSpc>
                        <a:buNone/>
                      </a:pPr>
                      <a:r>
                        <a:rPr lang="en-US" sz="1300" dirty="0">
                          <a:solidFill>
                            <a:srgbClr val="282882"/>
                          </a:solidFill>
                          <a:latin typeface="Be Vietnam Pro" pitchFamily="34" charset="0"/>
                          <a:ea typeface="Be Vietnam Pro" pitchFamily="34" charset="-122"/>
                          <a:cs typeface="Be Vietnam Pro" pitchFamily="34" charset="-120"/>
                        </a:rPr>
                        <a:t>Khối 18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TTCS_T926_K18C4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Chiều T4 · 13:00–17:30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50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Truy xuất nguồn gốc và chuỗi lạnh nông sản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r>
              <a:tr h="359321">
                <a:tc>
                  <a:txBody>
                    <a:bodyPr/>
                    <a:lstStyle/>
                    <a:p>
                      <a:pPr indent="0" marL="0">
                        <a:lnSpc>
                          <a:spcPts val="1820"/>
                        </a:lnSpc>
                        <a:buNone/>
                      </a:pPr>
                      <a:r>
                        <a:rPr lang="en-US" sz="1300" dirty="0">
                          <a:solidFill>
                            <a:srgbClr val="282882"/>
                          </a:solidFill>
                          <a:latin typeface="Be Vietnam Pro" pitchFamily="34" charset="0"/>
                          <a:ea typeface="Be Vietnam Pro" pitchFamily="34" charset="-122"/>
                          <a:cs typeface="Be Vietnam Pro" pitchFamily="34" charset="-120"/>
                        </a:rPr>
                        <a:t>Khối 19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TTCS_T926_K19C5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Chiều T5 · 13:00–17:30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50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c>
                  <a:txBody>
                    <a:bodyPr/>
                    <a:lstStyle/>
                    <a:p>
                      <a:pP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Bán vé sự kiện có sơ đồ ghế</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r>
            </a:tbl>
          </a:graphicData>
        </a:graphic>
      </p:graphicFrame>
      <p:sp>
        <p:nvSpPr>
          <p:cNvPr id="5" name="Shape 2"/>
          <p:cNvSpPr/>
          <p:nvPr/>
        </p:nvSpPr>
        <p:spPr>
          <a:xfrm>
            <a:off x="812800" y="4711700"/>
            <a:ext cx="3403600" cy="1130300"/>
          </a:xfrm>
          <a:prstGeom prst="roundRect">
            <a:avLst>
              <a:gd name="adj" fmla="val 11236"/>
            </a:avLst>
          </a:prstGeom>
          <a:solidFill>
            <a:srgbClr val="EEF0F8"/>
          </a:solidFill>
          <a:ln/>
        </p:spPr>
      </p:sp>
      <p:sp>
        <p:nvSpPr>
          <p:cNvPr id="6" name="Text 3"/>
          <p:cNvSpPr/>
          <p:nvPr/>
        </p:nvSpPr>
        <p:spPr>
          <a:xfrm>
            <a:off x="1028700" y="4902200"/>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Tên Lớp học</a:t>
            </a:r>
            <a:endParaRPr lang="en-US" sz="1500" dirty="0"/>
          </a:p>
        </p:txBody>
      </p:sp>
      <p:sp>
        <p:nvSpPr>
          <p:cNvPr id="7" name="Text 4"/>
          <p:cNvSpPr/>
          <p:nvPr/>
        </p:nvSpPr>
        <p:spPr>
          <a:xfrm>
            <a:off x="1028700" y="5207000"/>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Tên khối, gạch dưới, chữ N và số thứ tự nhóm của bạn trong khối.</a:t>
            </a:r>
            <a:endParaRPr lang="en-US" sz="1250" dirty="0"/>
          </a:p>
        </p:txBody>
      </p:sp>
      <p:sp>
        <p:nvSpPr>
          <p:cNvPr id="8" name="Shape 5"/>
          <p:cNvSpPr/>
          <p:nvPr/>
        </p:nvSpPr>
        <p:spPr>
          <a:xfrm>
            <a:off x="4394200" y="4711700"/>
            <a:ext cx="3403600" cy="1130300"/>
          </a:xfrm>
          <a:prstGeom prst="roundRect">
            <a:avLst>
              <a:gd name="adj" fmla="val 11236"/>
            </a:avLst>
          </a:prstGeom>
          <a:solidFill>
            <a:srgbClr val="EEF0F8"/>
          </a:solidFill>
          <a:ln/>
        </p:spPr>
      </p:sp>
      <p:sp>
        <p:nvSpPr>
          <p:cNvPr id="9" name="Text 6"/>
          <p:cNvSpPr/>
          <p:nvPr/>
        </p:nvSpPr>
        <p:spPr>
          <a:xfrm>
            <a:off x="4610100" y="4902200"/>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Backlog dự án</a:t>
            </a:r>
            <a:endParaRPr lang="en-US" sz="1500" dirty="0"/>
          </a:p>
        </p:txBody>
      </p:sp>
      <p:sp>
        <p:nvSpPr>
          <p:cNvPr id="10" name="Text 7"/>
          <p:cNvSpPr/>
          <p:nvPr/>
        </p:nvSpPr>
        <p:spPr>
          <a:xfrm>
            <a:off x="4610100" y="5207000"/>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File backlog của khối đã ghim sẵn trong nhóm Zalo của khối.</a:t>
            </a:r>
            <a:endParaRPr lang="en-US" sz="1250" dirty="0"/>
          </a:p>
        </p:txBody>
      </p:sp>
      <p:sp>
        <p:nvSpPr>
          <p:cNvPr id="11" name="Shape 8"/>
          <p:cNvSpPr/>
          <p:nvPr/>
        </p:nvSpPr>
        <p:spPr>
          <a:xfrm>
            <a:off x="7975600" y="4711700"/>
            <a:ext cx="3403600" cy="1130300"/>
          </a:xfrm>
          <a:prstGeom prst="roundRect">
            <a:avLst>
              <a:gd name="adj" fmla="val 11236"/>
            </a:avLst>
          </a:prstGeom>
          <a:solidFill>
            <a:srgbClr val="EEF0F8"/>
          </a:solidFill>
          <a:ln/>
        </p:spPr>
      </p:sp>
      <p:sp>
        <p:nvSpPr>
          <p:cNvPr id="12" name="Text 9"/>
          <p:cNvSpPr/>
          <p:nvPr/>
        </p:nvSpPr>
        <p:spPr>
          <a:xfrm>
            <a:off x="8191500" y="4902200"/>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Chỗ học offline</a:t>
            </a:r>
            <a:endParaRPr lang="en-US" sz="1500" dirty="0"/>
          </a:p>
        </p:txBody>
      </p:sp>
      <p:sp>
        <p:nvSpPr>
          <p:cNvPr id="13" name="Text 10"/>
          <p:cNvSpPr/>
          <p:nvPr/>
        </p:nvSpPr>
        <p:spPr>
          <a:xfrm>
            <a:off x="8191500" y="5207000"/>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Phòng 302, Tầng 3, Nhà C7, buổi chiều 13:00–17:30.</a:t>
            </a:r>
            <a:endParaRPr lang="en-US" sz="1250" dirty="0"/>
          </a:p>
        </p:txBody>
      </p:sp>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15" name="Text 1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Nhóm dự án của bạn làm việc theo Scrum</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Mỗi nhóm có đầy đủ thành viên, có nhóm trưởng và được phân vai rõ ràng</a:t>
            </a:r>
            <a:endParaRPr lang="en-US" sz="1300" dirty="0"/>
          </a:p>
        </p:txBody>
      </p:sp>
      <p:sp>
        <p:nvSpPr>
          <p:cNvPr id="4" name="Shape 2"/>
          <p:cNvSpPr/>
          <p:nvPr/>
        </p:nvSpPr>
        <p:spPr>
          <a:xfrm>
            <a:off x="812800" y="1617960"/>
            <a:ext cx="3386634" cy="1991320"/>
          </a:xfrm>
          <a:prstGeom prst="roundRect">
            <a:avLst>
              <a:gd name="adj" fmla="val 7653"/>
            </a:avLst>
          </a:prstGeom>
          <a:solidFill>
            <a:srgbClr val="EEF0F8"/>
          </a:solidFill>
          <a:ln/>
        </p:spPr>
      </p:sp>
      <p:sp>
        <p:nvSpPr>
          <p:cNvPr id="5" name="Shape 3"/>
          <p:cNvSpPr/>
          <p:nvPr/>
        </p:nvSpPr>
        <p:spPr>
          <a:xfrm>
            <a:off x="1041400" y="1846560"/>
            <a:ext cx="482600" cy="482600"/>
          </a:xfrm>
          <a:prstGeom prst="roundRect">
            <a:avLst>
              <a:gd name="adj" fmla="val 50000"/>
            </a:avLst>
          </a:prstGeom>
          <a:solidFill>
            <a:srgbClr val="282882"/>
          </a:solidFill>
          <a:ln/>
        </p:spPr>
      </p:sp>
      <p:sp>
        <p:nvSpPr>
          <p:cNvPr id="6" name="Text 4"/>
          <p:cNvSpPr/>
          <p:nvPr/>
        </p:nvSpPr>
        <p:spPr>
          <a:xfrm>
            <a:off x="1158280" y="1972270"/>
            <a:ext cx="29964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PO</a:t>
            </a:r>
            <a:endParaRPr lang="en-US" sz="1300" dirty="0"/>
          </a:p>
        </p:txBody>
      </p:sp>
      <p:sp>
        <p:nvSpPr>
          <p:cNvPr id="7" name="Text 5"/>
          <p:cNvSpPr/>
          <p:nvPr/>
        </p:nvSpPr>
        <p:spPr>
          <a:xfrm>
            <a:off x="1651000" y="1958330"/>
            <a:ext cx="168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Product Owner</a:t>
            </a:r>
            <a:endParaRPr lang="en-US" sz="1700" dirty="0"/>
          </a:p>
        </p:txBody>
      </p:sp>
      <p:sp>
        <p:nvSpPr>
          <p:cNvPr id="8" name="Text 6"/>
          <p:cNvSpPr/>
          <p:nvPr/>
        </p:nvSpPr>
        <p:spPr>
          <a:xfrm>
            <a:off x="1041400" y="2456160"/>
            <a:ext cx="3017317" cy="949920"/>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Do Mentor đảm nhận</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Định hướng sản phẩm, ưu tiên công việc</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Chấp nhận kết quả mỗi sprint</a:t>
            </a:r>
            <a:endParaRPr lang="en-US" sz="1300" dirty="0"/>
          </a:p>
        </p:txBody>
      </p:sp>
      <p:sp>
        <p:nvSpPr>
          <p:cNvPr id="9" name="Shape 7"/>
          <p:cNvSpPr/>
          <p:nvPr/>
        </p:nvSpPr>
        <p:spPr>
          <a:xfrm>
            <a:off x="4402634" y="1617960"/>
            <a:ext cx="3386683" cy="1991320"/>
          </a:xfrm>
          <a:prstGeom prst="roundRect">
            <a:avLst>
              <a:gd name="adj" fmla="val 7653"/>
            </a:avLst>
          </a:prstGeom>
          <a:solidFill>
            <a:srgbClr val="EEF0F8"/>
          </a:solidFill>
          <a:ln/>
        </p:spPr>
      </p:sp>
      <p:sp>
        <p:nvSpPr>
          <p:cNvPr id="10" name="Shape 8"/>
          <p:cNvSpPr/>
          <p:nvPr/>
        </p:nvSpPr>
        <p:spPr>
          <a:xfrm>
            <a:off x="4631234" y="1846560"/>
            <a:ext cx="482600" cy="482600"/>
          </a:xfrm>
          <a:prstGeom prst="roundRect">
            <a:avLst>
              <a:gd name="adj" fmla="val 50000"/>
            </a:avLst>
          </a:prstGeom>
          <a:solidFill>
            <a:srgbClr val="282882"/>
          </a:solidFill>
          <a:ln/>
        </p:spPr>
      </p:sp>
      <p:sp>
        <p:nvSpPr>
          <p:cNvPr id="11" name="Text 9"/>
          <p:cNvSpPr/>
          <p:nvPr/>
        </p:nvSpPr>
        <p:spPr>
          <a:xfrm>
            <a:off x="4744244" y="1972270"/>
            <a:ext cx="30738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SM</a:t>
            </a:r>
            <a:endParaRPr lang="en-US" sz="1300" dirty="0"/>
          </a:p>
        </p:txBody>
      </p:sp>
      <p:sp>
        <p:nvSpPr>
          <p:cNvPr id="12" name="Text 10"/>
          <p:cNvSpPr/>
          <p:nvPr/>
        </p:nvSpPr>
        <p:spPr>
          <a:xfrm>
            <a:off x="5240834" y="1958330"/>
            <a:ext cx="15390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Scrum Master</a:t>
            </a:r>
            <a:endParaRPr lang="en-US" sz="1700" dirty="0"/>
          </a:p>
        </p:txBody>
      </p:sp>
      <p:sp>
        <p:nvSpPr>
          <p:cNvPr id="13" name="Text 11"/>
          <p:cNvSpPr/>
          <p:nvPr/>
        </p:nvSpPr>
        <p:spPr>
          <a:xfrm>
            <a:off x="4631234" y="2456160"/>
            <a:ext cx="3017368" cy="949920"/>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1 TTS trong nhóm đảm nhận, được Mentor training</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Điều phối daily, planning, review</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Giúp nhóm gỡ vướng mắc</a:t>
            </a:r>
            <a:endParaRPr lang="en-US" sz="1300" dirty="0"/>
          </a:p>
        </p:txBody>
      </p:sp>
      <p:sp>
        <p:nvSpPr>
          <p:cNvPr id="14" name="Shape 12"/>
          <p:cNvSpPr/>
          <p:nvPr/>
        </p:nvSpPr>
        <p:spPr>
          <a:xfrm>
            <a:off x="7992517" y="1617960"/>
            <a:ext cx="3386683" cy="1991320"/>
          </a:xfrm>
          <a:prstGeom prst="roundRect">
            <a:avLst>
              <a:gd name="adj" fmla="val 7653"/>
            </a:avLst>
          </a:prstGeom>
          <a:solidFill>
            <a:srgbClr val="EEF0F8"/>
          </a:solidFill>
          <a:ln/>
        </p:spPr>
      </p:sp>
      <p:sp>
        <p:nvSpPr>
          <p:cNvPr id="15" name="Shape 13"/>
          <p:cNvSpPr/>
          <p:nvPr/>
        </p:nvSpPr>
        <p:spPr>
          <a:xfrm>
            <a:off x="8221117" y="1846560"/>
            <a:ext cx="482600" cy="482600"/>
          </a:xfrm>
          <a:prstGeom prst="roundRect">
            <a:avLst>
              <a:gd name="adj" fmla="val 50000"/>
            </a:avLst>
          </a:prstGeom>
          <a:solidFill>
            <a:srgbClr val="F04E23"/>
          </a:solidFill>
          <a:ln/>
        </p:spPr>
      </p:sp>
      <p:sp>
        <p:nvSpPr>
          <p:cNvPr id="16" name="Text 14"/>
          <p:cNvSpPr/>
          <p:nvPr/>
        </p:nvSpPr>
        <p:spPr>
          <a:xfrm>
            <a:off x="8299500" y="1981200"/>
            <a:ext cx="3766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DEV</a:t>
            </a:r>
            <a:endParaRPr lang="en-US" sz="1200" dirty="0"/>
          </a:p>
        </p:txBody>
      </p:sp>
      <p:sp>
        <p:nvSpPr>
          <p:cNvPr id="17" name="Text 15"/>
          <p:cNvSpPr/>
          <p:nvPr/>
        </p:nvSpPr>
        <p:spPr>
          <a:xfrm>
            <a:off x="8830717" y="1958330"/>
            <a:ext cx="110420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Dev Team</a:t>
            </a:r>
            <a:endParaRPr lang="en-US" sz="1700" dirty="0"/>
          </a:p>
        </p:txBody>
      </p:sp>
      <p:sp>
        <p:nvSpPr>
          <p:cNvPr id="18" name="Text 16"/>
          <p:cNvSpPr/>
          <p:nvPr/>
        </p:nvSpPr>
        <p:spPr>
          <a:xfrm>
            <a:off x="8221117" y="2456160"/>
            <a:ext cx="3017368" cy="949920"/>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Các thành viên còn lại</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Phân vai BE, FE, QA</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Nhóm trưởng đại diện nhóm, ghi nhật ký nhóm</a:t>
            </a:r>
            <a:endParaRPr lang="en-US" sz="1300" dirty="0"/>
          </a:p>
        </p:txBody>
      </p:sp>
      <p:sp>
        <p:nvSpPr>
          <p:cNvPr id="19" name="Shape 17"/>
          <p:cNvSpPr/>
          <p:nvPr/>
        </p:nvSpPr>
        <p:spPr>
          <a:xfrm>
            <a:off x="812800" y="3863280"/>
            <a:ext cx="10566400" cy="939750"/>
          </a:xfrm>
          <a:prstGeom prst="roundRect">
            <a:avLst>
              <a:gd name="adj" fmla="val 13514"/>
            </a:avLst>
          </a:prstGeom>
          <a:solidFill>
            <a:srgbClr val="282882"/>
          </a:solidFill>
          <a:ln/>
        </p:spPr>
      </p:sp>
      <p:sp>
        <p:nvSpPr>
          <p:cNvPr id="20" name="Text 18"/>
          <p:cNvSpPr/>
          <p:nvPr/>
        </p:nvSpPr>
        <p:spPr>
          <a:xfrm>
            <a:off x="1066800" y="405378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Be Vietnam Pro" pitchFamily="34" charset="0"/>
                <a:ea typeface="Be Vietnam Pro" pitchFamily="34" charset="-122"/>
                <a:cs typeface="Be Vietnam Pro" pitchFamily="34" charset="-120"/>
              </a:rPr>
              <a:t>VIỆC ĐẦU TIÊN</a:t>
            </a:r>
            <a:endParaRPr lang="en-US" sz="1200" dirty="0"/>
          </a:p>
        </p:txBody>
      </p:sp>
      <p:sp>
        <p:nvSpPr>
          <p:cNvPr id="21" name="Text 19"/>
          <p:cNvSpPr/>
          <p:nvPr/>
        </p:nvSpPr>
        <p:spPr>
          <a:xfrm>
            <a:off x="1066800" y="4292501"/>
            <a:ext cx="222377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Team Charter</a:t>
            </a:r>
            <a:endParaRPr lang="en-US" sz="1800" dirty="0"/>
          </a:p>
        </p:txBody>
      </p:sp>
      <p:sp>
        <p:nvSpPr>
          <p:cNvPr id="22" name="Text 20"/>
          <p:cNvSpPr/>
          <p:nvPr/>
        </p:nvSpPr>
        <p:spPr>
          <a:xfrm>
            <a:off x="3454400" y="4082951"/>
            <a:ext cx="79009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Be Vietnam Pro" pitchFamily="34" charset="0"/>
                <a:ea typeface="Be Vietnam Pro" pitchFamily="34" charset="-122"/>
                <a:cs typeface="Be Vietnam Pro" pitchFamily="34" charset="-120"/>
              </a:rPr>
              <a:t>Cả nhóm thống nhất và hoàn thành Team Charter ngay trong phiên đầu tiên, theo mẫu:</a:t>
            </a:r>
            <a:endParaRPr lang="en-US" sz="1300" dirty="0"/>
          </a:p>
        </p:txBody>
      </p:sp>
      <p:sp>
        <p:nvSpPr>
          <p:cNvPr id="23" name="Text 21"/>
          <p:cNvSpPr/>
          <p:nvPr/>
        </p:nvSpPr>
        <p:spPr>
          <a:xfrm>
            <a:off x="3454400" y="4352181"/>
            <a:ext cx="790092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4E23"/>
                </a:solidFill>
                <a:latin typeface="Be Vietnam Pro" pitchFamily="34" charset="0"/>
                <a:ea typeface="Be Vietnam Pro" pitchFamily="34" charset="-122"/>
                <a:cs typeface="Be Vietnam Pro" pitchFamily="34" charset="-120"/>
              </a:rPr>
              <a:t>[ICTU] BM08. Team Charter_Template.docx</a:t>
            </a:r>
            <a:endParaRPr lang="en-US" sz="1300" dirty="0"/>
          </a:p>
        </p:txBody>
      </p:sp>
      <p:sp>
        <p:nvSpPr>
          <p:cNvPr id="24" name="Text 2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5" name="Text 2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Checklist ngày làm việc đầu tiên</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Kết thúc ngày đầu tiên, nhóm của bạn đã phải bắt tay vào công việc</a:t>
            </a:r>
            <a:endParaRPr lang="en-US" sz="1300" dirty="0"/>
          </a:p>
        </p:txBody>
      </p:sp>
      <p:sp>
        <p:nvSpPr>
          <p:cNvPr id="4" name="Shape 2"/>
          <p:cNvSpPr/>
          <p:nvPr/>
        </p:nvSpPr>
        <p:spPr>
          <a:xfrm>
            <a:off x="812800" y="1592560"/>
            <a:ext cx="3403600" cy="1466850"/>
          </a:xfrm>
          <a:prstGeom prst="roundRect">
            <a:avLst>
              <a:gd name="adj" fmla="val 8658"/>
            </a:avLst>
          </a:prstGeom>
          <a:solidFill>
            <a:srgbClr val="EEF0F8"/>
          </a:solidFill>
          <a:ln/>
        </p:spPr>
      </p:sp>
      <p:sp>
        <p:nvSpPr>
          <p:cNvPr id="5" name="Shape 3"/>
          <p:cNvSpPr/>
          <p:nvPr/>
        </p:nvSpPr>
        <p:spPr>
          <a:xfrm>
            <a:off x="1016000" y="1795760"/>
            <a:ext cx="304800" cy="304800"/>
          </a:xfrm>
          <a:prstGeom prst="roundRect">
            <a:avLst>
              <a:gd name="adj" fmla="val 50000"/>
            </a:avLst>
          </a:prstGeom>
          <a:solidFill>
            <a:srgbClr val="282882"/>
          </a:solidFill>
          <a:ln/>
        </p:spPr>
      </p:sp>
      <p:sp>
        <p:nvSpPr>
          <p:cNvPr id="6" name="Text 4"/>
          <p:cNvSpPr/>
          <p:nvPr/>
        </p:nvSpPr>
        <p:spPr>
          <a:xfrm>
            <a:off x="1136749" y="1841500"/>
            <a:ext cx="1140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1</a:t>
            </a:r>
            <a:endParaRPr lang="en-US" sz="1200" dirty="0"/>
          </a:p>
        </p:txBody>
      </p:sp>
      <p:sp>
        <p:nvSpPr>
          <p:cNvPr id="7" name="Text 5"/>
          <p:cNvSpPr/>
          <p:nvPr/>
        </p:nvSpPr>
        <p:spPr>
          <a:xfrm>
            <a:off x="1422400" y="1833860"/>
            <a:ext cx="26414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Lập nhóm và Team Charter</a:t>
            </a:r>
            <a:endParaRPr lang="en-US" sz="1500" dirty="0"/>
          </a:p>
        </p:txBody>
      </p:sp>
      <p:sp>
        <p:nvSpPr>
          <p:cNvPr id="8" name="Text 6"/>
          <p:cNvSpPr/>
          <p:nvPr/>
        </p:nvSpPr>
        <p:spPr>
          <a:xfrm>
            <a:off x="1016000" y="218946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Xác nhận thành viên, bầu nhóm trưởng, phân vai SM, BE, FE, QA, điền Team Charter</a:t>
            </a:r>
            <a:endParaRPr lang="en-US" sz="1250" dirty="0"/>
          </a:p>
        </p:txBody>
      </p:sp>
      <p:sp>
        <p:nvSpPr>
          <p:cNvPr id="9" name="Shape 7"/>
          <p:cNvSpPr/>
          <p:nvPr/>
        </p:nvSpPr>
        <p:spPr>
          <a:xfrm>
            <a:off x="4394200" y="1592560"/>
            <a:ext cx="3403600" cy="1466850"/>
          </a:xfrm>
          <a:prstGeom prst="roundRect">
            <a:avLst>
              <a:gd name="adj" fmla="val 8658"/>
            </a:avLst>
          </a:prstGeom>
          <a:solidFill>
            <a:srgbClr val="EEF0F8"/>
          </a:solidFill>
          <a:ln/>
        </p:spPr>
      </p:sp>
      <p:sp>
        <p:nvSpPr>
          <p:cNvPr id="10" name="Shape 8"/>
          <p:cNvSpPr/>
          <p:nvPr/>
        </p:nvSpPr>
        <p:spPr>
          <a:xfrm>
            <a:off x="4597400" y="1795760"/>
            <a:ext cx="304800" cy="304800"/>
          </a:xfrm>
          <a:prstGeom prst="roundRect">
            <a:avLst>
              <a:gd name="adj" fmla="val 50000"/>
            </a:avLst>
          </a:prstGeom>
          <a:solidFill>
            <a:srgbClr val="282882"/>
          </a:solidFill>
          <a:ln/>
        </p:spPr>
      </p:sp>
      <p:sp>
        <p:nvSpPr>
          <p:cNvPr id="11" name="Text 9"/>
          <p:cNvSpPr/>
          <p:nvPr/>
        </p:nvSpPr>
        <p:spPr>
          <a:xfrm>
            <a:off x="4699496" y="1841500"/>
            <a:ext cx="15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a:t>
            </a:r>
            <a:endParaRPr lang="en-US" sz="1200" dirty="0"/>
          </a:p>
        </p:txBody>
      </p:sp>
      <p:sp>
        <p:nvSpPr>
          <p:cNvPr id="12" name="Text 10"/>
          <p:cNvSpPr/>
          <p:nvPr/>
        </p:nvSpPr>
        <p:spPr>
          <a:xfrm>
            <a:off x="5003800" y="1833860"/>
            <a:ext cx="142850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Làm quen LMS</a:t>
            </a:r>
            <a:endParaRPr lang="en-US" sz="1500" dirty="0"/>
          </a:p>
        </p:txBody>
      </p:sp>
      <p:sp>
        <p:nvSpPr>
          <p:cNvPr id="13" name="Text 11"/>
          <p:cNvSpPr/>
          <p:nvPr/>
        </p:nvSpPr>
        <p:spPr>
          <a:xfrm>
            <a:off x="4597400" y="2189460"/>
            <a:ext cx="308711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Vào đúng Lớp học của nhóm, biết chỗ ghi nhật ký, xem lịch, nộp tài liệu</a:t>
            </a:r>
            <a:endParaRPr lang="en-US" sz="1250" dirty="0"/>
          </a:p>
        </p:txBody>
      </p:sp>
      <p:sp>
        <p:nvSpPr>
          <p:cNvPr id="14" name="Shape 12"/>
          <p:cNvSpPr/>
          <p:nvPr/>
        </p:nvSpPr>
        <p:spPr>
          <a:xfrm>
            <a:off x="7975600" y="1592560"/>
            <a:ext cx="3403600" cy="1466850"/>
          </a:xfrm>
          <a:prstGeom prst="roundRect">
            <a:avLst>
              <a:gd name="adj" fmla="val 8658"/>
            </a:avLst>
          </a:prstGeom>
          <a:solidFill>
            <a:srgbClr val="EEF0F8"/>
          </a:solidFill>
          <a:ln/>
        </p:spPr>
      </p:sp>
      <p:sp>
        <p:nvSpPr>
          <p:cNvPr id="15" name="Shape 13"/>
          <p:cNvSpPr/>
          <p:nvPr/>
        </p:nvSpPr>
        <p:spPr>
          <a:xfrm>
            <a:off x="8178800" y="1795760"/>
            <a:ext cx="304800" cy="304800"/>
          </a:xfrm>
          <a:prstGeom prst="roundRect">
            <a:avLst>
              <a:gd name="adj" fmla="val 50000"/>
            </a:avLst>
          </a:prstGeom>
          <a:solidFill>
            <a:srgbClr val="282882"/>
          </a:solidFill>
          <a:ln/>
        </p:spPr>
      </p:sp>
      <p:sp>
        <p:nvSpPr>
          <p:cNvPr id="16" name="Text 14"/>
          <p:cNvSpPr/>
          <p:nvPr/>
        </p:nvSpPr>
        <p:spPr>
          <a:xfrm>
            <a:off x="8279805" y="1841500"/>
            <a:ext cx="1535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3</a:t>
            </a:r>
            <a:endParaRPr lang="en-US" sz="1200" dirty="0"/>
          </a:p>
        </p:txBody>
      </p:sp>
      <p:sp>
        <p:nvSpPr>
          <p:cNvPr id="17" name="Text 15"/>
          <p:cNvSpPr/>
          <p:nvPr/>
        </p:nvSpPr>
        <p:spPr>
          <a:xfrm>
            <a:off x="8585200" y="1833860"/>
            <a:ext cx="198396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Kênh cộng tác nhóm</a:t>
            </a:r>
            <a:endParaRPr lang="en-US" sz="1500" dirty="0"/>
          </a:p>
        </p:txBody>
      </p:sp>
      <p:sp>
        <p:nvSpPr>
          <p:cNvPr id="18" name="Text 16"/>
          <p:cNvSpPr/>
          <p:nvPr/>
        </p:nvSpPr>
        <p:spPr>
          <a:xfrm>
            <a:off x="8178800" y="218946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Lập nhóm Zalo hoặc Slack có Mentor; đây là nơi check-in và hỏi đáp hàng ngày</a:t>
            </a:r>
            <a:endParaRPr lang="en-US" sz="1250" dirty="0"/>
          </a:p>
        </p:txBody>
      </p:sp>
      <p:sp>
        <p:nvSpPr>
          <p:cNvPr id="19" name="Shape 17"/>
          <p:cNvSpPr/>
          <p:nvPr/>
        </p:nvSpPr>
        <p:spPr>
          <a:xfrm>
            <a:off x="812800" y="3237210"/>
            <a:ext cx="3403600" cy="1466850"/>
          </a:xfrm>
          <a:prstGeom prst="roundRect">
            <a:avLst>
              <a:gd name="adj" fmla="val 8658"/>
            </a:avLst>
          </a:prstGeom>
          <a:solidFill>
            <a:srgbClr val="EEF0F8"/>
          </a:solidFill>
          <a:ln/>
        </p:spPr>
      </p:sp>
      <p:sp>
        <p:nvSpPr>
          <p:cNvPr id="20" name="Shape 18"/>
          <p:cNvSpPr/>
          <p:nvPr/>
        </p:nvSpPr>
        <p:spPr>
          <a:xfrm>
            <a:off x="1016000" y="3440410"/>
            <a:ext cx="304800" cy="304800"/>
          </a:xfrm>
          <a:prstGeom prst="roundRect">
            <a:avLst>
              <a:gd name="adj" fmla="val 50000"/>
            </a:avLst>
          </a:prstGeom>
          <a:solidFill>
            <a:srgbClr val="282882"/>
          </a:solidFill>
          <a:ln/>
        </p:spPr>
      </p:sp>
      <p:sp>
        <p:nvSpPr>
          <p:cNvPr id="21" name="Text 19"/>
          <p:cNvSpPr/>
          <p:nvPr/>
        </p:nvSpPr>
        <p:spPr>
          <a:xfrm>
            <a:off x="1113830" y="3486150"/>
            <a:ext cx="1599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4</a:t>
            </a:r>
            <a:endParaRPr lang="en-US" sz="1200" dirty="0"/>
          </a:p>
        </p:txBody>
      </p:sp>
      <p:sp>
        <p:nvSpPr>
          <p:cNvPr id="22" name="Text 20"/>
          <p:cNvSpPr/>
          <p:nvPr/>
        </p:nvSpPr>
        <p:spPr>
          <a:xfrm>
            <a:off x="1422400" y="3478510"/>
            <a:ext cx="17492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Đăng ký khóa học</a:t>
            </a:r>
            <a:endParaRPr lang="en-US" sz="1500" dirty="0"/>
          </a:p>
        </p:txBody>
      </p:sp>
      <p:sp>
        <p:nvSpPr>
          <p:cNvPr id="23" name="Text 21"/>
          <p:cNvSpPr/>
          <p:nvPr/>
        </p:nvSpPr>
        <p:spPr>
          <a:xfrm>
            <a:off x="1016000" y="3834110"/>
            <a:ext cx="308711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Bắt đầu 4 khóa bắt buộc và 1 khóa chuyên môn (FE hoặc BE) trên LMS</a:t>
            </a:r>
            <a:endParaRPr lang="en-US" sz="1250" dirty="0"/>
          </a:p>
        </p:txBody>
      </p:sp>
      <p:sp>
        <p:nvSpPr>
          <p:cNvPr id="24" name="Shape 22"/>
          <p:cNvSpPr/>
          <p:nvPr/>
        </p:nvSpPr>
        <p:spPr>
          <a:xfrm>
            <a:off x="4394200" y="3237210"/>
            <a:ext cx="3403600" cy="1466850"/>
          </a:xfrm>
          <a:prstGeom prst="roundRect">
            <a:avLst>
              <a:gd name="adj" fmla="val 8658"/>
            </a:avLst>
          </a:prstGeom>
          <a:solidFill>
            <a:srgbClr val="EEF0F8"/>
          </a:solidFill>
          <a:ln/>
        </p:spPr>
      </p:sp>
      <p:sp>
        <p:nvSpPr>
          <p:cNvPr id="25" name="Shape 23"/>
          <p:cNvSpPr/>
          <p:nvPr/>
        </p:nvSpPr>
        <p:spPr>
          <a:xfrm>
            <a:off x="4597400" y="3440410"/>
            <a:ext cx="304800" cy="304800"/>
          </a:xfrm>
          <a:prstGeom prst="roundRect">
            <a:avLst>
              <a:gd name="adj" fmla="val 50000"/>
            </a:avLst>
          </a:prstGeom>
          <a:solidFill>
            <a:srgbClr val="282882"/>
          </a:solidFill>
          <a:ln/>
        </p:spPr>
      </p:sp>
      <p:sp>
        <p:nvSpPr>
          <p:cNvPr id="26" name="Text 24"/>
          <p:cNvSpPr/>
          <p:nvPr/>
        </p:nvSpPr>
        <p:spPr>
          <a:xfrm>
            <a:off x="4698405" y="3486150"/>
            <a:ext cx="1535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5</a:t>
            </a:r>
            <a:endParaRPr lang="en-US" sz="1200" dirty="0"/>
          </a:p>
        </p:txBody>
      </p:sp>
      <p:sp>
        <p:nvSpPr>
          <p:cNvPr id="27" name="Text 25"/>
          <p:cNvSpPr/>
          <p:nvPr/>
        </p:nvSpPr>
        <p:spPr>
          <a:xfrm>
            <a:off x="5003800" y="3478510"/>
            <a:ext cx="12976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Kickoff dự án</a:t>
            </a:r>
            <a:endParaRPr lang="en-US" sz="1500" dirty="0"/>
          </a:p>
        </p:txBody>
      </p:sp>
      <p:sp>
        <p:nvSpPr>
          <p:cNvPr id="28" name="Text 26"/>
          <p:cNvSpPr/>
          <p:nvPr/>
        </p:nvSpPr>
        <p:spPr>
          <a:xfrm>
            <a:off x="4597400" y="3834110"/>
            <a:ext cx="308711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Nghe Mentor giới thiệu đề bài, mục tiêu sản phẩm và cách làm việc</a:t>
            </a:r>
            <a:endParaRPr lang="en-US" sz="1250" dirty="0"/>
          </a:p>
        </p:txBody>
      </p:sp>
      <p:sp>
        <p:nvSpPr>
          <p:cNvPr id="29" name="Shape 27"/>
          <p:cNvSpPr/>
          <p:nvPr/>
        </p:nvSpPr>
        <p:spPr>
          <a:xfrm>
            <a:off x="7975600" y="3237210"/>
            <a:ext cx="3403600" cy="1466850"/>
          </a:xfrm>
          <a:prstGeom prst="roundRect">
            <a:avLst>
              <a:gd name="adj" fmla="val 8658"/>
            </a:avLst>
          </a:prstGeom>
          <a:solidFill>
            <a:srgbClr val="EEF0F8"/>
          </a:solidFill>
          <a:ln/>
        </p:spPr>
      </p:sp>
      <p:sp>
        <p:nvSpPr>
          <p:cNvPr id="30" name="Shape 28"/>
          <p:cNvSpPr/>
          <p:nvPr/>
        </p:nvSpPr>
        <p:spPr>
          <a:xfrm>
            <a:off x="8178800" y="3440410"/>
            <a:ext cx="304800" cy="304800"/>
          </a:xfrm>
          <a:prstGeom prst="roundRect">
            <a:avLst>
              <a:gd name="adj" fmla="val 50000"/>
            </a:avLst>
          </a:prstGeom>
          <a:solidFill>
            <a:srgbClr val="F04E23"/>
          </a:solidFill>
          <a:ln/>
        </p:spPr>
      </p:sp>
      <p:sp>
        <p:nvSpPr>
          <p:cNvPr id="31" name="Text 29"/>
          <p:cNvSpPr/>
          <p:nvPr/>
        </p:nvSpPr>
        <p:spPr>
          <a:xfrm>
            <a:off x="8278366" y="3486150"/>
            <a:ext cx="156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6</a:t>
            </a:r>
            <a:endParaRPr lang="en-US" sz="1200" dirty="0"/>
          </a:p>
        </p:txBody>
      </p:sp>
      <p:sp>
        <p:nvSpPr>
          <p:cNvPr id="32" name="Text 30"/>
          <p:cNvSpPr/>
          <p:nvPr/>
        </p:nvSpPr>
        <p:spPr>
          <a:xfrm>
            <a:off x="8585200" y="3478510"/>
            <a:ext cx="16169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Planning Sprint 1</a:t>
            </a:r>
            <a:endParaRPr lang="en-US" sz="1500" dirty="0"/>
          </a:p>
        </p:txBody>
      </p:sp>
      <p:sp>
        <p:nvSpPr>
          <p:cNvPr id="33" name="Text 31"/>
          <p:cNvSpPr/>
          <p:nvPr/>
        </p:nvSpPr>
        <p:spPr>
          <a:xfrm>
            <a:off x="8178800" y="3834110"/>
            <a:ext cx="308711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Cùng nhóm lập kế hoạch sprint đầu tiên, phân việc cụ thể cho từng người</a:t>
            </a:r>
            <a:endParaRPr lang="en-US" sz="1250" dirty="0"/>
          </a:p>
        </p:txBody>
      </p:sp>
      <p:sp>
        <p:nvSpPr>
          <p:cNvPr id="34" name="Text 3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35" name="Text 3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Các khóa học bạn phải hoàn thành trên LMS</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Hoàn thành song song với dự án, trước ngày đóng dự án</a:t>
            </a:r>
            <a:endParaRPr lang="en-US" sz="1300" dirty="0"/>
          </a:p>
        </p:txBody>
      </p:sp>
      <p:sp>
        <p:nvSpPr>
          <p:cNvPr id="4" name="Shape 2"/>
          <p:cNvSpPr/>
          <p:nvPr/>
        </p:nvSpPr>
        <p:spPr>
          <a:xfrm>
            <a:off x="812800" y="1617960"/>
            <a:ext cx="6116340" cy="2494260"/>
          </a:xfrm>
          <a:prstGeom prst="roundRect">
            <a:avLst>
              <a:gd name="adj" fmla="val 6110"/>
            </a:avLst>
          </a:prstGeom>
          <a:solidFill>
            <a:srgbClr val="EEF0F8"/>
          </a:solidFill>
          <a:ln/>
        </p:spPr>
      </p:sp>
      <p:sp>
        <p:nvSpPr>
          <p:cNvPr id="5" name="Text 3"/>
          <p:cNvSpPr/>
          <p:nvPr/>
        </p:nvSpPr>
        <p:spPr>
          <a:xfrm>
            <a:off x="1066800" y="1871960"/>
            <a:ext cx="577659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4 khóa bắt buộc cho mọi TTS</a:t>
            </a:r>
            <a:endParaRPr lang="en-US" sz="1700" dirty="0"/>
          </a:p>
        </p:txBody>
      </p:sp>
      <p:sp>
        <p:nvSpPr>
          <p:cNvPr id="6" name="Shape 4"/>
          <p:cNvSpPr/>
          <p:nvPr/>
        </p:nvSpPr>
        <p:spPr>
          <a:xfrm>
            <a:off x="1066800" y="2283420"/>
            <a:ext cx="279400" cy="279400"/>
          </a:xfrm>
          <a:prstGeom prst="roundRect">
            <a:avLst>
              <a:gd name="adj" fmla="val 50000"/>
            </a:avLst>
          </a:prstGeom>
          <a:solidFill>
            <a:srgbClr val="282882"/>
          </a:solidFill>
          <a:ln/>
        </p:spPr>
      </p:sp>
      <p:sp>
        <p:nvSpPr>
          <p:cNvPr id="7" name="Text 5"/>
          <p:cNvSpPr/>
          <p:nvPr/>
        </p:nvSpPr>
        <p:spPr>
          <a:xfrm>
            <a:off x="1174849" y="2316460"/>
            <a:ext cx="1140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1</a:t>
            </a:r>
            <a:endParaRPr lang="en-US" sz="1200" dirty="0"/>
          </a:p>
        </p:txBody>
      </p:sp>
      <p:sp>
        <p:nvSpPr>
          <p:cNvPr id="8" name="Text 6"/>
          <p:cNvSpPr/>
          <p:nvPr/>
        </p:nvSpPr>
        <p:spPr>
          <a:xfrm>
            <a:off x="1473200" y="2298650"/>
            <a:ext cx="12499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5959"/>
                </a:solidFill>
                <a:latin typeface="Be Vietnam Pro" pitchFamily="34" charset="0"/>
                <a:ea typeface="Be Vietnam Pro" pitchFamily="34" charset="-122"/>
                <a:cs typeface="Be Vietnam Pro" pitchFamily="34" charset="-120"/>
              </a:rPr>
              <a:t>Học cách học</a:t>
            </a:r>
            <a:endParaRPr lang="en-US" sz="1400" dirty="0"/>
          </a:p>
        </p:txBody>
      </p:sp>
      <p:sp>
        <p:nvSpPr>
          <p:cNvPr id="9" name="Shape 7"/>
          <p:cNvSpPr/>
          <p:nvPr/>
        </p:nvSpPr>
        <p:spPr>
          <a:xfrm>
            <a:off x="1066800" y="2715220"/>
            <a:ext cx="279400" cy="279400"/>
          </a:xfrm>
          <a:prstGeom prst="roundRect">
            <a:avLst>
              <a:gd name="adj" fmla="val 50000"/>
            </a:avLst>
          </a:prstGeom>
          <a:solidFill>
            <a:srgbClr val="282882"/>
          </a:solidFill>
          <a:ln/>
        </p:spPr>
      </p:sp>
      <p:sp>
        <p:nvSpPr>
          <p:cNvPr id="10" name="Text 8"/>
          <p:cNvSpPr/>
          <p:nvPr/>
        </p:nvSpPr>
        <p:spPr>
          <a:xfrm>
            <a:off x="1156196" y="2748260"/>
            <a:ext cx="15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a:t>
            </a:r>
            <a:endParaRPr lang="en-US" sz="1200" dirty="0"/>
          </a:p>
        </p:txBody>
      </p:sp>
      <p:sp>
        <p:nvSpPr>
          <p:cNvPr id="11" name="Text 9"/>
          <p:cNvSpPr/>
          <p:nvPr/>
        </p:nvSpPr>
        <p:spPr>
          <a:xfrm>
            <a:off x="1473200" y="2730450"/>
            <a:ext cx="285891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5959"/>
                </a:solidFill>
                <a:latin typeface="Be Vietnam Pro" pitchFamily="34" charset="0"/>
                <a:ea typeface="Be Vietnam Pro" pitchFamily="34" charset="-122"/>
                <a:cs typeface="Be Vietnam Pro" pitchFamily="34" charset="-120"/>
              </a:rPr>
              <a:t>Hoàn thành mọi việc với Kanban</a:t>
            </a:r>
            <a:endParaRPr lang="en-US" sz="1400" dirty="0"/>
          </a:p>
        </p:txBody>
      </p:sp>
      <p:sp>
        <p:nvSpPr>
          <p:cNvPr id="12" name="Shape 10"/>
          <p:cNvSpPr/>
          <p:nvPr/>
        </p:nvSpPr>
        <p:spPr>
          <a:xfrm>
            <a:off x="1066800" y="3147020"/>
            <a:ext cx="279400" cy="279400"/>
          </a:xfrm>
          <a:prstGeom prst="roundRect">
            <a:avLst>
              <a:gd name="adj" fmla="val 50000"/>
            </a:avLst>
          </a:prstGeom>
          <a:solidFill>
            <a:srgbClr val="282882"/>
          </a:solidFill>
          <a:ln/>
        </p:spPr>
      </p:sp>
      <p:sp>
        <p:nvSpPr>
          <p:cNvPr id="13" name="Text 11"/>
          <p:cNvSpPr/>
          <p:nvPr/>
        </p:nvSpPr>
        <p:spPr>
          <a:xfrm>
            <a:off x="1155105" y="3180060"/>
            <a:ext cx="1535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3</a:t>
            </a:r>
            <a:endParaRPr lang="en-US" sz="1200" dirty="0"/>
          </a:p>
        </p:txBody>
      </p:sp>
      <p:sp>
        <p:nvSpPr>
          <p:cNvPr id="14" name="Text 12"/>
          <p:cNvSpPr/>
          <p:nvPr/>
        </p:nvSpPr>
        <p:spPr>
          <a:xfrm>
            <a:off x="1473200" y="3162250"/>
            <a:ext cx="13556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5959"/>
                </a:solidFill>
                <a:latin typeface="Be Vietnam Pro" pitchFamily="34" charset="0"/>
                <a:ea typeface="Be Vietnam Pro" pitchFamily="34" charset="-122"/>
                <a:cs typeface="Be Vietnam Pro" pitchFamily="34" charset="-120"/>
              </a:rPr>
              <a:t>Scrum Essence</a:t>
            </a:r>
            <a:endParaRPr lang="en-US" sz="1400" dirty="0"/>
          </a:p>
        </p:txBody>
      </p:sp>
      <p:sp>
        <p:nvSpPr>
          <p:cNvPr id="15" name="Shape 13"/>
          <p:cNvSpPr/>
          <p:nvPr/>
        </p:nvSpPr>
        <p:spPr>
          <a:xfrm>
            <a:off x="1066800" y="3578820"/>
            <a:ext cx="279400" cy="279400"/>
          </a:xfrm>
          <a:prstGeom prst="roundRect">
            <a:avLst>
              <a:gd name="adj" fmla="val 50000"/>
            </a:avLst>
          </a:prstGeom>
          <a:solidFill>
            <a:srgbClr val="282882"/>
          </a:solidFill>
          <a:ln/>
        </p:spPr>
      </p:sp>
      <p:sp>
        <p:nvSpPr>
          <p:cNvPr id="16" name="Text 14"/>
          <p:cNvSpPr/>
          <p:nvPr/>
        </p:nvSpPr>
        <p:spPr>
          <a:xfrm>
            <a:off x="1151930" y="3611860"/>
            <a:ext cx="1599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4</a:t>
            </a:r>
            <a:endParaRPr lang="en-US" sz="1200" dirty="0"/>
          </a:p>
        </p:txBody>
      </p:sp>
      <p:sp>
        <p:nvSpPr>
          <p:cNvPr id="17" name="Text 15"/>
          <p:cNvSpPr/>
          <p:nvPr/>
        </p:nvSpPr>
        <p:spPr>
          <a:xfrm>
            <a:off x="1473200" y="3594050"/>
            <a:ext cx="3130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5959"/>
                </a:solidFill>
                <a:latin typeface="Be Vietnam Pro" pitchFamily="34" charset="0"/>
                <a:ea typeface="Be Vietnam Pro" pitchFamily="34" charset="-122"/>
                <a:cs typeface="Be Vietnam Pro" pitchFamily="34" charset="-120"/>
              </a:rPr>
              <a:t>Git</a:t>
            </a:r>
            <a:endParaRPr lang="en-US" sz="1400" dirty="0"/>
          </a:p>
        </p:txBody>
      </p:sp>
      <p:sp>
        <p:nvSpPr>
          <p:cNvPr id="18" name="Shape 16"/>
          <p:cNvSpPr/>
          <p:nvPr/>
        </p:nvSpPr>
        <p:spPr>
          <a:xfrm>
            <a:off x="7132340" y="1617960"/>
            <a:ext cx="4246860" cy="2494260"/>
          </a:xfrm>
          <a:prstGeom prst="roundRect">
            <a:avLst>
              <a:gd name="adj" fmla="val 6110"/>
            </a:avLst>
          </a:prstGeom>
          <a:solidFill>
            <a:srgbClr val="EEF0F8"/>
          </a:solidFill>
          <a:ln/>
        </p:spPr>
      </p:sp>
      <p:sp>
        <p:nvSpPr>
          <p:cNvPr id="19" name="Text 17"/>
          <p:cNvSpPr/>
          <p:nvPr/>
        </p:nvSpPr>
        <p:spPr>
          <a:xfrm>
            <a:off x="7386340" y="1871960"/>
            <a:ext cx="385102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Khóa chuyên môn chọn theo vai</a:t>
            </a:r>
            <a:endParaRPr lang="en-US" sz="1700" dirty="0"/>
          </a:p>
        </p:txBody>
      </p:sp>
      <p:sp>
        <p:nvSpPr>
          <p:cNvPr id="20" name="Shape 18"/>
          <p:cNvSpPr/>
          <p:nvPr/>
        </p:nvSpPr>
        <p:spPr>
          <a:xfrm>
            <a:off x="7386340" y="2328466"/>
            <a:ext cx="406400" cy="406400"/>
          </a:xfrm>
          <a:prstGeom prst="roundRect">
            <a:avLst>
              <a:gd name="adj" fmla="val 50000"/>
            </a:avLst>
          </a:prstGeom>
          <a:solidFill>
            <a:srgbClr val="F04E23"/>
          </a:solidFill>
          <a:ln/>
        </p:spPr>
      </p:sp>
      <p:sp>
        <p:nvSpPr>
          <p:cNvPr id="21" name="Text 19"/>
          <p:cNvSpPr/>
          <p:nvPr/>
        </p:nvSpPr>
        <p:spPr>
          <a:xfrm>
            <a:off x="7491512" y="2425005"/>
            <a:ext cx="2468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FE</a:t>
            </a:r>
            <a:endParaRPr lang="en-US" sz="1200" dirty="0"/>
          </a:p>
        </p:txBody>
      </p:sp>
      <p:sp>
        <p:nvSpPr>
          <p:cNvPr id="22" name="Text 20"/>
          <p:cNvSpPr/>
          <p:nvPr/>
        </p:nvSpPr>
        <p:spPr>
          <a:xfrm>
            <a:off x="7919740" y="2283420"/>
            <a:ext cx="33016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82882"/>
                </a:solidFill>
                <a:latin typeface="Be Vietnam Pro" pitchFamily="34" charset="0"/>
                <a:ea typeface="Be Vietnam Pro" pitchFamily="34" charset="-122"/>
                <a:cs typeface="Be Vietnam Pro" pitchFamily="34" charset="-120"/>
              </a:rPr>
              <a:t>Frontend</a:t>
            </a:r>
            <a:endParaRPr lang="en-US" sz="1400" dirty="0"/>
          </a:p>
        </p:txBody>
      </p:sp>
      <p:sp>
        <p:nvSpPr>
          <p:cNvPr id="23" name="Text 21"/>
          <p:cNvSpPr/>
          <p:nvPr/>
        </p:nvSpPr>
        <p:spPr>
          <a:xfrm>
            <a:off x="7919740" y="2557711"/>
            <a:ext cx="3301624"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Building Website with HTML/CSS</a:t>
            </a:r>
            <a:endParaRPr lang="en-US" sz="1250" dirty="0"/>
          </a:p>
        </p:txBody>
      </p:sp>
      <p:sp>
        <p:nvSpPr>
          <p:cNvPr id="24" name="Shape 22"/>
          <p:cNvSpPr/>
          <p:nvPr/>
        </p:nvSpPr>
        <p:spPr>
          <a:xfrm>
            <a:off x="7386340" y="2977406"/>
            <a:ext cx="406400" cy="406400"/>
          </a:xfrm>
          <a:prstGeom prst="roundRect">
            <a:avLst>
              <a:gd name="adj" fmla="val 50000"/>
            </a:avLst>
          </a:prstGeom>
          <a:solidFill>
            <a:srgbClr val="F04E23"/>
          </a:solidFill>
          <a:ln/>
        </p:spPr>
      </p:sp>
      <p:sp>
        <p:nvSpPr>
          <p:cNvPr id="25" name="Text 23"/>
          <p:cNvSpPr/>
          <p:nvPr/>
        </p:nvSpPr>
        <p:spPr>
          <a:xfrm>
            <a:off x="7486551" y="3073946"/>
            <a:ext cx="2567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BE</a:t>
            </a:r>
            <a:endParaRPr lang="en-US" sz="1200" dirty="0"/>
          </a:p>
        </p:txBody>
      </p:sp>
      <p:sp>
        <p:nvSpPr>
          <p:cNvPr id="26" name="Text 24"/>
          <p:cNvSpPr/>
          <p:nvPr/>
        </p:nvSpPr>
        <p:spPr>
          <a:xfrm>
            <a:off x="7919740" y="2932361"/>
            <a:ext cx="33016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82882"/>
                </a:solidFill>
                <a:latin typeface="Be Vietnam Pro" pitchFamily="34" charset="0"/>
                <a:ea typeface="Be Vietnam Pro" pitchFamily="34" charset="-122"/>
                <a:cs typeface="Be Vietnam Pro" pitchFamily="34" charset="-120"/>
              </a:rPr>
              <a:t>Backend</a:t>
            </a:r>
            <a:endParaRPr lang="en-US" sz="1400" dirty="0"/>
          </a:p>
        </p:txBody>
      </p:sp>
      <p:sp>
        <p:nvSpPr>
          <p:cNvPr id="27" name="Text 25"/>
          <p:cNvSpPr/>
          <p:nvPr/>
        </p:nvSpPr>
        <p:spPr>
          <a:xfrm>
            <a:off x="7919740" y="3206651"/>
            <a:ext cx="3301624"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JSP/Servlet</a:t>
            </a:r>
            <a:endParaRPr lang="en-US" sz="1250" dirty="0"/>
          </a:p>
        </p:txBody>
      </p:sp>
      <p:sp>
        <p:nvSpPr>
          <p:cNvPr id="28" name="Shape 26"/>
          <p:cNvSpPr/>
          <p:nvPr/>
        </p:nvSpPr>
        <p:spPr>
          <a:xfrm>
            <a:off x="812800" y="4366220"/>
            <a:ext cx="10566400" cy="586730"/>
          </a:xfrm>
          <a:prstGeom prst="roundRect">
            <a:avLst>
              <a:gd name="adj" fmla="val 21645"/>
            </a:avLst>
          </a:prstGeom>
          <a:solidFill>
            <a:srgbClr val="282882"/>
          </a:solidFill>
          <a:ln/>
        </p:spPr>
      </p:sp>
      <p:sp>
        <p:nvSpPr>
          <p:cNvPr id="29" name="Text 27"/>
          <p:cNvSpPr/>
          <p:nvPr/>
        </p:nvSpPr>
        <p:spPr>
          <a:xfrm>
            <a:off x="1041400" y="4544020"/>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Lưu ý:</a:t>
            </a:r>
            <a:r>
              <a:rPr lang="en-US" sz="1300" dirty="0">
                <a:solidFill>
                  <a:srgbClr val="FFFFFF"/>
                </a:solidFill>
                <a:latin typeface="Be Vietnam Pro" pitchFamily="34" charset="0"/>
                <a:ea typeface="Be Vietnam Pro" pitchFamily="34" charset="-122"/>
                <a:cs typeface="Be Vietnam Pro" pitchFamily="34" charset="-120"/>
              </a:rPr>
              <a:t> Mentor theo dõi tiến độ học hàng tuần. Hãy tự học đều đặn vì kết quả khóa học là một phần điểm đánh giá cuối kỳ.</a:t>
            </a:r>
            <a:endParaRPr lang="en-US" sz="1300" dirty="0"/>
          </a:p>
        </p:txBody>
      </p:sp>
      <p:sp>
        <p:nvSpPr>
          <p:cNvPr id="30" name="Text 2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31" name="Text 29"/>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Nhật ký thực tập: ghi mỗi ngày trên LMS</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Bắt buộc với mọi TTS, kể cả ngày không có lịch làm việc với Mentor hoặc Trainer</a:t>
            </a:r>
            <a:endParaRPr lang="en-US" sz="1300" dirty="0"/>
          </a:p>
        </p:txBody>
      </p:sp>
      <p:sp>
        <p:nvSpPr>
          <p:cNvPr id="4" name="Shape 2"/>
          <p:cNvSpPr/>
          <p:nvPr/>
        </p:nvSpPr>
        <p:spPr>
          <a:xfrm>
            <a:off x="812800" y="1567160"/>
            <a:ext cx="2546350" cy="843211"/>
          </a:xfrm>
          <a:prstGeom prst="roundRect">
            <a:avLst>
              <a:gd name="adj" fmla="val 12049"/>
            </a:avLst>
          </a:prstGeom>
          <a:solidFill>
            <a:srgbClr val="282882"/>
          </a:solidFill>
          <a:ln/>
        </p:spPr>
      </p:sp>
      <p:sp>
        <p:nvSpPr>
          <p:cNvPr id="5" name="Text 3"/>
          <p:cNvSpPr/>
          <p:nvPr/>
        </p:nvSpPr>
        <p:spPr>
          <a:xfrm>
            <a:off x="1003300" y="1732260"/>
            <a:ext cx="22303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Thời gian</a:t>
            </a:r>
            <a:endParaRPr lang="en-US" sz="1400" dirty="0"/>
          </a:p>
        </p:txBody>
      </p:sp>
      <p:sp>
        <p:nvSpPr>
          <p:cNvPr id="6" name="Text 4"/>
          <p:cNvSpPr/>
          <p:nvPr/>
        </p:nvSpPr>
        <p:spPr>
          <a:xfrm>
            <a:off x="1003300" y="20319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Be Vietnam Pro" pitchFamily="34" charset="0"/>
                <a:ea typeface="Be Vietnam Pro" pitchFamily="34" charset="-122"/>
                <a:cs typeface="Be Vietnam Pro" pitchFamily="34" charset="-120"/>
              </a:rPr>
              <a:t>Ngày, buổi làm việc</a:t>
            </a:r>
            <a:endParaRPr lang="en-US" sz="1200" dirty="0"/>
          </a:p>
        </p:txBody>
      </p:sp>
      <p:sp>
        <p:nvSpPr>
          <p:cNvPr id="7" name="Shape 5"/>
          <p:cNvSpPr/>
          <p:nvPr/>
        </p:nvSpPr>
        <p:spPr>
          <a:xfrm>
            <a:off x="3486150" y="1567160"/>
            <a:ext cx="2546350" cy="843211"/>
          </a:xfrm>
          <a:prstGeom prst="roundRect">
            <a:avLst>
              <a:gd name="adj" fmla="val 12049"/>
            </a:avLst>
          </a:prstGeom>
          <a:solidFill>
            <a:srgbClr val="282882"/>
          </a:solidFill>
          <a:ln/>
        </p:spPr>
      </p:sp>
      <p:sp>
        <p:nvSpPr>
          <p:cNvPr id="8" name="Text 6"/>
          <p:cNvSpPr/>
          <p:nvPr/>
        </p:nvSpPr>
        <p:spPr>
          <a:xfrm>
            <a:off x="3676650" y="1732260"/>
            <a:ext cx="22303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Nội dung đã làm</a:t>
            </a:r>
            <a:endParaRPr lang="en-US" sz="1400" dirty="0"/>
          </a:p>
        </p:txBody>
      </p:sp>
      <p:sp>
        <p:nvSpPr>
          <p:cNvPr id="9" name="Text 7"/>
          <p:cNvSpPr/>
          <p:nvPr/>
        </p:nvSpPr>
        <p:spPr>
          <a:xfrm>
            <a:off x="3676650" y="20319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Be Vietnam Pro" pitchFamily="34" charset="0"/>
                <a:ea typeface="Be Vietnam Pro" pitchFamily="34" charset="-122"/>
                <a:cs typeface="Be Vietnam Pro" pitchFamily="34" charset="-120"/>
              </a:rPr>
              <a:t>Việc bạn đã làm hôm nay</a:t>
            </a:r>
            <a:endParaRPr lang="en-US" sz="1200" dirty="0"/>
          </a:p>
        </p:txBody>
      </p:sp>
      <p:sp>
        <p:nvSpPr>
          <p:cNvPr id="10" name="Shape 8"/>
          <p:cNvSpPr/>
          <p:nvPr/>
        </p:nvSpPr>
        <p:spPr>
          <a:xfrm>
            <a:off x="6159500" y="1567160"/>
            <a:ext cx="2546350" cy="843211"/>
          </a:xfrm>
          <a:prstGeom prst="roundRect">
            <a:avLst>
              <a:gd name="adj" fmla="val 12049"/>
            </a:avLst>
          </a:prstGeom>
          <a:solidFill>
            <a:srgbClr val="282882"/>
          </a:solidFill>
          <a:ln/>
        </p:spPr>
      </p:sp>
      <p:sp>
        <p:nvSpPr>
          <p:cNvPr id="11" name="Text 9"/>
          <p:cNvSpPr/>
          <p:nvPr/>
        </p:nvSpPr>
        <p:spPr>
          <a:xfrm>
            <a:off x="6350000" y="1732260"/>
            <a:ext cx="22303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Khó khăn</a:t>
            </a:r>
            <a:endParaRPr lang="en-US" sz="1400" dirty="0"/>
          </a:p>
        </p:txBody>
      </p:sp>
      <p:sp>
        <p:nvSpPr>
          <p:cNvPr id="12" name="Text 10"/>
          <p:cNvSpPr/>
          <p:nvPr/>
        </p:nvSpPr>
        <p:spPr>
          <a:xfrm>
            <a:off x="6350000" y="20319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Be Vietnam Pro" pitchFamily="34" charset="0"/>
                <a:ea typeface="Be Vietnam Pro" pitchFamily="34" charset="-122"/>
                <a:cs typeface="Be Vietnam Pro" pitchFamily="34" charset="-120"/>
              </a:rPr>
              <a:t>Có vướng mắc gì không</a:t>
            </a:r>
            <a:endParaRPr lang="en-US" sz="1200" dirty="0"/>
          </a:p>
        </p:txBody>
      </p:sp>
      <p:sp>
        <p:nvSpPr>
          <p:cNvPr id="13" name="Shape 11"/>
          <p:cNvSpPr/>
          <p:nvPr/>
        </p:nvSpPr>
        <p:spPr>
          <a:xfrm>
            <a:off x="8832850" y="1567160"/>
            <a:ext cx="2546350" cy="843211"/>
          </a:xfrm>
          <a:prstGeom prst="roundRect">
            <a:avLst>
              <a:gd name="adj" fmla="val 12049"/>
            </a:avLst>
          </a:prstGeom>
          <a:solidFill>
            <a:srgbClr val="F04E23"/>
          </a:solidFill>
          <a:ln/>
        </p:spPr>
      </p:sp>
      <p:sp>
        <p:nvSpPr>
          <p:cNvPr id="14" name="Text 12"/>
          <p:cNvSpPr/>
          <p:nvPr/>
        </p:nvSpPr>
        <p:spPr>
          <a:xfrm>
            <a:off x="9023350" y="1732260"/>
            <a:ext cx="22303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Kế hoạch</a:t>
            </a:r>
            <a:endParaRPr lang="en-US" sz="1400" dirty="0"/>
          </a:p>
        </p:txBody>
      </p:sp>
      <p:sp>
        <p:nvSpPr>
          <p:cNvPr id="15" name="Text 13"/>
          <p:cNvSpPr/>
          <p:nvPr/>
        </p:nvSpPr>
        <p:spPr>
          <a:xfrm>
            <a:off x="9023350" y="20319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Be Vietnam Pro" pitchFamily="34" charset="0"/>
                <a:ea typeface="Be Vietnam Pro" pitchFamily="34" charset="-122"/>
                <a:cs typeface="Be Vietnam Pro" pitchFamily="34" charset="-120"/>
              </a:rPr>
              <a:t>Dự kiến ngày tiếp theo</a:t>
            </a:r>
            <a:endParaRPr lang="en-US" sz="1200" dirty="0"/>
          </a:p>
        </p:txBody>
      </p:sp>
      <p:sp>
        <p:nvSpPr>
          <p:cNvPr id="16" name="Shape 14"/>
          <p:cNvSpPr/>
          <p:nvPr/>
        </p:nvSpPr>
        <p:spPr>
          <a:xfrm>
            <a:off x="812800" y="2613571"/>
            <a:ext cx="5181600" cy="1414760"/>
          </a:xfrm>
          <a:prstGeom prst="roundRect">
            <a:avLst>
              <a:gd name="adj" fmla="val 8977"/>
            </a:avLst>
          </a:prstGeom>
          <a:solidFill>
            <a:srgbClr val="EEF0F8"/>
          </a:solidFill>
          <a:ln/>
        </p:spPr>
      </p:sp>
      <p:sp>
        <p:nvSpPr>
          <p:cNvPr id="17" name="Shape 15"/>
          <p:cNvSpPr/>
          <p:nvPr/>
        </p:nvSpPr>
        <p:spPr>
          <a:xfrm>
            <a:off x="1028700" y="2829471"/>
            <a:ext cx="406400" cy="406400"/>
          </a:xfrm>
          <a:prstGeom prst="roundRect">
            <a:avLst>
              <a:gd name="adj" fmla="val 50000"/>
            </a:avLst>
          </a:prstGeom>
          <a:solidFill>
            <a:srgbClr val="282882"/>
          </a:solidFill>
          <a:ln/>
        </p:spPr>
      </p:sp>
      <p:sp>
        <p:nvSpPr>
          <p:cNvPr id="18" name="Text 16"/>
          <p:cNvSpPr/>
          <p:nvPr/>
        </p:nvSpPr>
        <p:spPr>
          <a:xfrm>
            <a:off x="1078557" y="2926011"/>
            <a:ext cx="3574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TTS</a:t>
            </a:r>
            <a:endParaRPr lang="en-US" sz="1200" dirty="0"/>
          </a:p>
        </p:txBody>
      </p:sp>
      <p:sp>
        <p:nvSpPr>
          <p:cNvPr id="19" name="Text 17"/>
          <p:cNvSpPr/>
          <p:nvPr/>
        </p:nvSpPr>
        <p:spPr>
          <a:xfrm>
            <a:off x="1549400" y="2910731"/>
            <a:ext cx="317904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Nhật ký cá nhân của mỗi người</a:t>
            </a:r>
            <a:endParaRPr lang="en-US" sz="1600" dirty="0"/>
          </a:p>
        </p:txBody>
      </p:sp>
      <p:sp>
        <p:nvSpPr>
          <p:cNvPr id="20" name="Text 18"/>
          <p:cNvSpPr/>
          <p:nvPr/>
        </p:nvSpPr>
        <p:spPr>
          <a:xfrm>
            <a:off x="1028700" y="3350171"/>
            <a:ext cx="4892294" cy="487660"/>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Ghi hàng ngày, đủ 4 phần</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Ngắn gọn nhưng cụ thể, trung thực</a:t>
            </a:r>
            <a:endParaRPr lang="en-US" sz="1300" dirty="0"/>
          </a:p>
        </p:txBody>
      </p:sp>
      <p:sp>
        <p:nvSpPr>
          <p:cNvPr id="21" name="Shape 19"/>
          <p:cNvSpPr/>
          <p:nvPr/>
        </p:nvSpPr>
        <p:spPr>
          <a:xfrm>
            <a:off x="6197600" y="2613571"/>
            <a:ext cx="5181600" cy="1414760"/>
          </a:xfrm>
          <a:prstGeom prst="roundRect">
            <a:avLst>
              <a:gd name="adj" fmla="val 8977"/>
            </a:avLst>
          </a:prstGeom>
          <a:solidFill>
            <a:srgbClr val="EEF0F8"/>
          </a:solidFill>
          <a:ln/>
        </p:spPr>
      </p:sp>
      <p:sp>
        <p:nvSpPr>
          <p:cNvPr id="22" name="Shape 20"/>
          <p:cNvSpPr/>
          <p:nvPr/>
        </p:nvSpPr>
        <p:spPr>
          <a:xfrm>
            <a:off x="6413500" y="2829471"/>
            <a:ext cx="406400" cy="406400"/>
          </a:xfrm>
          <a:prstGeom prst="roundRect">
            <a:avLst>
              <a:gd name="adj" fmla="val 50000"/>
            </a:avLst>
          </a:prstGeom>
          <a:solidFill>
            <a:srgbClr val="282882"/>
          </a:solidFill>
          <a:ln/>
        </p:spPr>
      </p:sp>
      <p:sp>
        <p:nvSpPr>
          <p:cNvPr id="23" name="Text 21"/>
          <p:cNvSpPr/>
          <p:nvPr/>
        </p:nvSpPr>
        <p:spPr>
          <a:xfrm>
            <a:off x="6498233" y="2917081"/>
            <a:ext cx="28773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NT</a:t>
            </a:r>
            <a:endParaRPr lang="en-US" sz="1300" dirty="0"/>
          </a:p>
        </p:txBody>
      </p:sp>
      <p:sp>
        <p:nvSpPr>
          <p:cNvPr id="24" name="Text 22"/>
          <p:cNvSpPr/>
          <p:nvPr/>
        </p:nvSpPr>
        <p:spPr>
          <a:xfrm>
            <a:off x="6934200" y="2910731"/>
            <a:ext cx="34829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Nhật ký nhóm do nhóm trưởng ghi</a:t>
            </a:r>
            <a:endParaRPr lang="en-US" sz="1600" dirty="0"/>
          </a:p>
        </p:txBody>
      </p:sp>
      <p:sp>
        <p:nvSpPr>
          <p:cNvPr id="25" name="Text 23"/>
          <p:cNvSpPr/>
          <p:nvPr/>
        </p:nvSpPr>
        <p:spPr>
          <a:xfrm>
            <a:off x="6413500" y="3350171"/>
            <a:ext cx="4892294" cy="487660"/>
          </a:xfrm>
          <a:prstGeom prst="rect">
            <a:avLst/>
          </a:prstGeom>
          <a:noFill/>
          <a:ln/>
        </p:spPr>
        <p:txBody>
          <a:bodyPr wrap="square" lIns="0" tIns="0" rIns="0" bIns="0" rtlCol="0" anchor="t">
            <a:normAutofit/>
          </a:bodyPr>
          <a:lstStyle/>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Cùng 4 phần, ở quy mô của cả nhóm</a:t>
            </a:r>
            <a:endParaRPr lang="en-US" sz="1300" dirty="0"/>
          </a:p>
          <a:p>
            <a:pPr algn="l" marL="342900" indent="-342900">
              <a:lnSpc>
                <a:spcPts val="1820"/>
              </a:lnSpc>
              <a:buSzPct val="100000"/>
              <a:buChar char="•"/>
            </a:pPr>
            <a:r>
              <a:rPr lang="en-US" sz="1300" dirty="0">
                <a:solidFill>
                  <a:srgbClr val="595959"/>
                </a:solidFill>
                <a:latin typeface="Be Vietnam Pro" pitchFamily="34" charset="0"/>
                <a:ea typeface="Be Vietnam Pro" pitchFamily="34" charset="-122"/>
                <a:cs typeface="Be Vietnam Pro" pitchFamily="34" charset="-120"/>
              </a:rPr>
              <a:t>Ghi trong Lớp học của nhóm trên LMS</a:t>
            </a:r>
            <a:endParaRPr lang="en-US" sz="1300" dirty="0"/>
          </a:p>
        </p:txBody>
      </p:sp>
      <p:sp>
        <p:nvSpPr>
          <p:cNvPr id="26" name="Shape 24"/>
          <p:cNvSpPr/>
          <p:nvPr/>
        </p:nvSpPr>
        <p:spPr>
          <a:xfrm>
            <a:off x="812800" y="4231531"/>
            <a:ext cx="10566400" cy="561330"/>
          </a:xfrm>
          <a:prstGeom prst="roundRect">
            <a:avLst>
              <a:gd name="adj" fmla="val 18100"/>
            </a:avLst>
          </a:prstGeom>
          <a:solidFill>
            <a:srgbClr val="EEF0F8"/>
          </a:solidFill>
          <a:ln/>
        </p:spPr>
      </p:sp>
      <p:sp>
        <p:nvSpPr>
          <p:cNvPr id="27" name="Text 25"/>
          <p:cNvSpPr/>
          <p:nvPr/>
        </p:nvSpPr>
        <p:spPr>
          <a:xfrm>
            <a:off x="1016000" y="4396631"/>
            <a:ext cx="1046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95959"/>
                </a:solidFill>
                <a:latin typeface="Be Vietnam Pro" pitchFamily="34" charset="0"/>
                <a:ea typeface="Be Vietnam Pro" pitchFamily="34" charset="-122"/>
                <a:cs typeface="Be Vietnam Pro" pitchFamily="34" charset="-120"/>
              </a:rPr>
              <a:t>Mentor sẽ</a:t>
            </a:r>
            <a:r>
              <a:rPr lang="en-US" sz="1300" dirty="0">
                <a:solidFill>
                  <a:srgbClr val="595959"/>
                </a:solidFill>
                <a:latin typeface="Be Vietnam Pro" pitchFamily="34" charset="0"/>
                <a:ea typeface="Be Vietnam Pro" pitchFamily="34" charset="-122"/>
                <a:cs typeface="Be Vietnam Pro" pitchFamily="34" charset="-120"/>
              </a:rPr>
              <a:t> review nhật ký, nhận xét và nhắc nhở. Hãy xem phản hồi của Mentor mỗi ngày.</a:t>
            </a:r>
            <a:endParaRPr lang="en-US" sz="1300" dirty="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9" name="Text 2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Làm việc theo Sprint và Daily</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Nhịp làm việc của nhóm trong 4 tuần dự án</a:t>
            </a:r>
            <a:endParaRPr lang="en-US" sz="1300" dirty="0"/>
          </a:p>
        </p:txBody>
      </p:sp>
      <p:sp>
        <p:nvSpPr>
          <p:cNvPr id="4" name="Shape 2"/>
          <p:cNvSpPr/>
          <p:nvPr/>
        </p:nvSpPr>
        <p:spPr>
          <a:xfrm>
            <a:off x="812800" y="1592560"/>
            <a:ext cx="5194300" cy="1099790"/>
          </a:xfrm>
          <a:prstGeom prst="roundRect">
            <a:avLst>
              <a:gd name="adj" fmla="val 11548"/>
            </a:avLst>
          </a:prstGeom>
          <a:solidFill>
            <a:srgbClr val="EEF0F8"/>
          </a:solidFill>
          <a:ln/>
        </p:spPr>
      </p:sp>
      <p:sp>
        <p:nvSpPr>
          <p:cNvPr id="5" name="Shape 3"/>
          <p:cNvSpPr/>
          <p:nvPr/>
        </p:nvSpPr>
        <p:spPr>
          <a:xfrm>
            <a:off x="1041400" y="1812230"/>
            <a:ext cx="660400" cy="660400"/>
          </a:xfrm>
          <a:prstGeom prst="roundRect">
            <a:avLst>
              <a:gd name="adj" fmla="val 50000"/>
            </a:avLst>
          </a:prstGeom>
          <a:solidFill>
            <a:srgbClr val="282882"/>
          </a:solidFill>
          <a:ln/>
        </p:spPr>
      </p:sp>
      <p:sp>
        <p:nvSpPr>
          <p:cNvPr id="6" name="Text 4"/>
          <p:cNvSpPr/>
          <p:nvPr/>
        </p:nvSpPr>
        <p:spPr>
          <a:xfrm>
            <a:off x="1139379" y="2035770"/>
            <a:ext cx="5151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Sprint</a:t>
            </a:r>
            <a:endParaRPr lang="en-US" sz="1200" dirty="0"/>
          </a:p>
        </p:txBody>
      </p:sp>
      <p:sp>
        <p:nvSpPr>
          <p:cNvPr id="7" name="Text 5"/>
          <p:cNvSpPr/>
          <p:nvPr/>
        </p:nvSpPr>
        <p:spPr>
          <a:xfrm>
            <a:off x="1854200" y="1911300"/>
            <a:ext cx="404202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Nhóm lập kế hoạch sprint (Planning), phân việc rõ ràng và cập nhật tiến độ trên bảng công việc</a:t>
            </a:r>
            <a:endParaRPr lang="en-US" sz="1300" dirty="0"/>
          </a:p>
        </p:txBody>
      </p:sp>
      <p:sp>
        <p:nvSpPr>
          <p:cNvPr id="8" name="Shape 6"/>
          <p:cNvSpPr/>
          <p:nvPr/>
        </p:nvSpPr>
        <p:spPr>
          <a:xfrm>
            <a:off x="6184900" y="1592560"/>
            <a:ext cx="5194300" cy="1099790"/>
          </a:xfrm>
          <a:prstGeom prst="roundRect">
            <a:avLst>
              <a:gd name="adj" fmla="val 11548"/>
            </a:avLst>
          </a:prstGeom>
          <a:solidFill>
            <a:srgbClr val="EEF0F8"/>
          </a:solidFill>
          <a:ln/>
        </p:spPr>
      </p:sp>
      <p:sp>
        <p:nvSpPr>
          <p:cNvPr id="9" name="Shape 7"/>
          <p:cNvSpPr/>
          <p:nvPr/>
        </p:nvSpPr>
        <p:spPr>
          <a:xfrm>
            <a:off x="6413500" y="1812230"/>
            <a:ext cx="660400" cy="660400"/>
          </a:xfrm>
          <a:prstGeom prst="roundRect">
            <a:avLst>
              <a:gd name="adj" fmla="val 50000"/>
            </a:avLst>
          </a:prstGeom>
          <a:solidFill>
            <a:srgbClr val="282882"/>
          </a:solidFill>
          <a:ln/>
        </p:spPr>
      </p:sp>
      <p:sp>
        <p:nvSpPr>
          <p:cNvPr id="10" name="Text 8"/>
          <p:cNvSpPr/>
          <p:nvPr/>
        </p:nvSpPr>
        <p:spPr>
          <a:xfrm>
            <a:off x="6549281" y="2035770"/>
            <a:ext cx="4395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Daily</a:t>
            </a:r>
            <a:endParaRPr lang="en-US" sz="1200" dirty="0"/>
          </a:p>
        </p:txBody>
      </p:sp>
      <p:sp>
        <p:nvSpPr>
          <p:cNvPr id="11" name="Text 9"/>
          <p:cNvSpPr/>
          <p:nvPr/>
        </p:nvSpPr>
        <p:spPr>
          <a:xfrm>
            <a:off x="7226300" y="1795760"/>
            <a:ext cx="404202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Daily online mỗi ngày với 3 câu hỏi: hôm qua làm gì, hôm nay làm gì, có vướng gì; check-in lên Zalo hoặc Slack</a:t>
            </a:r>
            <a:endParaRPr lang="en-US" sz="1300" dirty="0"/>
          </a:p>
        </p:txBody>
      </p:sp>
      <p:sp>
        <p:nvSpPr>
          <p:cNvPr id="12" name="Shape 10"/>
          <p:cNvSpPr/>
          <p:nvPr/>
        </p:nvSpPr>
        <p:spPr>
          <a:xfrm>
            <a:off x="812800" y="2870150"/>
            <a:ext cx="5194300" cy="1099790"/>
          </a:xfrm>
          <a:prstGeom prst="roundRect">
            <a:avLst>
              <a:gd name="adj" fmla="val 11548"/>
            </a:avLst>
          </a:prstGeom>
          <a:solidFill>
            <a:srgbClr val="EEF0F8"/>
          </a:solidFill>
          <a:ln/>
        </p:spPr>
      </p:sp>
      <p:sp>
        <p:nvSpPr>
          <p:cNvPr id="13" name="Shape 11"/>
          <p:cNvSpPr/>
          <p:nvPr/>
        </p:nvSpPr>
        <p:spPr>
          <a:xfrm>
            <a:off x="1041400" y="3089821"/>
            <a:ext cx="660400" cy="660400"/>
          </a:xfrm>
          <a:prstGeom prst="roundRect">
            <a:avLst>
              <a:gd name="adj" fmla="val 50000"/>
            </a:avLst>
          </a:prstGeom>
          <a:solidFill>
            <a:srgbClr val="282882"/>
          </a:solidFill>
          <a:ln/>
        </p:spPr>
      </p:sp>
      <p:sp>
        <p:nvSpPr>
          <p:cNvPr id="14" name="Text 12"/>
          <p:cNvSpPr/>
          <p:nvPr/>
        </p:nvSpPr>
        <p:spPr>
          <a:xfrm>
            <a:off x="1041400" y="3206700"/>
            <a:ext cx="7112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Theo dõi</a:t>
            </a:r>
            <a:endParaRPr lang="en-US" sz="1200" dirty="0"/>
          </a:p>
        </p:txBody>
      </p:sp>
      <p:sp>
        <p:nvSpPr>
          <p:cNvPr id="15" name="Text 13"/>
          <p:cNvSpPr/>
          <p:nvPr/>
        </p:nvSpPr>
        <p:spPr>
          <a:xfrm>
            <a:off x="1854200" y="3188891"/>
            <a:ext cx="404202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Nhóm trưởng và SM theo dõi tiến độ sprint, chủ động cảnh báo khi việc có nguy cơ trễ</a:t>
            </a:r>
            <a:endParaRPr lang="en-US" sz="1300" dirty="0"/>
          </a:p>
        </p:txBody>
      </p:sp>
      <p:sp>
        <p:nvSpPr>
          <p:cNvPr id="16" name="Shape 14"/>
          <p:cNvSpPr/>
          <p:nvPr/>
        </p:nvSpPr>
        <p:spPr>
          <a:xfrm>
            <a:off x="6184900" y="2870150"/>
            <a:ext cx="5194300" cy="1099790"/>
          </a:xfrm>
          <a:prstGeom prst="roundRect">
            <a:avLst>
              <a:gd name="adj" fmla="val 11548"/>
            </a:avLst>
          </a:prstGeom>
          <a:solidFill>
            <a:srgbClr val="EEF0F8"/>
          </a:solidFill>
          <a:ln/>
        </p:spPr>
      </p:sp>
      <p:sp>
        <p:nvSpPr>
          <p:cNvPr id="17" name="Shape 15"/>
          <p:cNvSpPr/>
          <p:nvPr/>
        </p:nvSpPr>
        <p:spPr>
          <a:xfrm>
            <a:off x="6413500" y="3089821"/>
            <a:ext cx="660400" cy="660400"/>
          </a:xfrm>
          <a:prstGeom prst="roundRect">
            <a:avLst>
              <a:gd name="adj" fmla="val 50000"/>
            </a:avLst>
          </a:prstGeom>
          <a:solidFill>
            <a:srgbClr val="F04E23"/>
          </a:solidFill>
          <a:ln/>
        </p:spPr>
      </p:sp>
      <p:sp>
        <p:nvSpPr>
          <p:cNvPr id="18" name="Text 16"/>
          <p:cNvSpPr/>
          <p:nvPr/>
        </p:nvSpPr>
        <p:spPr>
          <a:xfrm>
            <a:off x="6471394" y="3313361"/>
            <a:ext cx="5953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Review</a:t>
            </a:r>
            <a:endParaRPr lang="en-US" sz="1200" dirty="0"/>
          </a:p>
        </p:txBody>
      </p:sp>
      <p:sp>
        <p:nvSpPr>
          <p:cNvPr id="19" name="Text 17"/>
          <p:cNvSpPr/>
          <p:nvPr/>
        </p:nvSpPr>
        <p:spPr>
          <a:xfrm>
            <a:off x="7226300" y="3188891"/>
            <a:ext cx="404202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Cuối sprint trình bày kết quả với Mentor (PO) để được góp ý và chấp nhận</a:t>
            </a:r>
            <a:endParaRPr lang="en-US" sz="1300" dirty="0"/>
          </a:p>
        </p:txBody>
      </p:sp>
      <p:sp>
        <p:nvSpPr>
          <p:cNvPr id="20" name="Shape 18"/>
          <p:cNvSpPr/>
          <p:nvPr/>
        </p:nvSpPr>
        <p:spPr>
          <a:xfrm>
            <a:off x="812800" y="4198541"/>
            <a:ext cx="10566400" cy="586730"/>
          </a:xfrm>
          <a:prstGeom prst="roundRect">
            <a:avLst>
              <a:gd name="adj" fmla="val 21645"/>
            </a:avLst>
          </a:prstGeom>
          <a:solidFill>
            <a:srgbClr val="282882"/>
          </a:solidFill>
          <a:ln/>
        </p:spPr>
      </p:sp>
      <p:sp>
        <p:nvSpPr>
          <p:cNvPr id="21" name="Text 19"/>
          <p:cNvSpPr/>
          <p:nvPr/>
        </p:nvSpPr>
        <p:spPr>
          <a:xfrm>
            <a:off x="1041400" y="4376341"/>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Nguyên tắc:</a:t>
            </a:r>
            <a:r>
              <a:rPr lang="en-US" sz="1300" dirty="0">
                <a:solidFill>
                  <a:srgbClr val="FFFFFF"/>
                </a:solidFill>
                <a:latin typeface="Be Vietnam Pro" pitchFamily="34" charset="0"/>
                <a:ea typeface="Be Vietnam Pro" pitchFamily="34" charset="-122"/>
                <a:cs typeface="Be Vietnam Pro" pitchFamily="34" charset="-120"/>
              </a:rPr>
              <a:t> không chờ Mentor giao việc, nhóm chủ động triển khai theo kế hoạch sprint đã thống nhất.</a:t>
            </a:r>
            <a:endParaRPr lang="en-US" sz="1300" dirty="0"/>
          </a:p>
        </p:txBody>
      </p:sp>
      <p:sp>
        <p:nvSpPr>
          <p:cNvPr id="22"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3" name="Text 2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Lịch làm việc và kênh liên lạc</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Bạn có thể tìm Mentor ở đâu và khi nào</a:t>
            </a:r>
            <a:endParaRPr lang="en-US" sz="1300" dirty="0"/>
          </a:p>
        </p:txBody>
      </p:sp>
      <p:sp>
        <p:nvSpPr>
          <p:cNvPr id="4" name="Shape 2"/>
          <p:cNvSpPr/>
          <p:nvPr/>
        </p:nvSpPr>
        <p:spPr>
          <a:xfrm>
            <a:off x="812800" y="1617960"/>
            <a:ext cx="3386634" cy="675630"/>
          </a:xfrm>
          <a:prstGeom prst="roundRect">
            <a:avLst>
              <a:gd name="adj" fmla="val 18797"/>
            </a:avLst>
          </a:prstGeom>
          <a:solidFill>
            <a:srgbClr val="282882"/>
          </a:solidFill>
          <a:ln/>
        </p:spPr>
      </p:sp>
      <p:sp>
        <p:nvSpPr>
          <p:cNvPr id="5" name="Text 3"/>
          <p:cNvSpPr/>
          <p:nvPr/>
        </p:nvSpPr>
        <p:spPr>
          <a:xfrm>
            <a:off x="1028700" y="1795760"/>
            <a:ext cx="3043479"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Offline</a:t>
            </a:r>
            <a:endParaRPr lang="en-US" sz="1800" dirty="0"/>
          </a:p>
        </p:txBody>
      </p:sp>
      <p:sp>
        <p:nvSpPr>
          <p:cNvPr id="6" name="Shape 4"/>
          <p:cNvSpPr/>
          <p:nvPr/>
        </p:nvSpPr>
        <p:spPr>
          <a:xfrm>
            <a:off x="812800" y="2293590"/>
            <a:ext cx="3386634" cy="1099790"/>
          </a:xfrm>
          <a:prstGeom prst="roundRect">
            <a:avLst>
              <a:gd name="adj" fmla="val 11548"/>
            </a:avLst>
          </a:prstGeom>
          <a:solidFill>
            <a:srgbClr val="EEF0F8"/>
          </a:solidFill>
          <a:ln/>
        </p:spPr>
      </p:sp>
      <p:sp>
        <p:nvSpPr>
          <p:cNvPr id="7" name="Text 5"/>
          <p:cNvSpPr/>
          <p:nvPr/>
        </p:nvSpPr>
        <p:spPr>
          <a:xfrm>
            <a:off x="1028700" y="2496790"/>
            <a:ext cx="304347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Buổi làm việc trực tiếp với Mentor theo lịch của Khối (xem buổi và thứ trong tên khối)</a:t>
            </a:r>
            <a:endParaRPr lang="en-US" sz="1300" dirty="0"/>
          </a:p>
        </p:txBody>
      </p:sp>
      <p:sp>
        <p:nvSpPr>
          <p:cNvPr id="8" name="Shape 6"/>
          <p:cNvSpPr/>
          <p:nvPr/>
        </p:nvSpPr>
        <p:spPr>
          <a:xfrm>
            <a:off x="4402634" y="1617960"/>
            <a:ext cx="3386683" cy="675630"/>
          </a:xfrm>
          <a:prstGeom prst="roundRect">
            <a:avLst>
              <a:gd name="adj" fmla="val 18797"/>
            </a:avLst>
          </a:prstGeom>
          <a:solidFill>
            <a:srgbClr val="282882"/>
          </a:solidFill>
          <a:ln/>
        </p:spPr>
      </p:sp>
      <p:sp>
        <p:nvSpPr>
          <p:cNvPr id="9" name="Text 7"/>
          <p:cNvSpPr/>
          <p:nvPr/>
        </p:nvSpPr>
        <p:spPr>
          <a:xfrm>
            <a:off x="4618534" y="1795760"/>
            <a:ext cx="304353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Online</a:t>
            </a:r>
            <a:endParaRPr lang="en-US" sz="1800" dirty="0"/>
          </a:p>
        </p:txBody>
      </p:sp>
      <p:sp>
        <p:nvSpPr>
          <p:cNvPr id="10" name="Shape 8"/>
          <p:cNvSpPr/>
          <p:nvPr/>
        </p:nvSpPr>
        <p:spPr>
          <a:xfrm>
            <a:off x="4402634" y="2293590"/>
            <a:ext cx="3386683" cy="1099790"/>
          </a:xfrm>
          <a:prstGeom prst="roundRect">
            <a:avLst>
              <a:gd name="adj" fmla="val 11548"/>
            </a:avLst>
          </a:prstGeom>
          <a:solidFill>
            <a:srgbClr val="EEF0F8"/>
          </a:solidFill>
          <a:ln/>
        </p:spPr>
      </p:sp>
      <p:sp>
        <p:nvSpPr>
          <p:cNvPr id="11" name="Text 9"/>
          <p:cNvSpPr/>
          <p:nvPr/>
        </p:nvSpPr>
        <p:spPr>
          <a:xfrm>
            <a:off x="4618534" y="2496790"/>
            <a:ext cx="30435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Các buổi làm việc online theo lịch trên LMS; có Calendar backup do Mentor gửi</a:t>
            </a:r>
            <a:endParaRPr lang="en-US" sz="1300" dirty="0"/>
          </a:p>
        </p:txBody>
      </p:sp>
      <p:sp>
        <p:nvSpPr>
          <p:cNvPr id="12" name="Shape 10"/>
          <p:cNvSpPr/>
          <p:nvPr/>
        </p:nvSpPr>
        <p:spPr>
          <a:xfrm>
            <a:off x="7992517" y="1617960"/>
            <a:ext cx="3386683" cy="675630"/>
          </a:xfrm>
          <a:prstGeom prst="roundRect">
            <a:avLst>
              <a:gd name="adj" fmla="val 18797"/>
            </a:avLst>
          </a:prstGeom>
          <a:solidFill>
            <a:srgbClr val="F04E23"/>
          </a:solidFill>
          <a:ln/>
        </p:spPr>
      </p:sp>
      <p:sp>
        <p:nvSpPr>
          <p:cNvPr id="13" name="Text 11"/>
          <p:cNvSpPr/>
          <p:nvPr/>
        </p:nvSpPr>
        <p:spPr>
          <a:xfrm>
            <a:off x="8208417" y="1795760"/>
            <a:ext cx="304353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Zalo, Slack</a:t>
            </a:r>
            <a:endParaRPr lang="en-US" sz="1800" dirty="0"/>
          </a:p>
        </p:txBody>
      </p:sp>
      <p:sp>
        <p:nvSpPr>
          <p:cNvPr id="14" name="Shape 12"/>
          <p:cNvSpPr/>
          <p:nvPr/>
        </p:nvSpPr>
        <p:spPr>
          <a:xfrm>
            <a:off x="7992517" y="2293590"/>
            <a:ext cx="3386683" cy="1099790"/>
          </a:xfrm>
          <a:prstGeom prst="roundRect">
            <a:avLst>
              <a:gd name="adj" fmla="val 11548"/>
            </a:avLst>
          </a:prstGeom>
          <a:solidFill>
            <a:srgbClr val="EEF0F8"/>
          </a:solidFill>
          <a:ln/>
        </p:spPr>
      </p:sp>
      <p:sp>
        <p:nvSpPr>
          <p:cNvPr id="15" name="Text 13"/>
          <p:cNvSpPr/>
          <p:nvPr/>
        </p:nvSpPr>
        <p:spPr>
          <a:xfrm>
            <a:off x="8208417" y="2496790"/>
            <a:ext cx="30435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Kênh của nhóm: check-in hàng ngày, đặt câu hỏi bất cứ lúc nào, Mentor phản hồi online</a:t>
            </a:r>
            <a:endParaRPr lang="en-US" sz="1300" dirty="0"/>
          </a:p>
        </p:txBody>
      </p:sp>
      <p:sp>
        <p:nvSpPr>
          <p:cNvPr id="16" name="Shape 14"/>
          <p:cNvSpPr/>
          <p:nvPr/>
        </p:nvSpPr>
        <p:spPr>
          <a:xfrm>
            <a:off x="812800" y="3647380"/>
            <a:ext cx="10566400" cy="586730"/>
          </a:xfrm>
          <a:prstGeom prst="roundRect">
            <a:avLst>
              <a:gd name="adj" fmla="val 21645"/>
            </a:avLst>
          </a:prstGeom>
          <a:solidFill>
            <a:srgbClr val="EEF0F8"/>
          </a:solidFill>
          <a:ln/>
        </p:spPr>
      </p:sp>
      <p:sp>
        <p:nvSpPr>
          <p:cNvPr id="17" name="Text 15"/>
          <p:cNvSpPr/>
          <p:nvPr/>
        </p:nvSpPr>
        <p:spPr>
          <a:xfrm>
            <a:off x="1041400" y="3825180"/>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95959"/>
                </a:solidFill>
                <a:latin typeface="Be Vietnam Pro" pitchFamily="34" charset="0"/>
                <a:ea typeface="Be Vietnam Pro" pitchFamily="34" charset="-122"/>
                <a:cs typeface="Be Vietnam Pro" pitchFamily="34" charset="-120"/>
              </a:rPr>
              <a:t>Đừng ngại hỏi:</a:t>
            </a:r>
            <a:r>
              <a:rPr lang="en-US" sz="1300" dirty="0">
                <a:solidFill>
                  <a:srgbClr val="595959"/>
                </a:solidFill>
                <a:latin typeface="Be Vietnam Pro" pitchFamily="34" charset="0"/>
                <a:ea typeface="Be Vietnam Pro" pitchFamily="34" charset="-122"/>
                <a:cs typeface="Be Vietnam Pro" pitchFamily="34" charset="-120"/>
              </a:rPr>
              <a:t> câu hỏi đặt trên kênh nhóm giúp cả nhóm cùng học. Hãy hỏi sớm, hỏi rõ, kèm bối cảnh.</a:t>
            </a:r>
            <a:endParaRPr lang="en-US" sz="13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19" name="Text 1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Ngày không có lịch với Mentor thì làm gì?</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Nhịp làm việc không phụ thuộc vào lịch gặp Mentor</a:t>
            </a:r>
            <a:endParaRPr lang="en-US" sz="1300" dirty="0"/>
          </a:p>
        </p:txBody>
      </p:sp>
      <p:sp>
        <p:nvSpPr>
          <p:cNvPr id="4" name="Shape 2"/>
          <p:cNvSpPr/>
          <p:nvPr/>
        </p:nvSpPr>
        <p:spPr>
          <a:xfrm>
            <a:off x="812800" y="1643360"/>
            <a:ext cx="3386634" cy="2199580"/>
          </a:xfrm>
          <a:prstGeom prst="roundRect">
            <a:avLst>
              <a:gd name="adj" fmla="val 6929"/>
            </a:avLst>
          </a:prstGeom>
          <a:solidFill>
            <a:srgbClr val="EEF0F8"/>
          </a:solidFill>
          <a:ln/>
        </p:spPr>
      </p:sp>
      <p:sp>
        <p:nvSpPr>
          <p:cNvPr id="5" name="Shape 3"/>
          <p:cNvSpPr/>
          <p:nvPr/>
        </p:nvSpPr>
        <p:spPr>
          <a:xfrm>
            <a:off x="2201317" y="1922760"/>
            <a:ext cx="609600" cy="609600"/>
          </a:xfrm>
          <a:prstGeom prst="roundRect">
            <a:avLst>
              <a:gd name="adj" fmla="val 50000"/>
            </a:avLst>
          </a:prstGeom>
          <a:solidFill>
            <a:srgbClr val="282882"/>
          </a:solidFill>
          <a:ln/>
        </p:spPr>
      </p:sp>
      <p:sp>
        <p:nvSpPr>
          <p:cNvPr id="6" name="Text 4"/>
          <p:cNvSpPr/>
          <p:nvPr/>
        </p:nvSpPr>
        <p:spPr>
          <a:xfrm>
            <a:off x="2445891" y="2032000"/>
            <a:ext cx="1712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FFFF"/>
                </a:solidFill>
                <a:latin typeface="Be Vietnam Pro" pitchFamily="34" charset="0"/>
                <a:ea typeface="Be Vietnam Pro" pitchFamily="34" charset="-122"/>
                <a:cs typeface="Be Vietnam Pro" pitchFamily="34" charset="-120"/>
              </a:rPr>
              <a:t>1</a:t>
            </a:r>
            <a:endParaRPr lang="en-US" sz="2200" dirty="0"/>
          </a:p>
        </p:txBody>
      </p:sp>
      <p:sp>
        <p:nvSpPr>
          <p:cNvPr id="7" name="Text 5"/>
          <p:cNvSpPr/>
          <p:nvPr/>
        </p:nvSpPr>
        <p:spPr>
          <a:xfrm>
            <a:off x="1917254" y="2672060"/>
            <a:ext cx="1177677" cy="314920"/>
          </a:xfrm>
          <a:prstGeom prst="rect">
            <a:avLst/>
          </a:prstGeom>
          <a:noFill/>
          <a:ln/>
        </p:spPr>
        <p:txBody>
          <a:bodyPr wrap="square" lIns="0" tIns="0" rIns="0" bIns="0" rtlCol="0" anchor="t">
            <a:normAutofit/>
          </a:bodyPr>
          <a:lstStyle/>
          <a:p>
            <a:pPr algn="ctr" indent="0" marL="0">
              <a:lnSpc>
                <a:spcPts val="2280"/>
              </a:lnSpc>
              <a:buNone/>
            </a:pPr>
            <a:r>
              <a:rPr lang="en-US" sz="1900" b="1" dirty="0">
                <a:solidFill>
                  <a:srgbClr val="282882"/>
                </a:solidFill>
                <a:latin typeface="Be Vietnam Pro" pitchFamily="34" charset="0"/>
                <a:ea typeface="Be Vietnam Pro" pitchFamily="34" charset="-122"/>
                <a:cs typeface="Be Vietnam Pro" pitchFamily="34" charset="-120"/>
              </a:rPr>
              <a:t>Check-in</a:t>
            </a:r>
            <a:endParaRPr lang="en-US" sz="1900" dirty="0"/>
          </a:p>
        </p:txBody>
      </p:sp>
      <p:sp>
        <p:nvSpPr>
          <p:cNvPr id="8" name="Text 6"/>
          <p:cNvSpPr/>
          <p:nvPr/>
        </p:nvSpPr>
        <p:spPr>
          <a:xfrm>
            <a:off x="997458" y="3101280"/>
            <a:ext cx="3017317" cy="48766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Vẫn daily và check-in lên Zalo hoặc Slack, Mentor theo dõi hàng ngày</a:t>
            </a:r>
            <a:endParaRPr lang="en-US" sz="1300" dirty="0"/>
          </a:p>
        </p:txBody>
      </p:sp>
      <p:sp>
        <p:nvSpPr>
          <p:cNvPr id="9" name="Shape 7"/>
          <p:cNvSpPr/>
          <p:nvPr/>
        </p:nvSpPr>
        <p:spPr>
          <a:xfrm>
            <a:off x="4402634" y="1643360"/>
            <a:ext cx="3386683" cy="2199580"/>
          </a:xfrm>
          <a:prstGeom prst="roundRect">
            <a:avLst>
              <a:gd name="adj" fmla="val 6929"/>
            </a:avLst>
          </a:prstGeom>
          <a:solidFill>
            <a:srgbClr val="EEF0F8"/>
          </a:solidFill>
          <a:ln/>
        </p:spPr>
      </p:sp>
      <p:sp>
        <p:nvSpPr>
          <p:cNvPr id="10" name="Shape 8"/>
          <p:cNvSpPr/>
          <p:nvPr/>
        </p:nvSpPr>
        <p:spPr>
          <a:xfrm>
            <a:off x="5791150" y="1922760"/>
            <a:ext cx="609600" cy="609600"/>
          </a:xfrm>
          <a:prstGeom prst="roundRect">
            <a:avLst>
              <a:gd name="adj" fmla="val 50000"/>
            </a:avLst>
          </a:prstGeom>
          <a:solidFill>
            <a:srgbClr val="282882"/>
          </a:solidFill>
          <a:ln/>
        </p:spPr>
      </p:sp>
      <p:sp>
        <p:nvSpPr>
          <p:cNvPr id="11" name="Text 9"/>
          <p:cNvSpPr/>
          <p:nvPr/>
        </p:nvSpPr>
        <p:spPr>
          <a:xfrm>
            <a:off x="6003181" y="2032000"/>
            <a:ext cx="23633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FFFF"/>
                </a:solidFill>
                <a:latin typeface="Be Vietnam Pro" pitchFamily="34" charset="0"/>
                <a:ea typeface="Be Vietnam Pro" pitchFamily="34" charset="-122"/>
                <a:cs typeface="Be Vietnam Pro" pitchFamily="34" charset="-120"/>
              </a:rPr>
              <a:t>2</a:t>
            </a:r>
            <a:endParaRPr lang="en-US" sz="2200" dirty="0"/>
          </a:p>
        </p:txBody>
      </p:sp>
      <p:sp>
        <p:nvSpPr>
          <p:cNvPr id="12" name="Text 10"/>
          <p:cNvSpPr/>
          <p:nvPr/>
        </p:nvSpPr>
        <p:spPr>
          <a:xfrm>
            <a:off x="5379690" y="2672060"/>
            <a:ext cx="1432520" cy="314920"/>
          </a:xfrm>
          <a:prstGeom prst="rect">
            <a:avLst/>
          </a:prstGeom>
          <a:noFill/>
          <a:ln/>
        </p:spPr>
        <p:txBody>
          <a:bodyPr wrap="square" lIns="0" tIns="0" rIns="0" bIns="0" rtlCol="0" anchor="t">
            <a:normAutofit/>
          </a:bodyPr>
          <a:lstStyle/>
          <a:p>
            <a:pPr algn="ctr" indent="0" marL="0">
              <a:lnSpc>
                <a:spcPts val="2280"/>
              </a:lnSpc>
              <a:buNone/>
            </a:pPr>
            <a:r>
              <a:rPr lang="en-US" sz="1900" b="1" dirty="0">
                <a:solidFill>
                  <a:srgbClr val="282882"/>
                </a:solidFill>
                <a:latin typeface="Be Vietnam Pro" pitchFamily="34" charset="0"/>
                <a:ea typeface="Be Vietnam Pro" pitchFamily="34" charset="-122"/>
                <a:cs typeface="Be Vietnam Pro" pitchFamily="34" charset="-120"/>
              </a:rPr>
              <a:t>Làm và học</a:t>
            </a:r>
            <a:endParaRPr lang="en-US" sz="1900" dirty="0"/>
          </a:p>
        </p:txBody>
      </p:sp>
      <p:sp>
        <p:nvSpPr>
          <p:cNvPr id="13" name="Text 11"/>
          <p:cNvSpPr/>
          <p:nvPr/>
        </p:nvSpPr>
        <p:spPr>
          <a:xfrm>
            <a:off x="4587291" y="3101280"/>
            <a:ext cx="3017368" cy="48766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Làm phần việc sprint của mình, học khóa học LMS, ghi nhật ký</a:t>
            </a:r>
            <a:endParaRPr lang="en-US" sz="1300" dirty="0"/>
          </a:p>
        </p:txBody>
      </p:sp>
      <p:sp>
        <p:nvSpPr>
          <p:cNvPr id="14" name="Shape 12"/>
          <p:cNvSpPr/>
          <p:nvPr/>
        </p:nvSpPr>
        <p:spPr>
          <a:xfrm>
            <a:off x="7992517" y="1643360"/>
            <a:ext cx="3386683" cy="2199580"/>
          </a:xfrm>
          <a:prstGeom prst="roundRect">
            <a:avLst>
              <a:gd name="adj" fmla="val 6929"/>
            </a:avLst>
          </a:prstGeom>
          <a:solidFill>
            <a:srgbClr val="EEF0F8"/>
          </a:solidFill>
          <a:ln/>
        </p:spPr>
      </p:sp>
      <p:sp>
        <p:nvSpPr>
          <p:cNvPr id="15" name="Shape 13"/>
          <p:cNvSpPr/>
          <p:nvPr/>
        </p:nvSpPr>
        <p:spPr>
          <a:xfrm>
            <a:off x="9381034" y="1922760"/>
            <a:ext cx="609600" cy="609600"/>
          </a:xfrm>
          <a:prstGeom prst="roundRect">
            <a:avLst>
              <a:gd name="adj" fmla="val 50000"/>
            </a:avLst>
          </a:prstGeom>
          <a:solidFill>
            <a:srgbClr val="F04E23"/>
          </a:solidFill>
          <a:ln/>
        </p:spPr>
      </p:sp>
      <p:sp>
        <p:nvSpPr>
          <p:cNvPr id="16" name="Text 14"/>
          <p:cNvSpPr/>
          <p:nvPr/>
        </p:nvSpPr>
        <p:spPr>
          <a:xfrm>
            <a:off x="9590832" y="2032000"/>
            <a:ext cx="24080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FFFF"/>
                </a:solidFill>
                <a:latin typeface="Be Vietnam Pro" pitchFamily="34" charset="0"/>
                <a:ea typeface="Be Vietnam Pro" pitchFamily="34" charset="-122"/>
                <a:cs typeface="Be Vietnam Pro" pitchFamily="34" charset="-120"/>
              </a:rPr>
              <a:t>3</a:t>
            </a:r>
            <a:endParaRPr lang="en-US" sz="2200" dirty="0"/>
          </a:p>
        </p:txBody>
      </p:sp>
      <p:sp>
        <p:nvSpPr>
          <p:cNvPr id="17" name="Text 15"/>
          <p:cNvSpPr/>
          <p:nvPr/>
        </p:nvSpPr>
        <p:spPr>
          <a:xfrm>
            <a:off x="8870156" y="2672060"/>
            <a:ext cx="1631355" cy="314920"/>
          </a:xfrm>
          <a:prstGeom prst="rect">
            <a:avLst/>
          </a:prstGeom>
          <a:noFill/>
          <a:ln/>
        </p:spPr>
        <p:txBody>
          <a:bodyPr wrap="square" lIns="0" tIns="0" rIns="0" bIns="0" rtlCol="0" anchor="t">
            <a:normAutofit/>
          </a:bodyPr>
          <a:lstStyle/>
          <a:p>
            <a:pPr algn="ctr" indent="0" marL="0">
              <a:lnSpc>
                <a:spcPts val="2280"/>
              </a:lnSpc>
              <a:buNone/>
            </a:pPr>
            <a:r>
              <a:rPr lang="en-US" sz="1900" b="1" dirty="0">
                <a:solidFill>
                  <a:srgbClr val="282882"/>
                </a:solidFill>
                <a:latin typeface="Be Vietnam Pro" pitchFamily="34" charset="0"/>
                <a:ea typeface="Be Vietnam Pro" pitchFamily="34" charset="-122"/>
                <a:cs typeface="Be Vietnam Pro" pitchFamily="34" charset="-120"/>
              </a:rPr>
              <a:t>Chủ động hỏi</a:t>
            </a:r>
            <a:endParaRPr lang="en-US" sz="1900" dirty="0"/>
          </a:p>
        </p:txBody>
      </p:sp>
      <p:sp>
        <p:nvSpPr>
          <p:cNvPr id="18" name="Text 16"/>
          <p:cNvSpPr/>
          <p:nvPr/>
        </p:nvSpPr>
        <p:spPr>
          <a:xfrm>
            <a:off x="8177175" y="3101280"/>
            <a:ext cx="3017368" cy="48766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Vướng ở đâu, hỏi ngay trên kênh nhóm; đừng để việc đứng yên</a:t>
            </a:r>
            <a:endParaRPr lang="en-US" sz="1300" dirty="0"/>
          </a:p>
        </p:txBody>
      </p:sp>
      <p:sp>
        <p:nvSpPr>
          <p:cNvPr id="19" name="Text 17"/>
          <p:cNvSpPr/>
          <p:nvPr/>
        </p:nvSpPr>
        <p:spPr>
          <a:xfrm>
            <a:off x="812800" y="4122341"/>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4E23"/>
                </a:solidFill>
                <a:latin typeface="Be Vietnam Pro" pitchFamily="34" charset="0"/>
                <a:ea typeface="Be Vietnam Pro" pitchFamily="34" charset="-122"/>
                <a:cs typeface="Be Vietnam Pro" pitchFamily="34" charset="-120"/>
              </a:rPr>
              <a:t>Nhóm không chủ động triển khai công việc sẽ được Mentor nhắc nhở, và điều đó ảnh hưởng tới điểm đánh giá.</a:t>
            </a:r>
            <a:endParaRPr lang="en-US" sz="13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1" name="Text 19"/>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Bạn được đánh giá như thế nào?</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Cuối kỳ, Mentor đánh giá chi tiết từng TTS và cho điểm số</a:t>
            </a:r>
            <a:endParaRPr lang="en-US" sz="1300" dirty="0"/>
          </a:p>
        </p:txBody>
      </p:sp>
      <p:sp>
        <p:nvSpPr>
          <p:cNvPr id="4" name="Shape 2"/>
          <p:cNvSpPr/>
          <p:nvPr/>
        </p:nvSpPr>
        <p:spPr>
          <a:xfrm>
            <a:off x="812800" y="1643360"/>
            <a:ext cx="2508250" cy="1948160"/>
          </a:xfrm>
          <a:prstGeom prst="roundRect">
            <a:avLst>
              <a:gd name="adj" fmla="val 7823"/>
            </a:avLst>
          </a:prstGeom>
          <a:solidFill>
            <a:srgbClr val="EEF0F8"/>
          </a:solidFill>
          <a:ln/>
        </p:spPr>
      </p:sp>
      <p:sp>
        <p:nvSpPr>
          <p:cNvPr id="5" name="Shape 3"/>
          <p:cNvSpPr/>
          <p:nvPr/>
        </p:nvSpPr>
        <p:spPr>
          <a:xfrm>
            <a:off x="1812925" y="1897360"/>
            <a:ext cx="508000" cy="508000"/>
          </a:xfrm>
          <a:prstGeom prst="roundRect">
            <a:avLst>
              <a:gd name="adj" fmla="val 50000"/>
            </a:avLst>
          </a:prstGeom>
          <a:solidFill>
            <a:srgbClr val="282882"/>
          </a:solidFill>
          <a:ln/>
        </p:spPr>
      </p:sp>
      <p:sp>
        <p:nvSpPr>
          <p:cNvPr id="6" name="Text 4"/>
          <p:cNvSpPr/>
          <p:nvPr/>
        </p:nvSpPr>
        <p:spPr>
          <a:xfrm>
            <a:off x="2017613" y="1991320"/>
            <a:ext cx="14937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1</a:t>
            </a:r>
            <a:endParaRPr lang="en-US" sz="1800" dirty="0"/>
          </a:p>
        </p:txBody>
      </p:sp>
      <p:sp>
        <p:nvSpPr>
          <p:cNvPr id="7" name="Text 5"/>
          <p:cNvSpPr/>
          <p:nvPr/>
        </p:nvSpPr>
        <p:spPr>
          <a:xfrm>
            <a:off x="1639193" y="2519660"/>
            <a:ext cx="855464"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Tiến độ</a:t>
            </a:r>
            <a:endParaRPr lang="en-US" sz="1700" dirty="0"/>
          </a:p>
        </p:txBody>
      </p:sp>
      <p:sp>
        <p:nvSpPr>
          <p:cNvPr id="8" name="Text 6"/>
          <p:cNvSpPr/>
          <p:nvPr/>
        </p:nvSpPr>
        <p:spPr>
          <a:xfrm>
            <a:off x="984472" y="2893020"/>
            <a:ext cx="2164905" cy="469900"/>
          </a:xfrm>
          <a:prstGeom prst="rect">
            <a:avLst/>
          </a:prstGeom>
          <a:noFill/>
          <a:ln/>
        </p:spPr>
        <p:txBody>
          <a:bodyPr wrap="square" lIns="0" tIns="0" rIns="0" bIns="0" rtlCol="0" anchor="t">
            <a:normAutofit/>
          </a:bodyPr>
          <a:lstStyle/>
          <a:p>
            <a:pPr algn="ctr"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Bám sát kế hoạch sprint và tiến độ công việc</a:t>
            </a:r>
            <a:endParaRPr lang="en-US" sz="1250" dirty="0"/>
          </a:p>
        </p:txBody>
      </p:sp>
      <p:sp>
        <p:nvSpPr>
          <p:cNvPr id="9" name="Shape 7"/>
          <p:cNvSpPr/>
          <p:nvPr/>
        </p:nvSpPr>
        <p:spPr>
          <a:xfrm>
            <a:off x="3498850" y="1643360"/>
            <a:ext cx="2508250" cy="1948160"/>
          </a:xfrm>
          <a:prstGeom prst="roundRect">
            <a:avLst>
              <a:gd name="adj" fmla="val 7823"/>
            </a:avLst>
          </a:prstGeom>
          <a:solidFill>
            <a:srgbClr val="EEF0F8"/>
          </a:solidFill>
          <a:ln/>
        </p:spPr>
      </p:sp>
      <p:sp>
        <p:nvSpPr>
          <p:cNvPr id="10" name="Shape 8"/>
          <p:cNvSpPr/>
          <p:nvPr/>
        </p:nvSpPr>
        <p:spPr>
          <a:xfrm>
            <a:off x="4498975" y="1897360"/>
            <a:ext cx="508000" cy="508000"/>
          </a:xfrm>
          <a:prstGeom prst="roundRect">
            <a:avLst>
              <a:gd name="adj" fmla="val 50000"/>
            </a:avLst>
          </a:prstGeom>
          <a:solidFill>
            <a:srgbClr val="282882"/>
          </a:solidFill>
          <a:ln/>
        </p:spPr>
      </p:sp>
      <p:sp>
        <p:nvSpPr>
          <p:cNvPr id="11" name="Text 9"/>
          <p:cNvSpPr/>
          <p:nvPr/>
        </p:nvSpPr>
        <p:spPr>
          <a:xfrm>
            <a:off x="4677073" y="1991320"/>
            <a:ext cx="20260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2</a:t>
            </a:r>
            <a:endParaRPr lang="en-US" sz="1800" dirty="0"/>
          </a:p>
        </p:txBody>
      </p:sp>
      <p:sp>
        <p:nvSpPr>
          <p:cNvPr id="12" name="Text 10"/>
          <p:cNvSpPr/>
          <p:nvPr/>
        </p:nvSpPr>
        <p:spPr>
          <a:xfrm>
            <a:off x="4296420" y="2519660"/>
            <a:ext cx="913110"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Điểm số</a:t>
            </a:r>
            <a:endParaRPr lang="en-US" sz="1700" dirty="0"/>
          </a:p>
        </p:txBody>
      </p:sp>
      <p:sp>
        <p:nvSpPr>
          <p:cNvPr id="13" name="Text 11"/>
          <p:cNvSpPr/>
          <p:nvPr/>
        </p:nvSpPr>
        <p:spPr>
          <a:xfrm>
            <a:off x="3670522" y="2893020"/>
            <a:ext cx="2164905" cy="469900"/>
          </a:xfrm>
          <a:prstGeom prst="rect">
            <a:avLst/>
          </a:prstGeom>
          <a:noFill/>
          <a:ln/>
        </p:spPr>
        <p:txBody>
          <a:bodyPr wrap="square" lIns="0" tIns="0" rIns="0" bIns="0" rtlCol="0" anchor="t">
            <a:normAutofit/>
          </a:bodyPr>
          <a:lstStyle/>
          <a:p>
            <a:pPr algn="ctr"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Kết quả các khóa học trên LMS</a:t>
            </a:r>
            <a:endParaRPr lang="en-US" sz="1250" dirty="0"/>
          </a:p>
        </p:txBody>
      </p:sp>
      <p:sp>
        <p:nvSpPr>
          <p:cNvPr id="14" name="Shape 12"/>
          <p:cNvSpPr/>
          <p:nvPr/>
        </p:nvSpPr>
        <p:spPr>
          <a:xfrm>
            <a:off x="6184900" y="1643360"/>
            <a:ext cx="2508250" cy="1948160"/>
          </a:xfrm>
          <a:prstGeom prst="roundRect">
            <a:avLst>
              <a:gd name="adj" fmla="val 7823"/>
            </a:avLst>
          </a:prstGeom>
          <a:solidFill>
            <a:srgbClr val="EEF0F8"/>
          </a:solidFill>
          <a:ln/>
        </p:spPr>
      </p:sp>
      <p:sp>
        <p:nvSpPr>
          <p:cNvPr id="15" name="Shape 13"/>
          <p:cNvSpPr/>
          <p:nvPr/>
        </p:nvSpPr>
        <p:spPr>
          <a:xfrm>
            <a:off x="7185025" y="1897360"/>
            <a:ext cx="508000" cy="508000"/>
          </a:xfrm>
          <a:prstGeom prst="roundRect">
            <a:avLst>
              <a:gd name="adj" fmla="val 50000"/>
            </a:avLst>
          </a:prstGeom>
          <a:solidFill>
            <a:srgbClr val="282882"/>
          </a:solidFill>
          <a:ln/>
        </p:spPr>
      </p:sp>
      <p:sp>
        <p:nvSpPr>
          <p:cNvPr id="16" name="Text 14"/>
          <p:cNvSpPr/>
          <p:nvPr/>
        </p:nvSpPr>
        <p:spPr>
          <a:xfrm>
            <a:off x="7361287" y="1991320"/>
            <a:ext cx="20627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3</a:t>
            </a:r>
            <a:endParaRPr lang="en-US" sz="1800" dirty="0"/>
          </a:p>
        </p:txBody>
      </p:sp>
      <p:sp>
        <p:nvSpPr>
          <p:cNvPr id="17" name="Text 15"/>
          <p:cNvSpPr/>
          <p:nvPr/>
        </p:nvSpPr>
        <p:spPr>
          <a:xfrm>
            <a:off x="6794847" y="2519660"/>
            <a:ext cx="1288355"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Hoàn thành</a:t>
            </a:r>
            <a:endParaRPr lang="en-US" sz="1700" dirty="0"/>
          </a:p>
        </p:txBody>
      </p:sp>
      <p:sp>
        <p:nvSpPr>
          <p:cNvPr id="18" name="Text 16"/>
          <p:cNvSpPr/>
          <p:nvPr/>
        </p:nvSpPr>
        <p:spPr>
          <a:xfrm>
            <a:off x="6356572" y="2893020"/>
            <a:ext cx="2164905" cy="469900"/>
          </a:xfrm>
          <a:prstGeom prst="rect">
            <a:avLst/>
          </a:prstGeom>
          <a:noFill/>
          <a:ln/>
        </p:spPr>
        <p:txBody>
          <a:bodyPr wrap="square" lIns="0" tIns="0" rIns="0" bIns="0" rtlCol="0" anchor="t">
            <a:normAutofit/>
          </a:bodyPr>
          <a:lstStyle/>
          <a:p>
            <a:pPr algn="ctr"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Tỉ lệ hoàn thành nhiệm vụ được giao</a:t>
            </a:r>
            <a:endParaRPr lang="en-US" sz="1250" dirty="0"/>
          </a:p>
        </p:txBody>
      </p:sp>
      <p:sp>
        <p:nvSpPr>
          <p:cNvPr id="19" name="Shape 17"/>
          <p:cNvSpPr/>
          <p:nvPr/>
        </p:nvSpPr>
        <p:spPr>
          <a:xfrm>
            <a:off x="8870950" y="1643360"/>
            <a:ext cx="2508250" cy="1948160"/>
          </a:xfrm>
          <a:prstGeom prst="roundRect">
            <a:avLst>
              <a:gd name="adj" fmla="val 7823"/>
            </a:avLst>
          </a:prstGeom>
          <a:solidFill>
            <a:srgbClr val="EEF0F8"/>
          </a:solidFill>
          <a:ln/>
        </p:spPr>
      </p:sp>
      <p:sp>
        <p:nvSpPr>
          <p:cNvPr id="20" name="Shape 18"/>
          <p:cNvSpPr/>
          <p:nvPr/>
        </p:nvSpPr>
        <p:spPr>
          <a:xfrm>
            <a:off x="9871075" y="1897360"/>
            <a:ext cx="508000" cy="508000"/>
          </a:xfrm>
          <a:prstGeom prst="roundRect">
            <a:avLst>
              <a:gd name="adj" fmla="val 50000"/>
            </a:avLst>
          </a:prstGeom>
          <a:solidFill>
            <a:srgbClr val="F04E23"/>
          </a:solidFill>
          <a:ln/>
        </p:spPr>
      </p:sp>
      <p:sp>
        <p:nvSpPr>
          <p:cNvPr id="21" name="Text 19"/>
          <p:cNvSpPr/>
          <p:nvPr/>
        </p:nvSpPr>
        <p:spPr>
          <a:xfrm>
            <a:off x="10042773" y="1991320"/>
            <a:ext cx="21540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Be Vietnam Pro" pitchFamily="34" charset="0"/>
                <a:ea typeface="Be Vietnam Pro" pitchFamily="34" charset="-122"/>
                <a:cs typeface="Be Vietnam Pro" pitchFamily="34" charset="-120"/>
              </a:rPr>
              <a:t>4</a:t>
            </a:r>
            <a:endParaRPr lang="en-US" sz="1800" dirty="0"/>
          </a:p>
        </p:txBody>
      </p:sp>
      <p:sp>
        <p:nvSpPr>
          <p:cNvPr id="22" name="Text 20"/>
          <p:cNvSpPr/>
          <p:nvPr/>
        </p:nvSpPr>
        <p:spPr>
          <a:xfrm>
            <a:off x="9691588" y="2519660"/>
            <a:ext cx="866924"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282882"/>
                </a:solidFill>
                <a:latin typeface="Be Vietnam Pro" pitchFamily="34" charset="0"/>
                <a:ea typeface="Be Vietnam Pro" pitchFamily="34" charset="-122"/>
                <a:cs typeface="Be Vietnam Pro" pitchFamily="34" charset="-120"/>
              </a:rPr>
              <a:t>Thái độ</a:t>
            </a:r>
            <a:endParaRPr lang="en-US" sz="1700" dirty="0"/>
          </a:p>
        </p:txBody>
      </p:sp>
      <p:sp>
        <p:nvSpPr>
          <p:cNvPr id="23" name="Text 21"/>
          <p:cNvSpPr/>
          <p:nvPr/>
        </p:nvSpPr>
        <p:spPr>
          <a:xfrm>
            <a:off x="9042622" y="2893020"/>
            <a:ext cx="2164905" cy="469900"/>
          </a:xfrm>
          <a:prstGeom prst="rect">
            <a:avLst/>
          </a:prstGeom>
          <a:noFill/>
          <a:ln/>
        </p:spPr>
        <p:txBody>
          <a:bodyPr wrap="square" lIns="0" tIns="0" rIns="0" bIns="0" rtlCol="0" anchor="t">
            <a:normAutofit/>
          </a:bodyPr>
          <a:lstStyle/>
          <a:p>
            <a:pPr algn="ctr"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Tinh thần trong làm việc nhóm</a:t>
            </a:r>
            <a:endParaRPr lang="en-US" sz="1250" dirty="0"/>
          </a:p>
        </p:txBody>
      </p:sp>
      <p:sp>
        <p:nvSpPr>
          <p:cNvPr id="24" name="Shape 22"/>
          <p:cNvSpPr/>
          <p:nvPr/>
        </p:nvSpPr>
        <p:spPr>
          <a:xfrm>
            <a:off x="812800" y="3870920"/>
            <a:ext cx="10566400" cy="843260"/>
          </a:xfrm>
          <a:prstGeom prst="roundRect">
            <a:avLst>
              <a:gd name="adj" fmla="val 15061"/>
            </a:avLst>
          </a:prstGeom>
          <a:solidFill>
            <a:srgbClr val="282882"/>
          </a:solidFill>
          <a:ln/>
        </p:spPr>
      </p:sp>
      <p:sp>
        <p:nvSpPr>
          <p:cNvPr id="25" name="Text 23"/>
          <p:cNvSpPr/>
          <p:nvPr/>
        </p:nvSpPr>
        <p:spPr>
          <a:xfrm>
            <a:off x="1041400" y="4061420"/>
            <a:ext cx="1041247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Đánh giá diễn ra suốt 4 tuần:</a:t>
            </a:r>
            <a:r>
              <a:rPr lang="en-US" sz="1300" dirty="0">
                <a:solidFill>
                  <a:srgbClr val="FFFFFF"/>
                </a:solidFill>
                <a:latin typeface="Be Vietnam Pro" pitchFamily="34" charset="0"/>
                <a:ea typeface="Be Vietnam Pro" pitchFamily="34" charset="-122"/>
                <a:cs typeface="Be Vietnam Pro" pitchFamily="34" charset="-120"/>
              </a:rPr>
              <a:t> Mentor theo dõi liên tục qua nhật ký, check-in, tiến độ sprint và kết quả học. Làm đều mỗi ngày quan trọng hơn nước rút cuối kỳ.</a:t>
            </a:r>
            <a:endParaRPr lang="en-US" sz="1300" dirty="0"/>
          </a:p>
        </p:txBody>
      </p:sp>
      <p:sp>
        <p:nvSpPr>
          <p:cNvPr id="26" name="Text 2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7" name="Text 25"/>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Tác phong khi thực tập</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Ba điều được kỳ vọng ở mỗi Thực tập sinh</a:t>
            </a:r>
            <a:endParaRPr lang="en-US" sz="1300" dirty="0"/>
          </a:p>
        </p:txBody>
      </p:sp>
      <p:sp>
        <p:nvSpPr>
          <p:cNvPr id="4" name="Shape 2"/>
          <p:cNvSpPr/>
          <p:nvPr/>
        </p:nvSpPr>
        <p:spPr>
          <a:xfrm>
            <a:off x="812800" y="1617960"/>
            <a:ext cx="10566400" cy="939800"/>
          </a:xfrm>
          <a:prstGeom prst="roundRect">
            <a:avLst>
              <a:gd name="adj" fmla="val 16216"/>
            </a:avLst>
          </a:prstGeom>
          <a:solidFill>
            <a:srgbClr val="EEF0F8"/>
          </a:solidFill>
          <a:ln/>
        </p:spPr>
      </p:sp>
      <p:sp>
        <p:nvSpPr>
          <p:cNvPr id="5" name="Shape 3"/>
          <p:cNvSpPr/>
          <p:nvPr/>
        </p:nvSpPr>
        <p:spPr>
          <a:xfrm>
            <a:off x="1066800" y="1846560"/>
            <a:ext cx="482600" cy="482600"/>
          </a:xfrm>
          <a:prstGeom prst="roundRect">
            <a:avLst>
              <a:gd name="adj" fmla="val 50000"/>
            </a:avLst>
          </a:prstGeom>
          <a:solidFill>
            <a:srgbClr val="282882"/>
          </a:solidFill>
          <a:ln/>
        </p:spPr>
      </p:sp>
      <p:sp>
        <p:nvSpPr>
          <p:cNvPr id="6" name="Text 4"/>
          <p:cNvSpPr/>
          <p:nvPr/>
        </p:nvSpPr>
        <p:spPr>
          <a:xfrm>
            <a:off x="1261566" y="1936750"/>
            <a:ext cx="143867"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Be Vietnam Pro" pitchFamily="34" charset="0"/>
                <a:ea typeface="Be Vietnam Pro" pitchFamily="34" charset="-122"/>
                <a:cs typeface="Be Vietnam Pro" pitchFamily="34" charset="-120"/>
              </a:rPr>
              <a:t>1</a:t>
            </a:r>
            <a:endParaRPr lang="en-US" sz="1700" dirty="0"/>
          </a:p>
        </p:txBody>
      </p:sp>
      <p:sp>
        <p:nvSpPr>
          <p:cNvPr id="7" name="Text 5"/>
          <p:cNvSpPr/>
          <p:nvPr/>
        </p:nvSpPr>
        <p:spPr>
          <a:xfrm>
            <a:off x="1752600" y="1950690"/>
            <a:ext cx="27470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82882"/>
                </a:solidFill>
                <a:latin typeface="Be Vietnam Pro" pitchFamily="34" charset="0"/>
                <a:ea typeface="Be Vietnam Pro" pitchFamily="34" charset="-122"/>
                <a:cs typeface="Be Vietnam Pro" pitchFamily="34" charset="-120"/>
              </a:rPr>
              <a:t>Chuyên nghiệp</a:t>
            </a:r>
            <a:endParaRPr lang="en-US" sz="1800" dirty="0"/>
          </a:p>
        </p:txBody>
      </p:sp>
      <p:sp>
        <p:nvSpPr>
          <p:cNvPr id="8" name="Text 6"/>
          <p:cNvSpPr/>
          <p:nvPr/>
        </p:nvSpPr>
        <p:spPr>
          <a:xfrm>
            <a:off x="4622800" y="1972270"/>
            <a:ext cx="669747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Đúng giờ, đúng cam kết; hoàn thành việc được giao và báo sớm nếu không kịp</a:t>
            </a:r>
            <a:endParaRPr lang="en-US" sz="1300" dirty="0"/>
          </a:p>
        </p:txBody>
      </p:sp>
      <p:sp>
        <p:nvSpPr>
          <p:cNvPr id="9" name="Shape 7"/>
          <p:cNvSpPr/>
          <p:nvPr/>
        </p:nvSpPr>
        <p:spPr>
          <a:xfrm>
            <a:off x="812800" y="2811760"/>
            <a:ext cx="10566400" cy="939800"/>
          </a:xfrm>
          <a:prstGeom prst="roundRect">
            <a:avLst>
              <a:gd name="adj" fmla="val 16216"/>
            </a:avLst>
          </a:prstGeom>
          <a:solidFill>
            <a:srgbClr val="EEF0F8"/>
          </a:solidFill>
          <a:ln/>
        </p:spPr>
      </p:sp>
      <p:sp>
        <p:nvSpPr>
          <p:cNvPr id="10" name="Shape 8"/>
          <p:cNvSpPr/>
          <p:nvPr/>
        </p:nvSpPr>
        <p:spPr>
          <a:xfrm>
            <a:off x="1066800" y="3040360"/>
            <a:ext cx="482600" cy="482600"/>
          </a:xfrm>
          <a:prstGeom prst="roundRect">
            <a:avLst>
              <a:gd name="adj" fmla="val 50000"/>
            </a:avLst>
          </a:prstGeom>
          <a:solidFill>
            <a:srgbClr val="282882"/>
          </a:solidFill>
          <a:ln/>
        </p:spPr>
      </p:sp>
      <p:sp>
        <p:nvSpPr>
          <p:cNvPr id="11" name="Text 9"/>
          <p:cNvSpPr/>
          <p:nvPr/>
        </p:nvSpPr>
        <p:spPr>
          <a:xfrm>
            <a:off x="1236414" y="3130550"/>
            <a:ext cx="194171"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Be Vietnam Pro" pitchFamily="34" charset="0"/>
                <a:ea typeface="Be Vietnam Pro" pitchFamily="34" charset="-122"/>
                <a:cs typeface="Be Vietnam Pro" pitchFamily="34" charset="-120"/>
              </a:rPr>
              <a:t>2</a:t>
            </a:r>
            <a:endParaRPr lang="en-US" sz="1700" dirty="0"/>
          </a:p>
        </p:txBody>
      </p:sp>
      <p:sp>
        <p:nvSpPr>
          <p:cNvPr id="12" name="Text 10"/>
          <p:cNvSpPr/>
          <p:nvPr/>
        </p:nvSpPr>
        <p:spPr>
          <a:xfrm>
            <a:off x="1752600" y="3144490"/>
            <a:ext cx="27470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82882"/>
                </a:solidFill>
                <a:latin typeface="Be Vietnam Pro" pitchFamily="34" charset="0"/>
                <a:ea typeface="Be Vietnam Pro" pitchFamily="34" charset="-122"/>
                <a:cs typeface="Be Vietnam Pro" pitchFamily="34" charset="-120"/>
              </a:rPr>
              <a:t>Giao tiếp chuẩn mực</a:t>
            </a:r>
            <a:endParaRPr lang="en-US" sz="1800" dirty="0"/>
          </a:p>
        </p:txBody>
      </p:sp>
      <p:sp>
        <p:nvSpPr>
          <p:cNvPr id="13" name="Text 11"/>
          <p:cNvSpPr/>
          <p:nvPr/>
        </p:nvSpPr>
        <p:spPr>
          <a:xfrm>
            <a:off x="4622800" y="3166070"/>
            <a:ext cx="669747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Cả nói và viết: lịch sự, rõ ràng, nhẹ nhàng với Mentor, Thầy Cô và bạn cùng nhóm</a:t>
            </a:r>
            <a:endParaRPr lang="en-US" sz="1300" dirty="0"/>
          </a:p>
        </p:txBody>
      </p:sp>
      <p:sp>
        <p:nvSpPr>
          <p:cNvPr id="14" name="Shape 12"/>
          <p:cNvSpPr/>
          <p:nvPr/>
        </p:nvSpPr>
        <p:spPr>
          <a:xfrm>
            <a:off x="812800" y="4005560"/>
            <a:ext cx="10566400" cy="939800"/>
          </a:xfrm>
          <a:prstGeom prst="roundRect">
            <a:avLst>
              <a:gd name="adj" fmla="val 16216"/>
            </a:avLst>
          </a:prstGeom>
          <a:solidFill>
            <a:srgbClr val="EEF0F8"/>
          </a:solidFill>
          <a:ln/>
        </p:spPr>
      </p:sp>
      <p:sp>
        <p:nvSpPr>
          <p:cNvPr id="15" name="Shape 13"/>
          <p:cNvSpPr/>
          <p:nvPr/>
        </p:nvSpPr>
        <p:spPr>
          <a:xfrm>
            <a:off x="1066800" y="4234160"/>
            <a:ext cx="482600" cy="482600"/>
          </a:xfrm>
          <a:prstGeom prst="roundRect">
            <a:avLst>
              <a:gd name="adj" fmla="val 50000"/>
            </a:avLst>
          </a:prstGeom>
          <a:solidFill>
            <a:srgbClr val="F04E23"/>
          </a:solidFill>
          <a:ln/>
        </p:spPr>
      </p:sp>
      <p:sp>
        <p:nvSpPr>
          <p:cNvPr id="16" name="Text 14"/>
          <p:cNvSpPr/>
          <p:nvPr/>
        </p:nvSpPr>
        <p:spPr>
          <a:xfrm>
            <a:off x="1234678" y="4324350"/>
            <a:ext cx="19764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Be Vietnam Pro" pitchFamily="34" charset="0"/>
                <a:ea typeface="Be Vietnam Pro" pitchFamily="34" charset="-122"/>
                <a:cs typeface="Be Vietnam Pro" pitchFamily="34" charset="-120"/>
              </a:rPr>
              <a:t>3</a:t>
            </a:r>
            <a:endParaRPr lang="en-US" sz="1700" dirty="0"/>
          </a:p>
        </p:txBody>
      </p:sp>
      <p:sp>
        <p:nvSpPr>
          <p:cNvPr id="17" name="Text 15"/>
          <p:cNvSpPr/>
          <p:nvPr/>
        </p:nvSpPr>
        <p:spPr>
          <a:xfrm>
            <a:off x="1752600" y="4338290"/>
            <a:ext cx="27470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82882"/>
                </a:solidFill>
                <a:latin typeface="Be Vietnam Pro" pitchFamily="34" charset="0"/>
                <a:ea typeface="Be Vietnam Pro" pitchFamily="34" charset="-122"/>
                <a:cs typeface="Be Vietnam Pro" pitchFamily="34" charset="-120"/>
              </a:rPr>
              <a:t>Hợp tác</a:t>
            </a:r>
            <a:endParaRPr lang="en-US" sz="1800" dirty="0"/>
          </a:p>
        </p:txBody>
      </p:sp>
      <p:sp>
        <p:nvSpPr>
          <p:cNvPr id="18" name="Text 16"/>
          <p:cNvSpPr/>
          <p:nvPr/>
        </p:nvSpPr>
        <p:spPr>
          <a:xfrm>
            <a:off x="4622800" y="4359870"/>
            <a:ext cx="669747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5959"/>
                </a:solidFill>
                <a:latin typeface="Be Vietnam Pro" pitchFamily="34" charset="0"/>
                <a:ea typeface="Be Vietnam Pro" pitchFamily="34" charset="-122"/>
                <a:cs typeface="Be Vietnam Pro" pitchFamily="34" charset="-120"/>
              </a:rPr>
              <a:t>Chủ động hỗ trợ thành viên khác, chia sẻ kiến thức, cùng nhóm đạt mục tiêu</a:t>
            </a:r>
            <a:endParaRPr lang="en-US" sz="1300" dirty="0"/>
          </a:p>
        </p:txBody>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0" name="Text 1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Tài liệu dành cho bạn</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Lưu lại các liên kết này, bấm vào tên để mở</a:t>
            </a:r>
            <a:endParaRPr lang="en-US" sz="1300" dirty="0"/>
          </a:p>
        </p:txBody>
      </p:sp>
      <p:sp>
        <p:nvSpPr>
          <p:cNvPr id="4" name="Shape 2"/>
          <p:cNvSpPr/>
          <p:nvPr/>
        </p:nvSpPr>
        <p:spPr>
          <a:xfrm>
            <a:off x="812800" y="1643360"/>
            <a:ext cx="2508250" cy="2726680"/>
          </a:xfrm>
          <a:prstGeom prst="roundRect">
            <a:avLst>
              <a:gd name="adj" fmla="val 6076"/>
            </a:avLst>
          </a:prstGeom>
          <a:solidFill>
            <a:srgbClr val="EEF0F8"/>
          </a:solidFill>
          <a:ln/>
        </p:spPr>
      </p:sp>
      <p:sp>
        <p:nvSpPr>
          <p:cNvPr id="5" name="Shape 3"/>
          <p:cNvSpPr/>
          <p:nvPr/>
        </p:nvSpPr>
        <p:spPr>
          <a:xfrm>
            <a:off x="1016000" y="1871960"/>
            <a:ext cx="457200" cy="457200"/>
          </a:xfrm>
          <a:prstGeom prst="roundRect">
            <a:avLst>
              <a:gd name="adj" fmla="val 50000"/>
            </a:avLst>
          </a:prstGeom>
          <a:solidFill>
            <a:srgbClr val="282882"/>
          </a:solidFill>
          <a:ln/>
        </p:spPr>
      </p:sp>
      <p:sp>
        <p:nvSpPr>
          <p:cNvPr id="6" name="Text 4"/>
          <p:cNvSpPr/>
          <p:nvPr/>
        </p:nvSpPr>
        <p:spPr>
          <a:xfrm>
            <a:off x="1200795" y="1958330"/>
            <a:ext cx="13841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Be Vietnam Pro" pitchFamily="34" charset="0"/>
                <a:ea typeface="Be Vietnam Pro" pitchFamily="34" charset="-122"/>
                <a:cs typeface="Be Vietnam Pro" pitchFamily="34" charset="-120"/>
              </a:rPr>
              <a:t>1</a:t>
            </a:r>
            <a:endParaRPr lang="en-US" sz="1600" dirty="0"/>
          </a:p>
        </p:txBody>
      </p:sp>
      <p:sp>
        <p:nvSpPr>
          <p:cNvPr id="7" name="Text 5"/>
          <p:cNvSpPr/>
          <p:nvPr/>
        </p:nvSpPr>
        <p:spPr>
          <a:xfrm>
            <a:off x="1016000" y="2443460"/>
            <a:ext cx="21649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Tài liệu TTS</a:t>
            </a:r>
            <a:endParaRPr lang="en-US" sz="1600" dirty="0"/>
          </a:p>
        </p:txBody>
      </p:sp>
      <p:sp>
        <p:nvSpPr>
          <p:cNvPr id="8" name="Text 6"/>
          <p:cNvSpPr/>
          <p:nvPr/>
        </p:nvSpPr>
        <p:spPr>
          <a:xfrm>
            <a:off x="1016000" y="2801590"/>
            <a:ext cx="216490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Nội dung, hướng dẫn và tài liệu học tập dành cho TTS TTCS</a:t>
            </a:r>
            <a:endParaRPr lang="en-US" sz="1250" dirty="0"/>
          </a:p>
        </p:txBody>
      </p:sp>
      <p:sp>
        <p:nvSpPr>
          <p:cNvPr id="9" name="Text 7"/>
          <p:cNvSpPr/>
          <p:nvPr/>
        </p:nvSpPr>
        <p:spPr>
          <a:xfrm>
            <a:off x="1016000" y="3696940"/>
            <a:ext cx="2164906" cy="469900"/>
          </a:xfrm>
          <a:prstGeom prst="rect">
            <a:avLst/>
          </a:prstGeom>
          <a:noFill/>
          <a:ln/>
        </p:spPr>
        <p:txBody>
          <a:bodyPr wrap="square" lIns="0" tIns="0" rIns="0" bIns="0" rtlCol="0" anchor="t">
            <a:normAutofit/>
          </a:bodyPr>
          <a:lstStyle/>
          <a:p>
            <a:pPr algn="l" indent="0" marL="0">
              <a:lnSpc>
                <a:spcPts val="1750"/>
              </a:lnSpc>
              <a:buNone/>
            </a:pPr>
            <a:r>
              <a:rPr lang="en-US" sz="1250" b="1" u="sng" dirty="0">
                <a:solidFill>
                  <a:srgbClr val="F04E23"/>
                </a:solidFill>
                <a:latin typeface="Be Vietnam Pro" pitchFamily="34" charset="0"/>
                <a:ea typeface="Be Vietnam Pro" pitchFamily="34" charset="-122"/>
                <a:cs typeface="Be Vietnam Pro" pitchFamily="34" charset="-120"/>
                <a:hlinkClick r:id="rId1" invalidUrl="" action="" tgtFrame="" tooltip="" history="1" highlightClick="0" endSnd="0">
                  <a:extLst>
                    <a:ext uri="{A12FA001-AC4F-418D-AE19-62706E023703}">
                      <ahyp:hlinkClr xmlns:ahyp="http://schemas.microsoft.com/office/drawing/2018/hyperlinkcolor" val="tx"/>
                    </a:ext>
                  </a:extLst>
                </a:hlinkClick>
              </a:rPr>
              <a:t>4. Dành cho Thực tập sinh TTCS</a:t>
            </a:r>
            <a:endParaRPr lang="en-US" sz="1250" dirty="0"/>
          </a:p>
        </p:txBody>
      </p:sp>
      <p:sp>
        <p:nvSpPr>
          <p:cNvPr id="10" name="Shape 8"/>
          <p:cNvSpPr/>
          <p:nvPr/>
        </p:nvSpPr>
        <p:spPr>
          <a:xfrm>
            <a:off x="3498850" y="1643360"/>
            <a:ext cx="2508250" cy="2726680"/>
          </a:xfrm>
          <a:prstGeom prst="roundRect">
            <a:avLst>
              <a:gd name="adj" fmla="val 6076"/>
            </a:avLst>
          </a:prstGeom>
          <a:solidFill>
            <a:srgbClr val="EEF0F8"/>
          </a:solidFill>
          <a:ln/>
        </p:spPr>
      </p:sp>
      <p:sp>
        <p:nvSpPr>
          <p:cNvPr id="11" name="Shape 9"/>
          <p:cNvSpPr/>
          <p:nvPr/>
        </p:nvSpPr>
        <p:spPr>
          <a:xfrm>
            <a:off x="3702050" y="1871960"/>
            <a:ext cx="457200" cy="457200"/>
          </a:xfrm>
          <a:prstGeom prst="roundRect">
            <a:avLst>
              <a:gd name="adj" fmla="val 50000"/>
            </a:avLst>
          </a:prstGeom>
          <a:solidFill>
            <a:srgbClr val="282882"/>
          </a:solidFill>
          <a:ln/>
        </p:spPr>
      </p:sp>
      <p:sp>
        <p:nvSpPr>
          <p:cNvPr id="12" name="Text 10"/>
          <p:cNvSpPr/>
          <p:nvPr/>
        </p:nvSpPr>
        <p:spPr>
          <a:xfrm>
            <a:off x="3863181" y="1958330"/>
            <a:ext cx="18573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Be Vietnam Pro" pitchFamily="34" charset="0"/>
                <a:ea typeface="Be Vietnam Pro" pitchFamily="34" charset="-122"/>
                <a:cs typeface="Be Vietnam Pro" pitchFamily="34" charset="-120"/>
              </a:rPr>
              <a:t>2</a:t>
            </a:r>
            <a:endParaRPr lang="en-US" sz="1600" dirty="0"/>
          </a:p>
        </p:txBody>
      </p:sp>
      <p:sp>
        <p:nvSpPr>
          <p:cNvPr id="13" name="Text 11"/>
          <p:cNvSpPr/>
          <p:nvPr/>
        </p:nvSpPr>
        <p:spPr>
          <a:xfrm>
            <a:off x="3702050" y="2443460"/>
            <a:ext cx="21649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Backlog dự án</a:t>
            </a:r>
            <a:endParaRPr lang="en-US" sz="1600" dirty="0"/>
          </a:p>
        </p:txBody>
      </p:sp>
      <p:sp>
        <p:nvSpPr>
          <p:cNvPr id="14" name="Text 12"/>
          <p:cNvSpPr/>
          <p:nvPr/>
        </p:nvSpPr>
        <p:spPr>
          <a:xfrm>
            <a:off x="3702050" y="2801590"/>
            <a:ext cx="216490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Đề bài và backlog của các dự án, dùng khi Planning Sprint</a:t>
            </a:r>
            <a:endParaRPr lang="en-US" sz="1250" dirty="0"/>
          </a:p>
        </p:txBody>
      </p:sp>
      <p:sp>
        <p:nvSpPr>
          <p:cNvPr id="15" name="Text 13"/>
          <p:cNvSpPr/>
          <p:nvPr/>
        </p:nvSpPr>
        <p:spPr>
          <a:xfrm>
            <a:off x="3702050" y="3919190"/>
            <a:ext cx="2164906" cy="247650"/>
          </a:xfrm>
          <a:prstGeom prst="rect">
            <a:avLst/>
          </a:prstGeom>
          <a:noFill/>
          <a:ln/>
        </p:spPr>
        <p:txBody>
          <a:bodyPr wrap="square" lIns="0" tIns="0" rIns="0" bIns="0" rtlCol="0" anchor="t">
            <a:normAutofit/>
          </a:bodyPr>
          <a:lstStyle/>
          <a:p>
            <a:pPr algn="l" indent="0" marL="0">
              <a:lnSpc>
                <a:spcPts val="1750"/>
              </a:lnSpc>
              <a:buNone/>
            </a:pPr>
            <a:r>
              <a:rPr lang="en-US" sz="1250" b="1" u="sng" dirty="0">
                <a:solidFill>
                  <a:srgbClr val="F04E23"/>
                </a:solidFill>
                <a:latin typeface="Be Vietnam Pro" pitchFamily="34" charset="0"/>
                <a:ea typeface="Be Vietnam Pro" pitchFamily="34" charset="-122"/>
                <a:cs typeface="Be Vietnam Pr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Backlog dự án</a:t>
            </a:r>
            <a:endParaRPr lang="en-US" sz="1250" dirty="0"/>
          </a:p>
        </p:txBody>
      </p:sp>
      <p:sp>
        <p:nvSpPr>
          <p:cNvPr id="16" name="Shape 14"/>
          <p:cNvSpPr/>
          <p:nvPr/>
        </p:nvSpPr>
        <p:spPr>
          <a:xfrm>
            <a:off x="6184900" y="1643360"/>
            <a:ext cx="2508250" cy="2726680"/>
          </a:xfrm>
          <a:prstGeom prst="roundRect">
            <a:avLst>
              <a:gd name="adj" fmla="val 6076"/>
            </a:avLst>
          </a:prstGeom>
          <a:solidFill>
            <a:srgbClr val="EEF0F8"/>
          </a:solidFill>
          <a:ln/>
        </p:spPr>
      </p:sp>
      <p:sp>
        <p:nvSpPr>
          <p:cNvPr id="17" name="Shape 15"/>
          <p:cNvSpPr/>
          <p:nvPr/>
        </p:nvSpPr>
        <p:spPr>
          <a:xfrm>
            <a:off x="6388100" y="1871960"/>
            <a:ext cx="457200" cy="457200"/>
          </a:xfrm>
          <a:prstGeom prst="roundRect">
            <a:avLst>
              <a:gd name="adj" fmla="val 50000"/>
            </a:avLst>
          </a:prstGeom>
          <a:solidFill>
            <a:srgbClr val="282882"/>
          </a:solidFill>
          <a:ln/>
        </p:spPr>
      </p:sp>
      <p:sp>
        <p:nvSpPr>
          <p:cNvPr id="18" name="Text 16"/>
          <p:cNvSpPr/>
          <p:nvPr/>
        </p:nvSpPr>
        <p:spPr>
          <a:xfrm>
            <a:off x="6547594" y="1958330"/>
            <a:ext cx="18901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Be Vietnam Pro" pitchFamily="34" charset="0"/>
                <a:ea typeface="Be Vietnam Pro" pitchFamily="34" charset="-122"/>
                <a:cs typeface="Be Vietnam Pro" pitchFamily="34" charset="-120"/>
              </a:rPr>
              <a:t>3</a:t>
            </a:r>
            <a:endParaRPr lang="en-US" sz="1600" dirty="0"/>
          </a:p>
        </p:txBody>
      </p:sp>
      <p:sp>
        <p:nvSpPr>
          <p:cNvPr id="19" name="Text 17"/>
          <p:cNvSpPr/>
          <p:nvPr/>
        </p:nvSpPr>
        <p:spPr>
          <a:xfrm>
            <a:off x="6388100" y="2443460"/>
            <a:ext cx="21649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Mẫu Team Charter</a:t>
            </a:r>
            <a:endParaRPr lang="en-US" sz="1600" dirty="0"/>
          </a:p>
        </p:txBody>
      </p:sp>
      <p:sp>
        <p:nvSpPr>
          <p:cNvPr id="20" name="Text 18"/>
          <p:cNvSpPr/>
          <p:nvPr/>
        </p:nvSpPr>
        <p:spPr>
          <a:xfrm>
            <a:off x="6388100" y="2801590"/>
            <a:ext cx="216490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Biểu mẫu BM08 nhóm hoàn thành trong phiên đầu tiên</a:t>
            </a:r>
            <a:endParaRPr lang="en-US" sz="1250" dirty="0"/>
          </a:p>
        </p:txBody>
      </p:sp>
      <p:sp>
        <p:nvSpPr>
          <p:cNvPr id="21" name="Text 19"/>
          <p:cNvSpPr/>
          <p:nvPr/>
        </p:nvSpPr>
        <p:spPr>
          <a:xfrm>
            <a:off x="6388100" y="3696940"/>
            <a:ext cx="2164906" cy="469900"/>
          </a:xfrm>
          <a:prstGeom prst="rect">
            <a:avLst/>
          </a:prstGeom>
          <a:noFill/>
          <a:ln/>
        </p:spPr>
        <p:txBody>
          <a:bodyPr wrap="square" lIns="0" tIns="0" rIns="0" bIns="0" rtlCol="0" anchor="t">
            <a:normAutofit/>
          </a:bodyPr>
          <a:lstStyle/>
          <a:p>
            <a:pPr algn="l" indent="0" marL="0">
              <a:lnSpc>
                <a:spcPts val="1750"/>
              </a:lnSpc>
              <a:buNone/>
            </a:pPr>
            <a:r>
              <a:rPr lang="en-US" sz="1250" b="1" u="sng" dirty="0">
                <a:solidFill>
                  <a:srgbClr val="F04E23"/>
                </a:solidFill>
                <a:latin typeface="Be Vietnam Pro" pitchFamily="34" charset="0"/>
                <a:ea typeface="Be Vietnam Pro" pitchFamily="34" charset="-122"/>
                <a:cs typeface="Be Vietnam Pro" pitchFamily="34" charset="-120"/>
                <a:hlinkClick r:id="rId3" invalidUrl="" action="" tgtFrame="" tooltip="" history="1" highlightClick="0" endSnd="0">
                  <a:extLst>
                    <a:ext uri="{A12FA001-AC4F-418D-AE19-62706E023703}">
                      <ahyp:hlinkClr xmlns:ahyp="http://schemas.microsoft.com/office/drawing/2018/hyperlinkcolor" val="tx"/>
                    </a:ext>
                  </a:extLst>
                </a:hlinkClick>
              </a:rPr>
              <a:t>[ICTU] BM08. Team Charter_Template</a:t>
            </a:r>
            <a:endParaRPr lang="en-US" sz="1250" dirty="0"/>
          </a:p>
        </p:txBody>
      </p:sp>
      <p:sp>
        <p:nvSpPr>
          <p:cNvPr id="22" name="Shape 20"/>
          <p:cNvSpPr/>
          <p:nvPr/>
        </p:nvSpPr>
        <p:spPr>
          <a:xfrm>
            <a:off x="8870950" y="1643360"/>
            <a:ext cx="2508250" cy="2726680"/>
          </a:xfrm>
          <a:prstGeom prst="roundRect">
            <a:avLst>
              <a:gd name="adj" fmla="val 6076"/>
            </a:avLst>
          </a:prstGeom>
          <a:solidFill>
            <a:srgbClr val="EEF0F8"/>
          </a:solidFill>
          <a:ln/>
        </p:spPr>
      </p:sp>
      <p:sp>
        <p:nvSpPr>
          <p:cNvPr id="23" name="Shape 21"/>
          <p:cNvSpPr/>
          <p:nvPr/>
        </p:nvSpPr>
        <p:spPr>
          <a:xfrm>
            <a:off x="9074150" y="1871960"/>
            <a:ext cx="457200" cy="457200"/>
          </a:xfrm>
          <a:prstGeom prst="roundRect">
            <a:avLst>
              <a:gd name="adj" fmla="val 50000"/>
            </a:avLst>
          </a:prstGeom>
          <a:solidFill>
            <a:srgbClr val="F04E23"/>
          </a:solidFill>
          <a:ln/>
        </p:spPr>
      </p:sp>
      <p:sp>
        <p:nvSpPr>
          <p:cNvPr id="24" name="Text 22"/>
          <p:cNvSpPr/>
          <p:nvPr/>
        </p:nvSpPr>
        <p:spPr>
          <a:xfrm>
            <a:off x="9229576" y="1958330"/>
            <a:ext cx="19714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Be Vietnam Pro" pitchFamily="34" charset="0"/>
                <a:ea typeface="Be Vietnam Pro" pitchFamily="34" charset="-122"/>
                <a:cs typeface="Be Vietnam Pro" pitchFamily="34" charset="-120"/>
              </a:rPr>
              <a:t>4</a:t>
            </a:r>
            <a:endParaRPr lang="en-US" sz="1600" dirty="0"/>
          </a:p>
        </p:txBody>
      </p:sp>
      <p:sp>
        <p:nvSpPr>
          <p:cNvPr id="25" name="Text 23"/>
          <p:cNvSpPr/>
          <p:nvPr/>
        </p:nvSpPr>
        <p:spPr>
          <a:xfrm>
            <a:off x="9074150" y="2443460"/>
            <a:ext cx="21649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Biểu mẫu</a:t>
            </a:r>
            <a:endParaRPr lang="en-US" sz="1600" dirty="0"/>
          </a:p>
        </p:txBody>
      </p:sp>
      <p:sp>
        <p:nvSpPr>
          <p:cNvPr id="26" name="Text 24"/>
          <p:cNvSpPr/>
          <p:nvPr/>
        </p:nvSpPr>
        <p:spPr>
          <a:xfrm>
            <a:off x="9074150" y="2801590"/>
            <a:ext cx="216490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Các biểu mẫu dùng trong giai đoạn dự án</a:t>
            </a:r>
            <a:endParaRPr lang="en-US" sz="1250" dirty="0"/>
          </a:p>
        </p:txBody>
      </p:sp>
      <p:sp>
        <p:nvSpPr>
          <p:cNvPr id="27" name="Text 25"/>
          <p:cNvSpPr/>
          <p:nvPr/>
        </p:nvSpPr>
        <p:spPr>
          <a:xfrm>
            <a:off x="9074150" y="3919190"/>
            <a:ext cx="2164906" cy="247650"/>
          </a:xfrm>
          <a:prstGeom prst="rect">
            <a:avLst/>
          </a:prstGeom>
          <a:noFill/>
          <a:ln/>
        </p:spPr>
        <p:txBody>
          <a:bodyPr wrap="square" lIns="0" tIns="0" rIns="0" bIns="0" rtlCol="0" anchor="t">
            <a:normAutofit/>
          </a:bodyPr>
          <a:lstStyle/>
          <a:p>
            <a:pPr algn="l" indent="0" marL="0">
              <a:lnSpc>
                <a:spcPts val="1750"/>
              </a:lnSpc>
              <a:buNone/>
            </a:pPr>
            <a:r>
              <a:rPr lang="en-US" sz="1250" b="1" u="sng" dirty="0">
                <a:solidFill>
                  <a:srgbClr val="F04E23"/>
                </a:solidFill>
                <a:latin typeface="Be Vietnam Pro" pitchFamily="34" charset="0"/>
                <a:ea typeface="Be Vietnam Pro" pitchFamily="34" charset="-122"/>
                <a:cs typeface="Be Vietnam Pro" pitchFamily="34" charset="-120"/>
                <a:hlinkClick r:id="rId4" invalidUrl="" action="" tgtFrame="" tooltip="" history="1" highlightClick="0" endSnd="0">
                  <a:extLst>
                    <a:ext uri="{A12FA001-AC4F-418D-AE19-62706E023703}">
                      <ahyp:hlinkClr xmlns:ahyp="http://schemas.microsoft.com/office/drawing/2018/hyperlinkcolor" val="tx"/>
                    </a:ext>
                  </a:extLst>
                </a:hlinkClick>
              </a:rPr>
              <a:t>0. Tài liệu, Biểu mẫu</a:t>
            </a:r>
            <a:endParaRPr lang="en-US" sz="1250" dirty="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9" name="Text 2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Đọc backlog dự án của bạn</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File backlog ghim trong nhóm Zalo của khối gồm ba phần, đọc từ trên xuống</a:t>
            </a:r>
            <a:endParaRPr lang="en-US" sz="1300" dirty="0"/>
          </a:p>
        </p:txBody>
      </p:sp>
      <p:sp>
        <p:nvSpPr>
          <p:cNvPr id="4" name="Shape 2"/>
          <p:cNvSpPr/>
          <p:nvPr/>
        </p:nvSpPr>
        <p:spPr>
          <a:xfrm>
            <a:off x="812800" y="1617960"/>
            <a:ext cx="3403600" cy="2470100"/>
          </a:xfrm>
          <a:prstGeom prst="roundRect">
            <a:avLst>
              <a:gd name="adj" fmla="val 6170"/>
            </a:avLst>
          </a:prstGeom>
          <a:solidFill>
            <a:srgbClr val="EEF0F8"/>
          </a:solidFill>
          <a:ln/>
        </p:spPr>
      </p:sp>
      <p:sp>
        <p:nvSpPr>
          <p:cNvPr id="5" name="Shape 3"/>
          <p:cNvSpPr/>
          <p:nvPr/>
        </p:nvSpPr>
        <p:spPr>
          <a:xfrm>
            <a:off x="1016000" y="1846560"/>
            <a:ext cx="431800" cy="431800"/>
          </a:xfrm>
          <a:prstGeom prst="roundRect">
            <a:avLst>
              <a:gd name="adj" fmla="val 50000"/>
            </a:avLst>
          </a:prstGeom>
          <a:solidFill>
            <a:srgbClr val="282882"/>
          </a:solidFill>
          <a:ln/>
        </p:spPr>
      </p:sp>
      <p:sp>
        <p:nvSpPr>
          <p:cNvPr id="6" name="Text 4"/>
          <p:cNvSpPr/>
          <p:nvPr/>
        </p:nvSpPr>
        <p:spPr>
          <a:xfrm>
            <a:off x="1190823" y="1929110"/>
            <a:ext cx="13295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Be Vietnam Pro" pitchFamily="34" charset="0"/>
                <a:ea typeface="Be Vietnam Pro" pitchFamily="34" charset="-122"/>
                <a:cs typeface="Be Vietnam Pro" pitchFamily="34" charset="-120"/>
              </a:rPr>
              <a:t>1</a:t>
            </a:r>
            <a:endParaRPr lang="en-US" sz="1500" dirty="0"/>
          </a:p>
        </p:txBody>
      </p:sp>
      <p:sp>
        <p:nvSpPr>
          <p:cNvPr id="7" name="Text 5"/>
          <p:cNvSpPr/>
          <p:nvPr/>
        </p:nvSpPr>
        <p:spPr>
          <a:xfrm>
            <a:off x="1016000" y="2392660"/>
            <a:ext cx="30871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Thông tin</a:t>
            </a:r>
            <a:endParaRPr lang="en-US" sz="1600" dirty="0"/>
          </a:p>
        </p:txBody>
      </p:sp>
      <p:sp>
        <p:nvSpPr>
          <p:cNvPr id="8" name="Text 6"/>
          <p:cNvSpPr/>
          <p:nvPr/>
        </p:nvSpPr>
        <p:spPr>
          <a:xfrm>
            <a:off x="1016000" y="275079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Product Goal, số developer, độ dài sprint, focus factor và ràng buộc tuân thủ của dự án.</a:t>
            </a:r>
            <a:endParaRPr lang="en-US" sz="1250" dirty="0"/>
          </a:p>
        </p:txBody>
      </p:sp>
      <p:sp>
        <p:nvSpPr>
          <p:cNvPr id="9" name="Text 7"/>
          <p:cNvSpPr/>
          <p:nvPr/>
        </p:nvSpPr>
        <p:spPr>
          <a:xfrm>
            <a:off x="1016000" y="364614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4E23"/>
                </a:solidFill>
                <a:latin typeface="Be Vietnam Pro" pitchFamily="34" charset="0"/>
                <a:ea typeface="Be Vietnam Pro" pitchFamily="34" charset="-122"/>
                <a:cs typeface="Be Vietnam Pro" pitchFamily="34" charset="-120"/>
              </a:rPr>
              <a:t>Đọc đầu tiên, cả nhóm cùng hiểu</a:t>
            </a:r>
            <a:endParaRPr lang="en-US" sz="1200" dirty="0"/>
          </a:p>
        </p:txBody>
      </p:sp>
      <p:sp>
        <p:nvSpPr>
          <p:cNvPr id="10" name="Shape 8"/>
          <p:cNvSpPr/>
          <p:nvPr/>
        </p:nvSpPr>
        <p:spPr>
          <a:xfrm>
            <a:off x="4394200" y="1617960"/>
            <a:ext cx="3403600" cy="2470100"/>
          </a:xfrm>
          <a:prstGeom prst="roundRect">
            <a:avLst>
              <a:gd name="adj" fmla="val 6170"/>
            </a:avLst>
          </a:prstGeom>
          <a:solidFill>
            <a:srgbClr val="EEF0F8"/>
          </a:solidFill>
          <a:ln/>
        </p:spPr>
      </p:sp>
      <p:sp>
        <p:nvSpPr>
          <p:cNvPr id="11" name="Shape 9"/>
          <p:cNvSpPr/>
          <p:nvPr/>
        </p:nvSpPr>
        <p:spPr>
          <a:xfrm>
            <a:off x="4597400" y="1846560"/>
            <a:ext cx="431800" cy="431800"/>
          </a:xfrm>
          <a:prstGeom prst="roundRect">
            <a:avLst>
              <a:gd name="adj" fmla="val 50000"/>
            </a:avLst>
          </a:prstGeom>
          <a:solidFill>
            <a:srgbClr val="282882"/>
          </a:solidFill>
          <a:ln/>
        </p:spPr>
      </p:sp>
      <p:sp>
        <p:nvSpPr>
          <p:cNvPr id="12" name="Text 10"/>
          <p:cNvSpPr/>
          <p:nvPr/>
        </p:nvSpPr>
        <p:spPr>
          <a:xfrm>
            <a:off x="4750048" y="1929110"/>
            <a:ext cx="17730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Be Vietnam Pro" pitchFamily="34" charset="0"/>
                <a:ea typeface="Be Vietnam Pro" pitchFamily="34" charset="-122"/>
                <a:cs typeface="Be Vietnam Pro" pitchFamily="34" charset="-120"/>
              </a:rPr>
              <a:t>2</a:t>
            </a:r>
            <a:endParaRPr lang="en-US" sz="1500" dirty="0"/>
          </a:p>
        </p:txBody>
      </p:sp>
      <p:sp>
        <p:nvSpPr>
          <p:cNvPr id="13" name="Text 11"/>
          <p:cNvSpPr/>
          <p:nvPr/>
        </p:nvSpPr>
        <p:spPr>
          <a:xfrm>
            <a:off x="4597400" y="2392660"/>
            <a:ext cx="30871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Sprints</a:t>
            </a:r>
            <a:endParaRPr lang="en-US" sz="1600" dirty="0"/>
          </a:p>
        </p:txBody>
      </p:sp>
      <p:sp>
        <p:nvSpPr>
          <p:cNvPr id="14" name="Text 12"/>
          <p:cNvSpPr/>
          <p:nvPr/>
        </p:nvSpPr>
        <p:spPr>
          <a:xfrm>
            <a:off x="4597400" y="2750790"/>
            <a:ext cx="308711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Mỗi dòng là một sprint với Sprint Goal và Capacity tính bằng story point.</a:t>
            </a:r>
            <a:endParaRPr lang="en-US" sz="1250" dirty="0"/>
          </a:p>
        </p:txBody>
      </p:sp>
      <p:sp>
        <p:nvSpPr>
          <p:cNvPr id="15" name="Text 13"/>
          <p:cNvSpPr/>
          <p:nvPr/>
        </p:nvSpPr>
        <p:spPr>
          <a:xfrm>
            <a:off x="4597400" y="364614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4E23"/>
                </a:solidFill>
                <a:latin typeface="Be Vietnam Pro" pitchFamily="34" charset="0"/>
                <a:ea typeface="Be Vietnam Pro" pitchFamily="34" charset="-122"/>
                <a:cs typeface="Be Vietnam Pro" pitchFamily="34" charset="-120"/>
              </a:rPr>
              <a:t>Dùng khi Planning mỗi sprint</a:t>
            </a:r>
            <a:endParaRPr lang="en-US" sz="1200" dirty="0"/>
          </a:p>
        </p:txBody>
      </p:sp>
      <p:sp>
        <p:nvSpPr>
          <p:cNvPr id="16" name="Shape 14"/>
          <p:cNvSpPr/>
          <p:nvPr/>
        </p:nvSpPr>
        <p:spPr>
          <a:xfrm>
            <a:off x="7975600" y="1617960"/>
            <a:ext cx="3403600" cy="2470100"/>
          </a:xfrm>
          <a:prstGeom prst="roundRect">
            <a:avLst>
              <a:gd name="adj" fmla="val 6170"/>
            </a:avLst>
          </a:prstGeom>
          <a:solidFill>
            <a:srgbClr val="EEF0F8"/>
          </a:solidFill>
          <a:ln/>
        </p:spPr>
      </p:sp>
      <p:sp>
        <p:nvSpPr>
          <p:cNvPr id="17" name="Shape 15"/>
          <p:cNvSpPr/>
          <p:nvPr/>
        </p:nvSpPr>
        <p:spPr>
          <a:xfrm>
            <a:off x="8178800" y="1846560"/>
            <a:ext cx="431800" cy="431800"/>
          </a:xfrm>
          <a:prstGeom prst="roundRect">
            <a:avLst>
              <a:gd name="adj" fmla="val 50000"/>
            </a:avLst>
          </a:prstGeom>
          <a:solidFill>
            <a:srgbClr val="F04E23"/>
          </a:solidFill>
          <a:ln/>
        </p:spPr>
      </p:sp>
      <p:sp>
        <p:nvSpPr>
          <p:cNvPr id="18" name="Text 16"/>
          <p:cNvSpPr/>
          <p:nvPr/>
        </p:nvSpPr>
        <p:spPr>
          <a:xfrm>
            <a:off x="8329910" y="1929110"/>
            <a:ext cx="1803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Be Vietnam Pro" pitchFamily="34" charset="0"/>
                <a:ea typeface="Be Vietnam Pro" pitchFamily="34" charset="-122"/>
                <a:cs typeface="Be Vietnam Pro" pitchFamily="34" charset="-120"/>
              </a:rPr>
              <a:t>3</a:t>
            </a:r>
            <a:endParaRPr lang="en-US" sz="1500" dirty="0"/>
          </a:p>
        </p:txBody>
      </p:sp>
      <p:sp>
        <p:nvSpPr>
          <p:cNvPr id="19" name="Text 17"/>
          <p:cNvSpPr/>
          <p:nvPr/>
        </p:nvSpPr>
        <p:spPr>
          <a:xfrm>
            <a:off x="8178800" y="2392660"/>
            <a:ext cx="30871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82882"/>
                </a:solidFill>
                <a:latin typeface="Be Vietnam Pro" pitchFamily="34" charset="0"/>
                <a:ea typeface="Be Vietnam Pro" pitchFamily="34" charset="-122"/>
                <a:cs typeface="Be Vietnam Pro" pitchFamily="34" charset="-120"/>
              </a:rPr>
              <a:t>Epics</a:t>
            </a:r>
            <a:endParaRPr lang="en-US" sz="1600" dirty="0"/>
          </a:p>
        </p:txBody>
      </p:sp>
      <p:sp>
        <p:nvSpPr>
          <p:cNvPr id="20" name="Text 18"/>
          <p:cNvSpPr/>
          <p:nvPr/>
        </p:nvSpPr>
        <p:spPr>
          <a:xfrm>
            <a:off x="8178800" y="275079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Từng epic có Story, AC (điều kiện chấp nhận), Deps (phụ thuộc), NFR và Priority.</a:t>
            </a:r>
            <a:endParaRPr lang="en-US" sz="1250" dirty="0"/>
          </a:p>
        </p:txBody>
      </p:sp>
      <p:sp>
        <p:nvSpPr>
          <p:cNvPr id="21" name="Text 19"/>
          <p:cNvSpPr/>
          <p:nvPr/>
        </p:nvSpPr>
        <p:spPr>
          <a:xfrm>
            <a:off x="8178800" y="364614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4E23"/>
                </a:solidFill>
                <a:latin typeface="Be Vietnam Pro" pitchFamily="34" charset="0"/>
                <a:ea typeface="Be Vietnam Pro" pitchFamily="34" charset="-122"/>
                <a:cs typeface="Be Vietnam Pro" pitchFamily="34" charset="-120"/>
              </a:rPr>
              <a:t>Nguồn việc để tách task</a:t>
            </a:r>
            <a:endParaRPr lang="en-US" sz="1200" dirty="0"/>
          </a:p>
        </p:txBody>
      </p:sp>
      <p:sp>
        <p:nvSpPr>
          <p:cNvPr id="22" name="Shape 20"/>
          <p:cNvSpPr/>
          <p:nvPr/>
        </p:nvSpPr>
        <p:spPr>
          <a:xfrm>
            <a:off x="812800" y="4342061"/>
            <a:ext cx="10566400" cy="586730"/>
          </a:xfrm>
          <a:prstGeom prst="roundRect">
            <a:avLst>
              <a:gd name="adj" fmla="val 21645"/>
            </a:avLst>
          </a:prstGeom>
          <a:solidFill>
            <a:srgbClr val="282882"/>
          </a:solidFill>
          <a:ln/>
        </p:spPr>
      </p:sp>
      <p:sp>
        <p:nvSpPr>
          <p:cNvPr id="23" name="Text 21"/>
          <p:cNvSpPr/>
          <p:nvPr/>
        </p:nvSpPr>
        <p:spPr>
          <a:xfrm>
            <a:off x="1041400" y="4519861"/>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Việc xong là việc đạt AC.</a:t>
            </a:r>
            <a:r>
              <a:rPr lang="en-US" sz="1300" dirty="0">
                <a:solidFill>
                  <a:srgbClr val="FFFFFF"/>
                </a:solidFill>
                <a:latin typeface="Be Vietnam Pro" pitchFamily="34" charset="0"/>
                <a:ea typeface="Be Vietnam Pro" pitchFamily="34" charset="-122"/>
                <a:cs typeface="Be Vietnam Pro" pitchFamily="34" charset="-120"/>
              </a:rPr>
              <a:t> Đừng tự nghĩ ra yêu cầu: mọi tranh luận về phạm vi đều quay về ô AC của epic trong backlog.</a:t>
            </a:r>
            <a:endParaRPr lang="en-US" sz="1300" dirty="0"/>
          </a:p>
        </p:txBody>
      </p:sp>
      <p:sp>
        <p:nvSpPr>
          <p:cNvPr id="24" name="Text 2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5" name="Text 2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83865"/>
            <a:ext cx="890091" cy="332730"/>
          </a:xfrm>
          <a:prstGeom prst="roundRect">
            <a:avLst>
              <a:gd name="adj" fmla="val 45803"/>
            </a:avLst>
          </a:prstGeom>
          <a:solidFill>
            <a:srgbClr val="282882"/>
          </a:solidFill>
          <a:ln/>
        </p:spPr>
      </p:sp>
      <p:sp>
        <p:nvSpPr>
          <p:cNvPr id="3" name="Text 1"/>
          <p:cNvSpPr/>
          <p:nvPr/>
        </p:nvSpPr>
        <p:spPr>
          <a:xfrm>
            <a:off x="965200" y="734665"/>
            <a:ext cx="63609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Khối 18</a:t>
            </a:r>
            <a:endParaRPr lang="en-US" sz="1300" dirty="0"/>
          </a:p>
        </p:txBody>
      </p:sp>
      <p:sp>
        <p:nvSpPr>
          <p:cNvPr id="4" name="Text 2"/>
          <p:cNvSpPr/>
          <p:nvPr/>
        </p:nvSpPr>
        <p:spPr>
          <a:xfrm>
            <a:off x="1829891" y="660400"/>
            <a:ext cx="7368078"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282882"/>
                </a:solidFill>
                <a:latin typeface="Be Vietnam Pro" pitchFamily="34" charset="0"/>
                <a:ea typeface="Be Vietnam Pro" pitchFamily="34" charset="-122"/>
                <a:cs typeface="Be Vietnam Pro" pitchFamily="34" charset="-120"/>
              </a:rPr>
              <a:t>Truy xuất nguồn gốc và chuỗi lạnh nông sản</a:t>
            </a:r>
            <a:endParaRPr lang="en-US" sz="2600" dirty="0"/>
          </a:p>
        </p:txBody>
      </p:sp>
      <p:sp>
        <p:nvSpPr>
          <p:cNvPr id="5" name="Text 3"/>
          <p:cNvSpPr/>
          <p:nvPr/>
        </p:nvSpPr>
        <p:spPr>
          <a:xfrm>
            <a:off x="812800" y="110361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Theo dấu từng lô nông sản từ vùng trồng, qua sơ chế và vận chuyển, tới người mua</a:t>
            </a:r>
            <a:endParaRPr lang="en-US" sz="1300" dirty="0"/>
          </a:p>
        </p:txBody>
      </p:sp>
      <p:sp>
        <p:nvSpPr>
          <p:cNvPr id="6" name="Shape 4"/>
          <p:cNvSpPr/>
          <p:nvPr/>
        </p:nvSpPr>
        <p:spPr>
          <a:xfrm>
            <a:off x="812800" y="1512540"/>
            <a:ext cx="10566400" cy="792460"/>
          </a:xfrm>
          <a:prstGeom prst="roundRect">
            <a:avLst>
              <a:gd name="adj" fmla="val 16026"/>
            </a:avLst>
          </a:prstGeom>
          <a:solidFill>
            <a:srgbClr val="282882"/>
          </a:solidFill>
          <a:ln/>
        </p:spPr>
      </p:sp>
      <p:sp>
        <p:nvSpPr>
          <p:cNvPr id="7" name="Text 5"/>
          <p:cNvSpPr/>
          <p:nvPr/>
        </p:nvSpPr>
        <p:spPr>
          <a:xfrm>
            <a:off x="1028700" y="1677640"/>
            <a:ext cx="1043863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Product Goal:</a:t>
            </a:r>
            <a:r>
              <a:rPr lang="en-US" sz="1300" dirty="0">
                <a:solidFill>
                  <a:srgbClr val="FFFFFF"/>
                </a:solidFill>
                <a:latin typeface="Be Vietnam Pro" pitchFamily="34" charset="0"/>
                <a:ea typeface="Be Vietnam Pro" pitchFamily="34" charset="-122"/>
                <a:cs typeface="Be Vietnam Pro" pitchFamily="34" charset="-120"/>
              </a:rPr>
              <a:t> Chuỗi cung ứng truy được nguồn gốc từng lô từ vườn tới tay người mua, phát hiện được vi phạm chuỗi lạnh, và khi có sự cố thì chỉ ra đúng và đủ mọi lô liên quan trong vài phút thay vì vài ngày.</a:t>
            </a:r>
            <a:endParaRPr lang="en-US" sz="1300" dirty="0"/>
          </a:p>
        </p:txBody>
      </p:sp>
      <p:sp>
        <p:nvSpPr>
          <p:cNvPr id="8" name="Shape 6"/>
          <p:cNvSpPr/>
          <p:nvPr/>
        </p:nvSpPr>
        <p:spPr>
          <a:xfrm>
            <a:off x="812800" y="2482800"/>
            <a:ext cx="2011660" cy="1837482"/>
          </a:xfrm>
          <a:prstGeom prst="roundRect">
            <a:avLst>
              <a:gd name="adj" fmla="val 6220"/>
            </a:avLst>
          </a:prstGeom>
          <a:solidFill>
            <a:srgbClr val="EEF0F8"/>
          </a:solidFill>
          <a:ln/>
        </p:spPr>
      </p:sp>
      <p:sp>
        <p:nvSpPr>
          <p:cNvPr id="9" name="Text 7"/>
          <p:cNvSpPr/>
          <p:nvPr/>
        </p:nvSpPr>
        <p:spPr>
          <a:xfrm>
            <a:off x="965200" y="2647900"/>
            <a:ext cx="1758066"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Chuỗi sự kiện không sửa được</a:t>
            </a:r>
            <a:endParaRPr lang="en-US" sz="1300" dirty="0"/>
          </a:p>
        </p:txBody>
      </p:sp>
      <p:sp>
        <p:nvSpPr>
          <p:cNvPr id="10" name="Text 8"/>
          <p:cNvSpPr/>
          <p:nvPr/>
        </p:nvSpPr>
        <p:spPr>
          <a:xfrm>
            <a:off x="965200" y="3132981"/>
            <a:ext cx="1758066"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Mọi việc xảy ra với một lô là một sự kiện chỉ thêm, mỗi sự kiện chứa hash của sự kiện liền trước.</a:t>
            </a:r>
            <a:endParaRPr lang="en-US" sz="1150" dirty="0"/>
          </a:p>
        </p:txBody>
      </p:sp>
      <p:sp>
        <p:nvSpPr>
          <p:cNvPr id="11" name="Shape 9"/>
          <p:cNvSpPr/>
          <p:nvPr/>
        </p:nvSpPr>
        <p:spPr>
          <a:xfrm>
            <a:off x="2951460" y="2482800"/>
            <a:ext cx="2011710" cy="1837482"/>
          </a:xfrm>
          <a:prstGeom prst="roundRect">
            <a:avLst>
              <a:gd name="adj" fmla="val 6220"/>
            </a:avLst>
          </a:prstGeom>
          <a:solidFill>
            <a:srgbClr val="EEF0F8"/>
          </a:solidFill>
          <a:ln/>
        </p:spPr>
      </p:sp>
      <p:sp>
        <p:nvSpPr>
          <p:cNvPr id="12" name="Text 10"/>
          <p:cNvSpPr/>
          <p:nvPr/>
        </p:nvSpPr>
        <p:spPr>
          <a:xfrm>
            <a:off x="3103860" y="2647900"/>
            <a:ext cx="17581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Phả hệ lô hàng</a:t>
            </a:r>
            <a:endParaRPr lang="en-US" sz="1300" dirty="0"/>
          </a:p>
        </p:txBody>
      </p:sp>
      <p:sp>
        <p:nvSpPr>
          <p:cNvPr id="13" name="Text 11"/>
          <p:cNvSpPr/>
          <p:nvPr/>
        </p:nvSpPr>
        <p:spPr>
          <a:xfrm>
            <a:off x="3103860" y="2934891"/>
            <a:ext cx="1758117"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Lô tách ra và gộp lại ở hợp tác xã; truy ngược về vùng trồng gốc và truy xuôi ra mọi lô con.</a:t>
            </a:r>
            <a:endParaRPr lang="en-US" sz="1150" dirty="0"/>
          </a:p>
        </p:txBody>
      </p:sp>
      <p:sp>
        <p:nvSpPr>
          <p:cNvPr id="14" name="Shape 12"/>
          <p:cNvSpPr/>
          <p:nvPr/>
        </p:nvSpPr>
        <p:spPr>
          <a:xfrm>
            <a:off x="5090170" y="2482800"/>
            <a:ext cx="2011660" cy="1837482"/>
          </a:xfrm>
          <a:prstGeom prst="roundRect">
            <a:avLst>
              <a:gd name="adj" fmla="val 6220"/>
            </a:avLst>
          </a:prstGeom>
          <a:solidFill>
            <a:srgbClr val="EEF0F8"/>
          </a:solidFill>
          <a:ln/>
        </p:spPr>
      </p:sp>
      <p:sp>
        <p:nvSpPr>
          <p:cNvPr id="15" name="Text 13"/>
          <p:cNvSpPr/>
          <p:nvPr/>
        </p:nvSpPr>
        <p:spPr>
          <a:xfrm>
            <a:off x="5242570" y="2647900"/>
            <a:ext cx="175806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Thu hồi lô hàng</a:t>
            </a:r>
            <a:endParaRPr lang="en-US" sz="1300" dirty="0"/>
          </a:p>
        </p:txBody>
      </p:sp>
      <p:sp>
        <p:nvSpPr>
          <p:cNvPr id="16" name="Text 14"/>
          <p:cNvSpPr/>
          <p:nvPr/>
        </p:nvSpPr>
        <p:spPr>
          <a:xfrm>
            <a:off x="5242570" y="2934891"/>
            <a:ext cx="1758066"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Một lô có sự cố thì chỉ ra đủ mọi lô liên quan, từng bên xác nhận đã xử lý phần của mình.</a:t>
            </a:r>
            <a:endParaRPr lang="en-US" sz="1150" dirty="0"/>
          </a:p>
        </p:txBody>
      </p:sp>
      <p:sp>
        <p:nvSpPr>
          <p:cNvPr id="17" name="Shape 15"/>
          <p:cNvSpPr/>
          <p:nvPr/>
        </p:nvSpPr>
        <p:spPr>
          <a:xfrm>
            <a:off x="7228830" y="2482800"/>
            <a:ext cx="2011710" cy="1837482"/>
          </a:xfrm>
          <a:prstGeom prst="roundRect">
            <a:avLst>
              <a:gd name="adj" fmla="val 6220"/>
            </a:avLst>
          </a:prstGeom>
          <a:solidFill>
            <a:srgbClr val="EEF0F8"/>
          </a:solidFill>
          <a:ln/>
        </p:spPr>
      </p:sp>
      <p:sp>
        <p:nvSpPr>
          <p:cNvPr id="18" name="Text 16"/>
          <p:cNvSpPr/>
          <p:nvPr/>
        </p:nvSpPr>
        <p:spPr>
          <a:xfrm>
            <a:off x="7381230" y="2647900"/>
            <a:ext cx="17581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Giám sát chuỗi lạnh</a:t>
            </a:r>
            <a:endParaRPr lang="en-US" sz="1300" dirty="0"/>
          </a:p>
        </p:txBody>
      </p:sp>
      <p:sp>
        <p:nvSpPr>
          <p:cNvPr id="19" name="Text 17"/>
          <p:cNvSpPr/>
          <p:nvPr/>
        </p:nvSpPr>
        <p:spPr>
          <a:xfrm>
            <a:off x="7381230" y="2934891"/>
            <a:ext cx="1758117"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Ngưỡng nhiệt theo loại sản phẩm; vi phạm trên đường vận chuyển ghi vào chuỗi của mọi lô trên chuyến.</a:t>
            </a:r>
            <a:endParaRPr lang="en-US" sz="1150" dirty="0"/>
          </a:p>
        </p:txBody>
      </p:sp>
      <p:sp>
        <p:nvSpPr>
          <p:cNvPr id="20" name="Shape 18"/>
          <p:cNvSpPr/>
          <p:nvPr/>
        </p:nvSpPr>
        <p:spPr>
          <a:xfrm>
            <a:off x="9367540" y="2482800"/>
            <a:ext cx="2011660" cy="1837482"/>
          </a:xfrm>
          <a:prstGeom prst="roundRect">
            <a:avLst>
              <a:gd name="adj" fmla="val 6220"/>
            </a:avLst>
          </a:prstGeom>
          <a:solidFill>
            <a:srgbClr val="EEF0F8"/>
          </a:solidFill>
          <a:ln/>
        </p:spPr>
      </p:sp>
      <p:sp>
        <p:nvSpPr>
          <p:cNvPr id="21" name="Text 19"/>
          <p:cNvSpPr/>
          <p:nvPr/>
        </p:nvSpPr>
        <p:spPr>
          <a:xfrm>
            <a:off x="9519940" y="2647900"/>
            <a:ext cx="1758066"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Trang công khai quét QR</a:t>
            </a:r>
            <a:endParaRPr lang="en-US" sz="1300" dirty="0"/>
          </a:p>
        </p:txBody>
      </p:sp>
      <p:sp>
        <p:nvSpPr>
          <p:cNvPr id="22" name="Text 20"/>
          <p:cNvSpPr/>
          <p:nvPr/>
        </p:nvSpPr>
        <p:spPr>
          <a:xfrm>
            <a:off x="9519940" y="3132981"/>
            <a:ext cx="1758066"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Người tiêu dùng xem hành trình lô hàng mà không lộ dữ liệu nội bộ; cảnh báo nếu lô bị thu hồi.</a:t>
            </a:r>
            <a:endParaRPr lang="en-US" sz="1150" dirty="0"/>
          </a:p>
        </p:txBody>
      </p:sp>
      <p:sp>
        <p:nvSpPr>
          <p:cNvPr id="23" name="Shape 21"/>
          <p:cNvSpPr/>
          <p:nvPr/>
        </p:nvSpPr>
        <p:spPr>
          <a:xfrm>
            <a:off x="812800" y="4498082"/>
            <a:ext cx="10566400" cy="723900"/>
          </a:xfrm>
          <a:prstGeom prst="roundRect">
            <a:avLst>
              <a:gd name="adj" fmla="val 14035"/>
            </a:avLst>
          </a:prstGeom>
          <a:solidFill>
            <a:srgbClr val="EEF0F8"/>
          </a:solidFill>
          <a:ln/>
        </p:spPr>
      </p:sp>
      <p:sp>
        <p:nvSpPr>
          <p:cNvPr id="24" name="Text 22"/>
          <p:cNvSpPr/>
          <p:nvPr/>
        </p:nvSpPr>
        <p:spPr>
          <a:xfrm>
            <a:off x="1003300" y="4637782"/>
            <a:ext cx="10490962"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595959"/>
                </a:solidFill>
                <a:latin typeface="Be Vietnam Pro" pitchFamily="34" charset="0"/>
                <a:ea typeface="Be Vietnam Pro" pitchFamily="34" charset="-122"/>
                <a:cs typeface="Be Vietnam Pro" pitchFamily="34" charset="-120"/>
              </a:rPr>
              <a:t>Còn có:</a:t>
            </a:r>
            <a:r>
              <a:rPr lang="en-US" sz="1250" dirty="0">
                <a:solidFill>
                  <a:srgbClr val="595959"/>
                </a:solidFill>
                <a:latin typeface="Be Vietnam Pro" pitchFamily="34" charset="0"/>
                <a:ea typeface="Be Vietnam Pro" pitchFamily="34" charset="-122"/>
                <a:cs typeface="Be Vietnam Pro" pitchFamily="34" charset="-120"/>
              </a:rPr>
              <a:t> báo cáo và hồ sơ kiểm tra, job kiểm tra toàn vẹn định kỳ. </a:t>
            </a:r>
            <a:r>
              <a:rPr lang="en-US" sz="1250" b="1" dirty="0">
                <a:solidFill>
                  <a:srgbClr val="595959"/>
                </a:solidFill>
                <a:latin typeface="Be Vietnam Pro" pitchFamily="34" charset="0"/>
                <a:ea typeface="Be Vietnam Pro" pitchFamily="34" charset="-122"/>
                <a:cs typeface="Be Vietnam Pro" pitchFamily="34" charset="-120"/>
              </a:rPr>
              <a:t>Ràng buộc:</a:t>
            </a:r>
            <a:r>
              <a:rPr lang="en-US" sz="1250" dirty="0">
                <a:solidFill>
                  <a:srgbClr val="595959"/>
                </a:solidFill>
                <a:latin typeface="Be Vietnam Pro" pitchFamily="34" charset="0"/>
                <a:ea typeface="Be Vietnam Pro" pitchFamily="34" charset="-122"/>
                <a:cs typeface="Be Vietnam Pro" pitchFamily="34" charset="-120"/>
              </a:rPr>
              <a:t> an toàn thực phẩm và truy xuất nguồn gốc; dữ liệu định danh nông hộ và cơ sở sơ chế theo Nghị định 13/2023/NĐ-CP.</a:t>
            </a:r>
            <a:endParaRPr lang="en-US" sz="1250" dirty="0"/>
          </a:p>
        </p:txBody>
      </p:sp>
      <p:sp>
        <p:nvSpPr>
          <p:cNvPr id="25"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6" name="Text 2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83865"/>
            <a:ext cx="896193" cy="332730"/>
          </a:xfrm>
          <a:prstGeom prst="roundRect">
            <a:avLst>
              <a:gd name="adj" fmla="val 45803"/>
            </a:avLst>
          </a:prstGeom>
          <a:solidFill>
            <a:srgbClr val="F04E23"/>
          </a:solidFill>
          <a:ln/>
        </p:spPr>
      </p:sp>
      <p:sp>
        <p:nvSpPr>
          <p:cNvPr id="3" name="Text 1"/>
          <p:cNvSpPr/>
          <p:nvPr/>
        </p:nvSpPr>
        <p:spPr>
          <a:xfrm>
            <a:off x="965200" y="734665"/>
            <a:ext cx="64219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Khối 19</a:t>
            </a:r>
            <a:endParaRPr lang="en-US" sz="1300" dirty="0"/>
          </a:p>
        </p:txBody>
      </p:sp>
      <p:sp>
        <p:nvSpPr>
          <p:cNvPr id="4" name="Text 2"/>
          <p:cNvSpPr/>
          <p:nvPr/>
        </p:nvSpPr>
        <p:spPr>
          <a:xfrm>
            <a:off x="1835993" y="660400"/>
            <a:ext cx="4626484"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282882"/>
                </a:solidFill>
                <a:latin typeface="Be Vietnam Pro" pitchFamily="34" charset="0"/>
                <a:ea typeface="Be Vietnam Pro" pitchFamily="34" charset="-122"/>
                <a:cs typeface="Be Vietnam Pro" pitchFamily="34" charset="-120"/>
              </a:rPr>
              <a:t>Bán vé sự kiện có sơ đồ ghế</a:t>
            </a:r>
            <a:endParaRPr lang="en-US" sz="2600" dirty="0"/>
          </a:p>
        </p:txBody>
      </p:sp>
      <p:sp>
        <p:nvSpPr>
          <p:cNvPr id="5" name="Text 3"/>
          <p:cNvSpPr/>
          <p:nvPr/>
        </p:nvSpPr>
        <p:spPr>
          <a:xfrm>
            <a:off x="812800" y="110361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Từ lúc mở bán, chọn ghế, thanh toán, tới lúc soát vé tại cửa</a:t>
            </a:r>
            <a:endParaRPr lang="en-US" sz="1300" dirty="0"/>
          </a:p>
        </p:txBody>
      </p:sp>
      <p:sp>
        <p:nvSpPr>
          <p:cNvPr id="6" name="Shape 4"/>
          <p:cNvSpPr/>
          <p:nvPr/>
        </p:nvSpPr>
        <p:spPr>
          <a:xfrm>
            <a:off x="812800" y="1512540"/>
            <a:ext cx="10566400" cy="792460"/>
          </a:xfrm>
          <a:prstGeom prst="roundRect">
            <a:avLst>
              <a:gd name="adj" fmla="val 16026"/>
            </a:avLst>
          </a:prstGeom>
          <a:solidFill>
            <a:srgbClr val="282882"/>
          </a:solidFill>
          <a:ln/>
        </p:spPr>
      </p:sp>
      <p:sp>
        <p:nvSpPr>
          <p:cNvPr id="7" name="Text 5"/>
          <p:cNvSpPr/>
          <p:nvPr/>
        </p:nvSpPr>
        <p:spPr>
          <a:xfrm>
            <a:off x="1028700" y="1677640"/>
            <a:ext cx="1043863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e Vietnam Pro" pitchFamily="34" charset="0"/>
                <a:ea typeface="Be Vietnam Pro" pitchFamily="34" charset="-122"/>
                <a:cs typeface="Be Vietnam Pro" pitchFamily="34" charset="-120"/>
              </a:rPr>
              <a:t>Product Goal:</a:t>
            </a:r>
            <a:r>
              <a:rPr lang="en-US" sz="1300" dirty="0">
                <a:solidFill>
                  <a:srgbClr val="FFFFFF"/>
                </a:solidFill>
                <a:latin typeface="Be Vietnam Pro" pitchFamily="34" charset="0"/>
                <a:ea typeface="Be Vietnam Pro" pitchFamily="34" charset="-122"/>
                <a:cs typeface="Be Vietnam Pro" pitchFamily="34" charset="-120"/>
              </a:rPr>
              <a:t> Ban tổ chức mở bán vé cho sự kiện có sơ đồ ghế mà không bao giờ bán trùng ghế hay bán vượt sức chứa, và soát được vé tại cửa kể cả khi mất mạng.</a:t>
            </a:r>
            <a:endParaRPr lang="en-US" sz="1300" dirty="0"/>
          </a:p>
        </p:txBody>
      </p:sp>
      <p:sp>
        <p:nvSpPr>
          <p:cNvPr id="8" name="Shape 6"/>
          <p:cNvSpPr/>
          <p:nvPr/>
        </p:nvSpPr>
        <p:spPr>
          <a:xfrm>
            <a:off x="812800" y="2482800"/>
            <a:ext cx="2011660" cy="1837482"/>
          </a:xfrm>
          <a:prstGeom prst="roundRect">
            <a:avLst>
              <a:gd name="adj" fmla="val 6220"/>
            </a:avLst>
          </a:prstGeom>
          <a:solidFill>
            <a:srgbClr val="EEF0F8"/>
          </a:solidFill>
          <a:ln/>
        </p:spPr>
      </p:sp>
      <p:sp>
        <p:nvSpPr>
          <p:cNvPr id="9" name="Text 7"/>
          <p:cNvSpPr/>
          <p:nvPr/>
        </p:nvSpPr>
        <p:spPr>
          <a:xfrm>
            <a:off x="965200" y="2647900"/>
            <a:ext cx="175806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Sự kiện và sơ đồ ghế</a:t>
            </a:r>
            <a:endParaRPr lang="en-US" sz="1300" dirty="0"/>
          </a:p>
        </p:txBody>
      </p:sp>
      <p:sp>
        <p:nvSpPr>
          <p:cNvPr id="10" name="Text 8"/>
          <p:cNvSpPr/>
          <p:nvPr/>
        </p:nvSpPr>
        <p:spPr>
          <a:xfrm>
            <a:off x="965200" y="2934891"/>
            <a:ext cx="1758066"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Tạo suất diễn, nạp sơ đồ ghế từ tệp JSON, đặt giá theo từng hạng ghế, nhân bản suất diễn.</a:t>
            </a:r>
            <a:endParaRPr lang="en-US" sz="1150" dirty="0"/>
          </a:p>
        </p:txBody>
      </p:sp>
      <p:sp>
        <p:nvSpPr>
          <p:cNvPr id="11" name="Shape 9"/>
          <p:cNvSpPr/>
          <p:nvPr/>
        </p:nvSpPr>
        <p:spPr>
          <a:xfrm>
            <a:off x="2951460" y="2482800"/>
            <a:ext cx="2011710" cy="1837482"/>
          </a:xfrm>
          <a:prstGeom prst="roundRect">
            <a:avLst>
              <a:gd name="adj" fmla="val 6220"/>
            </a:avLst>
          </a:prstGeom>
          <a:solidFill>
            <a:srgbClr val="EEF0F8"/>
          </a:solidFill>
          <a:ln/>
        </p:spPr>
      </p:sp>
      <p:sp>
        <p:nvSpPr>
          <p:cNvPr id="12" name="Text 10"/>
          <p:cNvSpPr/>
          <p:nvPr/>
        </p:nvSpPr>
        <p:spPr>
          <a:xfrm>
            <a:off x="3103860" y="2647900"/>
            <a:ext cx="17581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Chọn ghế và giữ chỗ</a:t>
            </a:r>
            <a:endParaRPr lang="en-US" sz="1300" dirty="0"/>
          </a:p>
        </p:txBody>
      </p:sp>
      <p:sp>
        <p:nvSpPr>
          <p:cNvPr id="13" name="Text 11"/>
          <p:cNvSpPr/>
          <p:nvPr/>
        </p:nvSpPr>
        <p:spPr>
          <a:xfrm>
            <a:off x="3103860" y="2934891"/>
            <a:ext cx="1758117"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Ghế được giữ 10 phút; nhiều người bấm cùng lúc thì chỉ một người thành công; hết hạn thì nhả ghế.</a:t>
            </a:r>
            <a:endParaRPr lang="en-US" sz="1150" dirty="0"/>
          </a:p>
        </p:txBody>
      </p:sp>
      <p:sp>
        <p:nvSpPr>
          <p:cNvPr id="14" name="Shape 12"/>
          <p:cNvSpPr/>
          <p:nvPr/>
        </p:nvSpPr>
        <p:spPr>
          <a:xfrm>
            <a:off x="5090170" y="2482800"/>
            <a:ext cx="2011660" cy="1837482"/>
          </a:xfrm>
          <a:prstGeom prst="roundRect">
            <a:avLst>
              <a:gd name="adj" fmla="val 6220"/>
            </a:avLst>
          </a:prstGeom>
          <a:solidFill>
            <a:srgbClr val="EEF0F8"/>
          </a:solidFill>
          <a:ln/>
        </p:spPr>
      </p:sp>
      <p:sp>
        <p:nvSpPr>
          <p:cNvPr id="15" name="Text 13"/>
          <p:cNvSpPr/>
          <p:nvPr/>
        </p:nvSpPr>
        <p:spPr>
          <a:xfrm>
            <a:off x="5242570" y="2647900"/>
            <a:ext cx="1758066"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Thanh toán và đơn hàng</a:t>
            </a:r>
            <a:endParaRPr lang="en-US" sz="1300" dirty="0"/>
          </a:p>
        </p:txBody>
      </p:sp>
      <p:sp>
        <p:nvSpPr>
          <p:cNvPr id="16" name="Text 14"/>
          <p:cNvSpPr/>
          <p:nvPr/>
        </p:nvSpPr>
        <p:spPr>
          <a:xfrm>
            <a:off x="5242570" y="3132981"/>
            <a:ext cx="1758066"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Cổng sandbox; webhook gửi lại nhiều lần chỉ ghi nhận một; đơn quá hạn thì trả ghế về kho.</a:t>
            </a:r>
            <a:endParaRPr lang="en-US" sz="1150" dirty="0"/>
          </a:p>
        </p:txBody>
      </p:sp>
      <p:sp>
        <p:nvSpPr>
          <p:cNvPr id="17" name="Shape 15"/>
          <p:cNvSpPr/>
          <p:nvPr/>
        </p:nvSpPr>
        <p:spPr>
          <a:xfrm>
            <a:off x="7228830" y="2482800"/>
            <a:ext cx="2011710" cy="1837482"/>
          </a:xfrm>
          <a:prstGeom prst="roundRect">
            <a:avLst>
              <a:gd name="adj" fmla="val 6220"/>
            </a:avLst>
          </a:prstGeom>
          <a:solidFill>
            <a:srgbClr val="EEF0F8"/>
          </a:solidFill>
          <a:ln/>
        </p:spPr>
      </p:sp>
      <p:sp>
        <p:nvSpPr>
          <p:cNvPr id="18" name="Text 16"/>
          <p:cNvSpPr/>
          <p:nvPr/>
        </p:nvSpPr>
        <p:spPr>
          <a:xfrm>
            <a:off x="7381230" y="2647900"/>
            <a:ext cx="17581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Vé QR và soát vé</a:t>
            </a:r>
            <a:endParaRPr lang="en-US" sz="1300" dirty="0"/>
          </a:p>
        </p:txBody>
      </p:sp>
      <p:sp>
        <p:nvSpPr>
          <p:cNvPr id="19" name="Text 17"/>
          <p:cNvSpPr/>
          <p:nvPr/>
        </p:nvSpPr>
        <p:spPr>
          <a:xfrm>
            <a:off x="7381230" y="2934891"/>
            <a:ext cx="1758117"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Vé không làm giả được, mỗi vé soát một lần; soát được khi mất mạng rồi đồng bộ lại không sai.</a:t>
            </a:r>
            <a:endParaRPr lang="en-US" sz="1150" dirty="0"/>
          </a:p>
        </p:txBody>
      </p:sp>
      <p:sp>
        <p:nvSpPr>
          <p:cNvPr id="20" name="Shape 18"/>
          <p:cNvSpPr/>
          <p:nvPr/>
        </p:nvSpPr>
        <p:spPr>
          <a:xfrm>
            <a:off x="9367540" y="2482800"/>
            <a:ext cx="2011660" cy="1837482"/>
          </a:xfrm>
          <a:prstGeom prst="roundRect">
            <a:avLst>
              <a:gd name="adj" fmla="val 6220"/>
            </a:avLst>
          </a:prstGeom>
          <a:solidFill>
            <a:srgbClr val="EEF0F8"/>
          </a:solidFill>
          <a:ln/>
        </p:spPr>
      </p:sp>
      <p:sp>
        <p:nvSpPr>
          <p:cNvPr id="21" name="Text 19"/>
          <p:cNvSpPr/>
          <p:nvPr/>
        </p:nvSpPr>
        <p:spPr>
          <a:xfrm>
            <a:off x="9519940" y="2647900"/>
            <a:ext cx="1758066"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82882"/>
                </a:solidFill>
                <a:latin typeface="Be Vietnam Pro" pitchFamily="34" charset="0"/>
                <a:ea typeface="Be Vietnam Pro" pitchFamily="34" charset="-122"/>
                <a:cs typeface="Be Vietnam Pro" pitchFamily="34" charset="-120"/>
              </a:rPr>
              <a:t>Phòng chờ, huỷ và hoàn</a:t>
            </a:r>
            <a:endParaRPr lang="en-US" sz="1300" dirty="0"/>
          </a:p>
        </p:txBody>
      </p:sp>
      <p:sp>
        <p:nvSpPr>
          <p:cNvPr id="22" name="Text 20"/>
          <p:cNvSpPr/>
          <p:nvPr/>
        </p:nvSpPr>
        <p:spPr>
          <a:xfrm>
            <a:off x="9519940" y="3132981"/>
            <a:ext cx="1758066"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95959"/>
                </a:solidFill>
                <a:latin typeface="Be Vietnam Pro" pitchFamily="34" charset="0"/>
                <a:ea typeface="Be Vietnam Pro" pitchFamily="34" charset="-122"/>
                <a:cs typeface="Be Vietnam Pro" pitchFamily="34" charset="-120"/>
              </a:rPr>
              <a:t>Hàng đợi khi mở bán đông người; vé huỷ thì hoàn tiền đúng và ghế quay lại kho bán.</a:t>
            </a:r>
            <a:endParaRPr lang="en-US" sz="1150" dirty="0"/>
          </a:p>
        </p:txBody>
      </p:sp>
      <p:sp>
        <p:nvSpPr>
          <p:cNvPr id="23" name="Shape 21"/>
          <p:cNvSpPr/>
          <p:nvPr/>
        </p:nvSpPr>
        <p:spPr>
          <a:xfrm>
            <a:off x="812800" y="4498082"/>
            <a:ext cx="10566400" cy="723900"/>
          </a:xfrm>
          <a:prstGeom prst="roundRect">
            <a:avLst>
              <a:gd name="adj" fmla="val 14035"/>
            </a:avLst>
          </a:prstGeom>
          <a:solidFill>
            <a:srgbClr val="EEF0F8"/>
          </a:solidFill>
          <a:ln/>
        </p:spPr>
      </p:sp>
      <p:sp>
        <p:nvSpPr>
          <p:cNvPr id="24" name="Text 22"/>
          <p:cNvSpPr/>
          <p:nvPr/>
        </p:nvSpPr>
        <p:spPr>
          <a:xfrm>
            <a:off x="1003300" y="4637782"/>
            <a:ext cx="10490962"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595959"/>
                </a:solidFill>
                <a:latin typeface="Be Vietnam Pro" pitchFamily="34" charset="0"/>
                <a:ea typeface="Be Vietnam Pro" pitchFamily="34" charset="-122"/>
                <a:cs typeface="Be Vietnam Pro" pitchFamily="34" charset="-120"/>
              </a:rPr>
              <a:t>Còn có:</a:t>
            </a:r>
            <a:r>
              <a:rPr lang="en-US" sz="1250" dirty="0">
                <a:solidFill>
                  <a:srgbClr val="595959"/>
                </a:solidFill>
                <a:latin typeface="Be Vietnam Pro" pitchFamily="34" charset="0"/>
                <a:ea typeface="Be Vietnam Pro" pitchFamily="34" charset="-122"/>
                <a:cs typeface="Be Vietnam Pro" pitchFamily="34" charset="-120"/>
              </a:rPr>
              <a:t> đối soát doanh thu với cổng thanh toán, báo cáo tồn vé và khách vào cửa. </a:t>
            </a:r>
            <a:r>
              <a:rPr lang="en-US" sz="1250" b="1" dirty="0">
                <a:solidFill>
                  <a:srgbClr val="595959"/>
                </a:solidFill>
                <a:latin typeface="Be Vietnam Pro" pitchFamily="34" charset="0"/>
                <a:ea typeface="Be Vietnam Pro" pitchFamily="34" charset="-122"/>
                <a:cs typeface="Be Vietnam Pro" pitchFamily="34" charset="-120"/>
              </a:rPr>
              <a:t>Ràng buộc:</a:t>
            </a:r>
            <a:r>
              <a:rPr lang="en-US" sz="1250" dirty="0">
                <a:solidFill>
                  <a:srgbClr val="595959"/>
                </a:solidFill>
                <a:latin typeface="Be Vietnam Pro" pitchFamily="34" charset="0"/>
                <a:ea typeface="Be Vietnam Pro" pitchFamily="34" charset="-122"/>
                <a:cs typeface="Be Vietnam Pro" pitchFamily="34" charset="-120"/>
              </a:rPr>
              <a:t> thanh toán chỉ dùng sandbox, không xử lý thẻ thật; dữ liệu người mua vé theo Nghị định 13/2023/NĐ-CP.</a:t>
            </a:r>
            <a:endParaRPr lang="en-US" sz="1250" dirty="0"/>
          </a:p>
        </p:txBody>
      </p:sp>
      <p:sp>
        <p:nvSpPr>
          <p:cNvPr id="25"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26" name="Text 2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Mục tiêu Sprint 1 của mỗi khối</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Tuần đầu tiên · capacity 12 story point cho mỗi nhóm</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592560"/>
          <a:ext cx="10566400" cy="1038225"/>
        </p:xfrm>
        <a:graphic>
          <a:graphicData uri="http://schemas.openxmlformats.org/drawingml/2006/table">
            <a:tbl>
              <a:tblPr/>
              <a:tblGrid>
                <a:gridCol w="1373632"/>
                <a:gridCol w="9192768"/>
              </a:tblGrid>
              <a:tr h="346075">
                <a:tc>
                  <a:txBody>
                    <a:bodyPr/>
                    <a:lstStyle/>
                    <a:p>
                      <a:pPr indent="0" marL="0">
                        <a:lnSpc>
                          <a:spcPts val="1750"/>
                        </a:lnSpc>
                        <a:buNone/>
                      </a:pPr>
                      <a:r>
                        <a:rPr lang="en-US" sz="1250" b="1" dirty="0">
                          <a:solidFill>
                            <a:srgbClr val="FFFFFF"/>
                          </a:solidFill>
                          <a:latin typeface="Be Vietnam Pro" pitchFamily="34" charset="0"/>
                          <a:ea typeface="Be Vietnam Pro" pitchFamily="34" charset="-122"/>
                          <a:cs typeface="Be Vietnam Pro" pitchFamily="34" charset="-120"/>
                        </a:rPr>
                        <a:t>Khối</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c>
                  <a:txBody>
                    <a:bodyPr/>
                    <a:lstStyle/>
                    <a:p>
                      <a:pPr indent="0" marL="0">
                        <a:lnSpc>
                          <a:spcPts val="1750"/>
                        </a:lnSpc>
                        <a:buNone/>
                      </a:pPr>
                      <a:r>
                        <a:rPr lang="en-US" sz="1250" b="1" dirty="0">
                          <a:solidFill>
                            <a:srgbClr val="FFFFFF"/>
                          </a:solidFill>
                          <a:latin typeface="Be Vietnam Pro" pitchFamily="34" charset="0"/>
                          <a:ea typeface="Be Vietnam Pro" pitchFamily="34" charset="-122"/>
                          <a:cs typeface="Be Vietnam Pro" pitchFamily="34" charset="-120"/>
                        </a:rPr>
                        <a:t>Sprint Goal 1</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282882"/>
                    </a:solidFill>
                  </a:tcPr>
                </a:tc>
              </a:tr>
              <a:tr h="346075">
                <a:tc>
                  <a:txBody>
                    <a:bodyPr/>
                    <a:lstStyle/>
                    <a:p>
                      <a:pPr indent="0" marL="0">
                        <a:lnSpc>
                          <a:spcPts val="1750"/>
                        </a:lnSpc>
                        <a:buNone/>
                      </a:pPr>
                      <a:r>
                        <a:rPr lang="en-US" sz="1250" dirty="0">
                          <a:solidFill>
                            <a:srgbClr val="282882"/>
                          </a:solidFill>
                          <a:latin typeface="Be Vietnam Pro" pitchFamily="34" charset="0"/>
                          <a:ea typeface="Be Vietnam Pro" pitchFamily="34" charset="-122"/>
                          <a:cs typeface="Be Vietnam Pro" pitchFamily="34" charset="-120"/>
                        </a:rPr>
                        <a:t>Khối 18</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c>
                  <a:txBody>
                    <a:bodyPr/>
                    <a:lstStyle/>
                    <a:p>
                      <a:pPr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Vùng trồng khai báo được thửa đất của mình và ghi nhận được lô thu hoạch đầu tiên</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tcPr>
                </a:tc>
              </a:tr>
              <a:tr h="346075">
                <a:tc>
                  <a:txBody>
                    <a:bodyPr/>
                    <a:lstStyle/>
                    <a:p>
                      <a:pPr indent="0" marL="0">
                        <a:lnSpc>
                          <a:spcPts val="1750"/>
                        </a:lnSpc>
                        <a:buNone/>
                      </a:pPr>
                      <a:r>
                        <a:rPr lang="en-US" sz="1250" dirty="0">
                          <a:solidFill>
                            <a:srgbClr val="282882"/>
                          </a:solidFill>
                          <a:latin typeface="Be Vietnam Pro" pitchFamily="34" charset="0"/>
                          <a:ea typeface="Be Vietnam Pro" pitchFamily="34" charset="-122"/>
                          <a:cs typeface="Be Vietnam Pro" pitchFamily="34" charset="-120"/>
                        </a:rPr>
                        <a:t>Khối 19</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c>
                  <a:txBody>
                    <a:bodyPr/>
                    <a:lstStyle/>
                    <a:p>
                      <a:pPr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Ban tổ chức tạo được sự kiện, suất diễn, và người mua tự đăng ký được tài khoản</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DADADA"/>
                      </a:solidFill>
                      <a:prstDash val="solid"/>
                      <a:round/>
                      <a:headEnd type="none" w="med" len="med"/>
                      <a:tailEnd type="none" w="med" len="med"/>
                    </a:lnL>
                    <a:lnR w="12700" cap="flat" cmpd="sng" algn="ctr">
                      <a:solidFill>
                        <a:srgbClr val="DADADA"/>
                      </a:solidFill>
                      <a:prstDash val="solid"/>
                      <a:round/>
                      <a:headEnd type="none" w="med" len="med"/>
                      <a:tailEnd type="none" w="med" len="med"/>
                    </a:lnR>
                    <a:lnT w="12700" cap="flat" cmpd="sng" algn="ctr">
                      <a:solidFill>
                        <a:srgbClr val="DADADA"/>
                      </a:solidFill>
                      <a:prstDash val="solid"/>
                      <a:round/>
                      <a:headEnd type="none" w="med" len="med"/>
                      <a:tailEnd type="none" w="med" len="med"/>
                    </a:lnT>
                    <a:lnB w="12700" cap="flat" cmpd="sng" algn="ctr">
                      <a:solidFill>
                        <a:srgbClr val="DADADA"/>
                      </a:solidFill>
                      <a:prstDash val="solid"/>
                      <a:round/>
                      <a:headEnd type="none" w="med" len="med"/>
                      <a:tailEnd type="none" w="med" len="med"/>
                    </a:lnB>
                    <a:solidFill>
                      <a:srgbClr val="EEF0F8"/>
                    </a:solidFill>
                  </a:tcPr>
                </a:tc>
              </a:tr>
            </a:tbl>
          </a:graphicData>
        </a:graphic>
      </p:graphicFrame>
      <p:sp>
        <p:nvSpPr>
          <p:cNvPr id="5" name="Shape 2"/>
          <p:cNvSpPr/>
          <p:nvPr/>
        </p:nvSpPr>
        <p:spPr>
          <a:xfrm>
            <a:off x="812800" y="3107035"/>
            <a:ext cx="3403600" cy="1352550"/>
          </a:xfrm>
          <a:prstGeom prst="roundRect">
            <a:avLst>
              <a:gd name="adj" fmla="val 9390"/>
            </a:avLst>
          </a:prstGeom>
          <a:solidFill>
            <a:srgbClr val="EEF0F8"/>
          </a:solidFill>
          <a:ln/>
        </p:spPr>
      </p:sp>
      <p:sp>
        <p:nvSpPr>
          <p:cNvPr id="6" name="Text 3"/>
          <p:cNvSpPr/>
          <p:nvPr/>
        </p:nvSpPr>
        <p:spPr>
          <a:xfrm>
            <a:off x="1028700" y="3297535"/>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Chạy ở đâu</a:t>
            </a:r>
            <a:endParaRPr lang="en-US" sz="1500" dirty="0"/>
          </a:p>
        </p:txBody>
      </p:sp>
      <p:sp>
        <p:nvSpPr>
          <p:cNvPr id="7" name="Text 4"/>
          <p:cNvSpPr/>
          <p:nvPr/>
        </p:nvSpPr>
        <p:spPr>
          <a:xfrm>
            <a:off x="1028700" y="3602335"/>
            <a:ext cx="3060954"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Tuần này chỉ cần chạy trên máy cá nhân. Chưa cần staging, chưa cần CI/CD.</a:t>
            </a:r>
            <a:endParaRPr lang="en-US" sz="1250" dirty="0"/>
          </a:p>
        </p:txBody>
      </p:sp>
      <p:sp>
        <p:nvSpPr>
          <p:cNvPr id="8" name="Shape 5"/>
          <p:cNvSpPr/>
          <p:nvPr/>
        </p:nvSpPr>
        <p:spPr>
          <a:xfrm>
            <a:off x="4394200" y="3107035"/>
            <a:ext cx="3403600" cy="1352550"/>
          </a:xfrm>
          <a:prstGeom prst="roundRect">
            <a:avLst>
              <a:gd name="adj" fmla="val 9390"/>
            </a:avLst>
          </a:prstGeom>
          <a:solidFill>
            <a:srgbClr val="EEF0F8"/>
          </a:solidFill>
          <a:ln/>
        </p:spPr>
      </p:sp>
      <p:sp>
        <p:nvSpPr>
          <p:cNvPr id="9" name="Text 6"/>
          <p:cNvSpPr/>
          <p:nvPr/>
        </p:nvSpPr>
        <p:spPr>
          <a:xfrm>
            <a:off x="4610100" y="3297535"/>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Phạm vi</a:t>
            </a:r>
            <a:endParaRPr lang="en-US" sz="1500" dirty="0"/>
          </a:p>
        </p:txBody>
      </p:sp>
      <p:sp>
        <p:nvSpPr>
          <p:cNvPr id="10" name="Text 7"/>
          <p:cNvSpPr/>
          <p:nvPr/>
        </p:nvSpPr>
        <p:spPr>
          <a:xfrm>
            <a:off x="4610100" y="3602335"/>
            <a:ext cx="3060954"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Chỉ làm dữ liệu gốc của khối mình. Chưa động vào phần nghiệp vụ phức tạp phía sau.</a:t>
            </a:r>
            <a:endParaRPr lang="en-US" sz="1250" dirty="0"/>
          </a:p>
        </p:txBody>
      </p:sp>
      <p:sp>
        <p:nvSpPr>
          <p:cNvPr id="11" name="Shape 8"/>
          <p:cNvSpPr/>
          <p:nvPr/>
        </p:nvSpPr>
        <p:spPr>
          <a:xfrm>
            <a:off x="7975600" y="3107035"/>
            <a:ext cx="3403600" cy="1352550"/>
          </a:xfrm>
          <a:prstGeom prst="roundRect">
            <a:avLst>
              <a:gd name="adj" fmla="val 9390"/>
            </a:avLst>
          </a:prstGeom>
          <a:solidFill>
            <a:srgbClr val="F04E23"/>
          </a:solidFill>
          <a:ln/>
        </p:spPr>
      </p:sp>
      <p:sp>
        <p:nvSpPr>
          <p:cNvPr id="12" name="Text 9"/>
          <p:cNvSpPr/>
          <p:nvPr/>
        </p:nvSpPr>
        <p:spPr>
          <a:xfrm>
            <a:off x="8191500" y="3297535"/>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Be Vietnam Pro" pitchFamily="34" charset="0"/>
                <a:ea typeface="Be Vietnam Pro" pitchFamily="34" charset="-122"/>
                <a:cs typeface="Be Vietnam Pro" pitchFamily="34" charset="-120"/>
              </a:rPr>
              <a:t>Cuối sprint</a:t>
            </a:r>
            <a:endParaRPr lang="en-US" sz="1500" dirty="0"/>
          </a:p>
        </p:txBody>
      </p:sp>
      <p:sp>
        <p:nvSpPr>
          <p:cNvPr id="13" name="Text 10"/>
          <p:cNvSpPr/>
          <p:nvPr/>
        </p:nvSpPr>
        <p:spPr>
          <a:xfrm>
            <a:off x="8191500" y="3602335"/>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Be Vietnam Pro" pitchFamily="34" charset="0"/>
                <a:ea typeface="Be Vietnam Pro" pitchFamily="34" charset="-122"/>
                <a:cs typeface="Be Vietnam Pro" pitchFamily="34" charset="-120"/>
              </a:rPr>
              <a:t>Demo trực tiếp cho Mentor: thêm, sửa, xem lại dữ liệu vừa tạo.</a:t>
            </a:r>
            <a:endParaRPr lang="en-US" sz="1250" dirty="0"/>
          </a:p>
        </p:txBody>
      </p:sp>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15" name="Text 12"/>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604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282882"/>
                </a:solidFill>
                <a:latin typeface="Be Vietnam Pro" pitchFamily="34" charset="0"/>
                <a:ea typeface="Be Vietnam Pro" pitchFamily="34" charset="-122"/>
                <a:cs typeface="Be Vietnam Pro" pitchFamily="34" charset="-120"/>
              </a:rPr>
              <a:t>Sáu việc của Sprint 1</a:t>
            </a:r>
            <a:endParaRPr lang="en-US" sz="2800" dirty="0"/>
          </a:p>
        </p:txBody>
      </p:sp>
      <p:sp>
        <p:nvSpPr>
          <p:cNvPr id="3" name="Text 1"/>
          <p:cNvSpPr/>
          <p:nvPr/>
        </p:nvSpPr>
        <p:spPr>
          <a:xfrm>
            <a:off x="812800" y="1132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8A8A"/>
                </a:solidFill>
                <a:latin typeface="Be Vietnam Pro" pitchFamily="34" charset="0"/>
                <a:ea typeface="Be Vietnam Pro" pitchFamily="34" charset="-122"/>
                <a:cs typeface="Be Vietnam Pro" pitchFamily="34" charset="-120"/>
              </a:rPr>
              <a:t>Giống nhau ở cả hai khối; nhóm chia người ngay trong buổi Planning</a:t>
            </a:r>
            <a:endParaRPr lang="en-US" sz="1300" dirty="0"/>
          </a:p>
        </p:txBody>
      </p:sp>
      <p:sp>
        <p:nvSpPr>
          <p:cNvPr id="4" name="Shape 2"/>
          <p:cNvSpPr/>
          <p:nvPr/>
        </p:nvSpPr>
        <p:spPr>
          <a:xfrm>
            <a:off x="812800" y="1592560"/>
            <a:ext cx="3403600" cy="1466850"/>
          </a:xfrm>
          <a:prstGeom prst="roundRect">
            <a:avLst>
              <a:gd name="adj" fmla="val 8658"/>
            </a:avLst>
          </a:prstGeom>
          <a:solidFill>
            <a:srgbClr val="EEF0F8"/>
          </a:solidFill>
          <a:ln/>
        </p:spPr>
      </p:sp>
      <p:sp>
        <p:nvSpPr>
          <p:cNvPr id="5" name="Shape 3"/>
          <p:cNvSpPr/>
          <p:nvPr/>
        </p:nvSpPr>
        <p:spPr>
          <a:xfrm>
            <a:off x="1016000" y="1795760"/>
            <a:ext cx="304800" cy="304800"/>
          </a:xfrm>
          <a:prstGeom prst="roundRect">
            <a:avLst>
              <a:gd name="adj" fmla="val 50000"/>
            </a:avLst>
          </a:prstGeom>
          <a:solidFill>
            <a:srgbClr val="282882"/>
          </a:solidFill>
          <a:ln/>
        </p:spPr>
      </p:sp>
      <p:sp>
        <p:nvSpPr>
          <p:cNvPr id="6" name="Text 4"/>
          <p:cNvSpPr/>
          <p:nvPr/>
        </p:nvSpPr>
        <p:spPr>
          <a:xfrm>
            <a:off x="1136749" y="1841500"/>
            <a:ext cx="1140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1</a:t>
            </a:r>
            <a:endParaRPr lang="en-US" sz="1200" dirty="0"/>
          </a:p>
        </p:txBody>
      </p:sp>
      <p:sp>
        <p:nvSpPr>
          <p:cNvPr id="7" name="Text 5"/>
          <p:cNvSpPr/>
          <p:nvPr/>
        </p:nvSpPr>
        <p:spPr>
          <a:xfrm>
            <a:off x="1422400" y="1833860"/>
            <a:ext cx="11759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Setup dự án</a:t>
            </a:r>
            <a:endParaRPr lang="en-US" sz="1500" dirty="0"/>
          </a:p>
        </p:txBody>
      </p:sp>
      <p:sp>
        <p:nvSpPr>
          <p:cNvPr id="8" name="Text 6"/>
          <p:cNvSpPr/>
          <p:nvPr/>
        </p:nvSpPr>
        <p:spPr>
          <a:xfrm>
            <a:off x="1016000" y="218946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Tạo repo trên GitHub, khởi tạo khung backend và frontend, ai cũng chạy được trên máy mình</a:t>
            </a:r>
            <a:endParaRPr lang="en-US" sz="1250" dirty="0"/>
          </a:p>
        </p:txBody>
      </p:sp>
      <p:sp>
        <p:nvSpPr>
          <p:cNvPr id="9" name="Shape 7"/>
          <p:cNvSpPr/>
          <p:nvPr/>
        </p:nvSpPr>
        <p:spPr>
          <a:xfrm>
            <a:off x="4394200" y="1592560"/>
            <a:ext cx="3403600" cy="1466850"/>
          </a:xfrm>
          <a:prstGeom prst="roundRect">
            <a:avLst>
              <a:gd name="adj" fmla="val 8658"/>
            </a:avLst>
          </a:prstGeom>
          <a:solidFill>
            <a:srgbClr val="EEF0F8"/>
          </a:solidFill>
          <a:ln/>
        </p:spPr>
      </p:sp>
      <p:sp>
        <p:nvSpPr>
          <p:cNvPr id="10" name="Shape 8"/>
          <p:cNvSpPr/>
          <p:nvPr/>
        </p:nvSpPr>
        <p:spPr>
          <a:xfrm>
            <a:off x="4597400" y="1795760"/>
            <a:ext cx="304800" cy="304800"/>
          </a:xfrm>
          <a:prstGeom prst="roundRect">
            <a:avLst>
              <a:gd name="adj" fmla="val 50000"/>
            </a:avLst>
          </a:prstGeom>
          <a:solidFill>
            <a:srgbClr val="282882"/>
          </a:solidFill>
          <a:ln/>
        </p:spPr>
      </p:sp>
      <p:sp>
        <p:nvSpPr>
          <p:cNvPr id="11" name="Text 9"/>
          <p:cNvSpPr/>
          <p:nvPr/>
        </p:nvSpPr>
        <p:spPr>
          <a:xfrm>
            <a:off x="4699496" y="1841500"/>
            <a:ext cx="1514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2</a:t>
            </a:r>
            <a:endParaRPr lang="en-US" sz="1200" dirty="0"/>
          </a:p>
        </p:txBody>
      </p:sp>
      <p:sp>
        <p:nvSpPr>
          <p:cNvPr id="12" name="Text 10"/>
          <p:cNvSpPr/>
          <p:nvPr/>
        </p:nvSpPr>
        <p:spPr>
          <a:xfrm>
            <a:off x="5003800" y="1833860"/>
            <a:ext cx="16695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Quy ước làm việc</a:t>
            </a:r>
            <a:endParaRPr lang="en-US" sz="1500" dirty="0"/>
          </a:p>
        </p:txBody>
      </p:sp>
      <p:sp>
        <p:nvSpPr>
          <p:cNvPr id="13" name="Text 11"/>
          <p:cNvSpPr/>
          <p:nvPr/>
        </p:nvSpPr>
        <p:spPr>
          <a:xfrm>
            <a:off x="4597400" y="218946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Thống nhất cách đặt tên nhánh, commit, mở pull request và ai review; viết vào README</a:t>
            </a:r>
            <a:endParaRPr lang="en-US" sz="1250" dirty="0"/>
          </a:p>
        </p:txBody>
      </p:sp>
      <p:sp>
        <p:nvSpPr>
          <p:cNvPr id="14" name="Shape 12"/>
          <p:cNvSpPr/>
          <p:nvPr/>
        </p:nvSpPr>
        <p:spPr>
          <a:xfrm>
            <a:off x="7975600" y="1592560"/>
            <a:ext cx="3403600" cy="1466850"/>
          </a:xfrm>
          <a:prstGeom prst="roundRect">
            <a:avLst>
              <a:gd name="adj" fmla="val 8658"/>
            </a:avLst>
          </a:prstGeom>
          <a:solidFill>
            <a:srgbClr val="EEF0F8"/>
          </a:solidFill>
          <a:ln/>
        </p:spPr>
      </p:sp>
      <p:sp>
        <p:nvSpPr>
          <p:cNvPr id="15" name="Shape 13"/>
          <p:cNvSpPr/>
          <p:nvPr/>
        </p:nvSpPr>
        <p:spPr>
          <a:xfrm>
            <a:off x="8178800" y="1795760"/>
            <a:ext cx="304800" cy="304800"/>
          </a:xfrm>
          <a:prstGeom prst="roundRect">
            <a:avLst>
              <a:gd name="adj" fmla="val 50000"/>
            </a:avLst>
          </a:prstGeom>
          <a:solidFill>
            <a:srgbClr val="282882"/>
          </a:solidFill>
          <a:ln/>
        </p:spPr>
      </p:sp>
      <p:sp>
        <p:nvSpPr>
          <p:cNvPr id="16" name="Text 14"/>
          <p:cNvSpPr/>
          <p:nvPr/>
        </p:nvSpPr>
        <p:spPr>
          <a:xfrm>
            <a:off x="8279805" y="1841500"/>
            <a:ext cx="1535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3</a:t>
            </a:r>
            <a:endParaRPr lang="en-US" sz="1200" dirty="0"/>
          </a:p>
        </p:txBody>
      </p:sp>
      <p:sp>
        <p:nvSpPr>
          <p:cNvPr id="17" name="Text 15"/>
          <p:cNvSpPr/>
          <p:nvPr/>
        </p:nvSpPr>
        <p:spPr>
          <a:xfrm>
            <a:off x="8585200" y="1833860"/>
            <a:ext cx="12565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Cơ sở dữ liệu</a:t>
            </a:r>
            <a:endParaRPr lang="en-US" sz="1500" dirty="0"/>
          </a:p>
        </p:txBody>
      </p:sp>
      <p:sp>
        <p:nvSpPr>
          <p:cNvPr id="18" name="Text 16"/>
          <p:cNvSpPr/>
          <p:nvPr/>
        </p:nvSpPr>
        <p:spPr>
          <a:xfrm>
            <a:off x="8178800" y="218946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Thiết kế bảng cho đúng phạm vi sprint 1, viết script tạo bảng và một ít dữ liệu mẫu</a:t>
            </a:r>
            <a:endParaRPr lang="en-US" sz="1250" dirty="0"/>
          </a:p>
        </p:txBody>
      </p:sp>
      <p:sp>
        <p:nvSpPr>
          <p:cNvPr id="19" name="Shape 17"/>
          <p:cNvSpPr/>
          <p:nvPr/>
        </p:nvSpPr>
        <p:spPr>
          <a:xfrm>
            <a:off x="812800" y="3237210"/>
            <a:ext cx="3403600" cy="1466850"/>
          </a:xfrm>
          <a:prstGeom prst="roundRect">
            <a:avLst>
              <a:gd name="adj" fmla="val 8658"/>
            </a:avLst>
          </a:prstGeom>
          <a:solidFill>
            <a:srgbClr val="EEF0F8"/>
          </a:solidFill>
          <a:ln/>
        </p:spPr>
      </p:sp>
      <p:sp>
        <p:nvSpPr>
          <p:cNvPr id="20" name="Shape 18"/>
          <p:cNvSpPr/>
          <p:nvPr/>
        </p:nvSpPr>
        <p:spPr>
          <a:xfrm>
            <a:off x="1016000" y="3440410"/>
            <a:ext cx="304800" cy="304800"/>
          </a:xfrm>
          <a:prstGeom prst="roundRect">
            <a:avLst>
              <a:gd name="adj" fmla="val 50000"/>
            </a:avLst>
          </a:prstGeom>
          <a:solidFill>
            <a:srgbClr val="282882"/>
          </a:solidFill>
          <a:ln/>
        </p:spPr>
      </p:sp>
      <p:sp>
        <p:nvSpPr>
          <p:cNvPr id="21" name="Text 19"/>
          <p:cNvSpPr/>
          <p:nvPr/>
        </p:nvSpPr>
        <p:spPr>
          <a:xfrm>
            <a:off x="1113830" y="3486150"/>
            <a:ext cx="1599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4</a:t>
            </a:r>
            <a:endParaRPr lang="en-US" sz="1200" dirty="0"/>
          </a:p>
        </p:txBody>
      </p:sp>
      <p:sp>
        <p:nvSpPr>
          <p:cNvPr id="22" name="Text 20"/>
          <p:cNvSpPr/>
          <p:nvPr/>
        </p:nvSpPr>
        <p:spPr>
          <a:xfrm>
            <a:off x="1422400" y="3478510"/>
            <a:ext cx="23086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Đăng nhập, phân quyền</a:t>
            </a:r>
            <a:endParaRPr lang="en-US" sz="1500" dirty="0"/>
          </a:p>
        </p:txBody>
      </p:sp>
      <p:sp>
        <p:nvSpPr>
          <p:cNvPr id="23" name="Text 21"/>
          <p:cNvSpPr/>
          <p:nvPr/>
        </p:nvSpPr>
        <p:spPr>
          <a:xfrm>
            <a:off x="1016000" y="383411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Tài khoản và vai trò ở mức cơ bản, đủ để mỗi vai trò chỉ thấy phần việc của mình</a:t>
            </a:r>
            <a:endParaRPr lang="en-US" sz="1250" dirty="0"/>
          </a:p>
        </p:txBody>
      </p:sp>
      <p:sp>
        <p:nvSpPr>
          <p:cNvPr id="24" name="Shape 22"/>
          <p:cNvSpPr/>
          <p:nvPr/>
        </p:nvSpPr>
        <p:spPr>
          <a:xfrm>
            <a:off x="4394200" y="3237210"/>
            <a:ext cx="3403600" cy="1466850"/>
          </a:xfrm>
          <a:prstGeom prst="roundRect">
            <a:avLst>
              <a:gd name="adj" fmla="val 8658"/>
            </a:avLst>
          </a:prstGeom>
          <a:solidFill>
            <a:srgbClr val="EEF0F8"/>
          </a:solidFill>
          <a:ln/>
        </p:spPr>
      </p:sp>
      <p:sp>
        <p:nvSpPr>
          <p:cNvPr id="25" name="Shape 23"/>
          <p:cNvSpPr/>
          <p:nvPr/>
        </p:nvSpPr>
        <p:spPr>
          <a:xfrm>
            <a:off x="4597400" y="3440410"/>
            <a:ext cx="304800" cy="304800"/>
          </a:xfrm>
          <a:prstGeom prst="roundRect">
            <a:avLst>
              <a:gd name="adj" fmla="val 50000"/>
            </a:avLst>
          </a:prstGeom>
          <a:solidFill>
            <a:srgbClr val="282882"/>
          </a:solidFill>
          <a:ln/>
        </p:spPr>
      </p:sp>
      <p:sp>
        <p:nvSpPr>
          <p:cNvPr id="26" name="Text 24"/>
          <p:cNvSpPr/>
          <p:nvPr/>
        </p:nvSpPr>
        <p:spPr>
          <a:xfrm>
            <a:off x="4698405" y="3486150"/>
            <a:ext cx="1535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5</a:t>
            </a:r>
            <a:endParaRPr lang="en-US" sz="1200" dirty="0"/>
          </a:p>
        </p:txBody>
      </p:sp>
      <p:sp>
        <p:nvSpPr>
          <p:cNvPr id="27" name="Text 25"/>
          <p:cNvSpPr/>
          <p:nvPr/>
        </p:nvSpPr>
        <p:spPr>
          <a:xfrm>
            <a:off x="5003800" y="3478510"/>
            <a:ext cx="171524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Màn hình đầu tiên</a:t>
            </a:r>
            <a:endParaRPr lang="en-US" sz="1500" dirty="0"/>
          </a:p>
        </p:txBody>
      </p:sp>
      <p:sp>
        <p:nvSpPr>
          <p:cNvPr id="28" name="Text 26"/>
          <p:cNvSpPr/>
          <p:nvPr/>
        </p:nvSpPr>
        <p:spPr>
          <a:xfrm>
            <a:off x="4597400" y="383411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Thêm, sửa, xem danh sách dữ liệu gốc của khối mình — đúng theo Sprint Goal 1</a:t>
            </a:r>
            <a:endParaRPr lang="en-US" sz="1250" dirty="0"/>
          </a:p>
        </p:txBody>
      </p:sp>
      <p:sp>
        <p:nvSpPr>
          <p:cNvPr id="29" name="Shape 27"/>
          <p:cNvSpPr/>
          <p:nvPr/>
        </p:nvSpPr>
        <p:spPr>
          <a:xfrm>
            <a:off x="7975600" y="3237210"/>
            <a:ext cx="3403600" cy="1466850"/>
          </a:xfrm>
          <a:prstGeom prst="roundRect">
            <a:avLst>
              <a:gd name="adj" fmla="val 8658"/>
            </a:avLst>
          </a:prstGeom>
          <a:solidFill>
            <a:srgbClr val="EEF0F8"/>
          </a:solidFill>
          <a:ln/>
        </p:spPr>
      </p:sp>
      <p:sp>
        <p:nvSpPr>
          <p:cNvPr id="30" name="Shape 28"/>
          <p:cNvSpPr/>
          <p:nvPr/>
        </p:nvSpPr>
        <p:spPr>
          <a:xfrm>
            <a:off x="8178800" y="3440410"/>
            <a:ext cx="304800" cy="304800"/>
          </a:xfrm>
          <a:prstGeom prst="roundRect">
            <a:avLst>
              <a:gd name="adj" fmla="val 50000"/>
            </a:avLst>
          </a:prstGeom>
          <a:solidFill>
            <a:srgbClr val="F04E23"/>
          </a:solidFill>
          <a:ln/>
        </p:spPr>
      </p:sp>
      <p:sp>
        <p:nvSpPr>
          <p:cNvPr id="31" name="Text 29"/>
          <p:cNvSpPr/>
          <p:nvPr/>
        </p:nvSpPr>
        <p:spPr>
          <a:xfrm>
            <a:off x="8278366" y="3486150"/>
            <a:ext cx="1564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6</a:t>
            </a:r>
            <a:endParaRPr lang="en-US" sz="1200" dirty="0"/>
          </a:p>
        </p:txBody>
      </p:sp>
      <p:sp>
        <p:nvSpPr>
          <p:cNvPr id="32" name="Text 30"/>
          <p:cNvSpPr/>
          <p:nvPr/>
        </p:nvSpPr>
        <p:spPr>
          <a:xfrm>
            <a:off x="8585200" y="3478510"/>
            <a:ext cx="1466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82882"/>
                </a:solidFill>
                <a:latin typeface="Be Vietnam Pro" pitchFamily="34" charset="0"/>
                <a:ea typeface="Be Vietnam Pro" pitchFamily="34" charset="-122"/>
                <a:cs typeface="Be Vietnam Pro" pitchFamily="34" charset="-120"/>
              </a:rPr>
              <a:t>Chuẩn bị demo</a:t>
            </a:r>
            <a:endParaRPr lang="en-US" sz="1500" dirty="0"/>
          </a:p>
        </p:txBody>
      </p:sp>
      <p:sp>
        <p:nvSpPr>
          <p:cNvPr id="33" name="Text 31"/>
          <p:cNvSpPr/>
          <p:nvPr/>
        </p:nvSpPr>
        <p:spPr>
          <a:xfrm>
            <a:off x="8178800" y="3834110"/>
            <a:ext cx="3087116"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95959"/>
                </a:solidFill>
                <a:latin typeface="Be Vietnam Pro" pitchFamily="34" charset="0"/>
                <a:ea typeface="Be Vietnam Pro" pitchFamily="34" charset="-122"/>
                <a:cs typeface="Be Vietnam Pro" pitchFamily="34" charset="-120"/>
              </a:rPr>
              <a:t>Viết kịch bản demo vài bước, chạy thử trước trên máy người sẽ trình bày với Mentor</a:t>
            </a:r>
            <a:endParaRPr lang="en-US" sz="1250" dirty="0"/>
          </a:p>
        </p:txBody>
      </p:sp>
      <p:sp>
        <p:nvSpPr>
          <p:cNvPr id="34" name="Text 3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CodeGym · Hướng dẫn Thực tập cơ sở tại ICTU</a:t>
            </a:r>
            <a:endParaRPr lang="en-US" sz="1200" dirty="0"/>
          </a:p>
        </p:txBody>
      </p:sp>
      <p:sp>
        <p:nvSpPr>
          <p:cNvPr id="35" name="Text 3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Be Vietnam Pro" pitchFamily="34" charset="0"/>
                <a:ea typeface="Be Vietnam Pro" pitchFamily="34" charset="-122"/>
                <a:cs typeface="Be Vietnam Pr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82882"/>
        </a:solidFill>
      </p:bgPr>
    </p:bg>
    <p:spTree>
      <p:nvGrpSpPr>
        <p:cNvPr id="1" name=""/>
        <p:cNvGrpSpPr/>
        <p:nvPr/>
      </p:nvGrpSpPr>
      <p:grpSpPr>
        <a:xfrm>
          <a:off x="0" y="0"/>
          <a:ext cx="0" cy="0"/>
          <a:chOff x="0" y="0"/>
          <a:chExt cx="0" cy="0"/>
        </a:xfrm>
      </p:grpSpPr>
      <p:pic>
        <p:nvPicPr>
          <p:cNvPr id="2" name="Image 0" descr="Logo CodeGym">    </p:cNvPr>
          <p:cNvPicPr>
            <a:picLocks noChangeAspect="1"/>
          </p:cNvPicPr>
          <p:nvPr/>
        </p:nvPicPr>
        <p:blipFill>
          <a:blip r:embed="rId1"/>
          <a:srcRect l="0" r="0" t="-146" b="-146"/>
          <a:stretch/>
        </p:blipFill>
        <p:spPr>
          <a:xfrm>
            <a:off x="4425950" y="558800"/>
            <a:ext cx="3340100" cy="1098550"/>
          </a:xfrm>
          <a:prstGeom prst="rect">
            <a:avLst/>
          </a:prstGeom>
        </p:spPr>
      </p:pic>
      <p:sp>
        <p:nvSpPr>
          <p:cNvPr id="3" name="Text 0"/>
          <p:cNvSpPr/>
          <p:nvPr/>
        </p:nvSpPr>
        <p:spPr>
          <a:xfrm>
            <a:off x="4375594" y="2167880"/>
            <a:ext cx="3440763" cy="667990"/>
          </a:xfrm>
          <a:prstGeom prst="rect">
            <a:avLst/>
          </a:prstGeom>
          <a:noFill/>
          <a:ln/>
        </p:spPr>
        <p:txBody>
          <a:bodyPr wrap="square" lIns="0" tIns="0" rIns="0" bIns="0" rtlCol="0" anchor="t">
            <a:normAutofit/>
          </a:bodyPr>
          <a:lstStyle/>
          <a:p>
            <a:pPr algn="ctr" indent="0" marL="0">
              <a:lnSpc>
                <a:spcPts val="5060"/>
              </a:lnSpc>
              <a:buNone/>
            </a:pPr>
            <a:r>
              <a:rPr lang="en-US" sz="4400" b="1" dirty="0">
                <a:solidFill>
                  <a:srgbClr val="FFFFFF"/>
                </a:solidFill>
                <a:latin typeface="Be Vietnam Pro" pitchFamily="34" charset="0"/>
                <a:ea typeface="Be Vietnam Pro" pitchFamily="34" charset="-122"/>
                <a:cs typeface="Be Vietnam Pro" pitchFamily="34" charset="-120"/>
              </a:rPr>
              <a:t>HỎI VÀ ĐÁP</a:t>
            </a:r>
            <a:endParaRPr lang="en-US" sz="4400" dirty="0"/>
          </a:p>
        </p:txBody>
      </p:sp>
      <p:sp>
        <p:nvSpPr>
          <p:cNvPr id="4" name="Text 1"/>
          <p:cNvSpPr/>
          <p:nvPr/>
        </p:nvSpPr>
        <p:spPr>
          <a:xfrm>
            <a:off x="3549599" y="3039070"/>
            <a:ext cx="5092801"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CADCFC"/>
                </a:solidFill>
                <a:latin typeface="Be Vietnam Pro" pitchFamily="34" charset="0"/>
                <a:ea typeface="Be Vietnam Pro" pitchFamily="34" charset="-122"/>
                <a:cs typeface="Be Vietnam Pro" pitchFamily="34" charset="-120"/>
              </a:rPr>
              <a:t>Không có câu hỏi nào là ngớ ngẩn trong tuần đầu tiên</a:t>
            </a:r>
            <a:endParaRPr lang="en-US" sz="1500" dirty="0"/>
          </a:p>
        </p:txBody>
      </p:sp>
      <p:sp>
        <p:nvSpPr>
          <p:cNvPr id="5" name="Shape 2"/>
          <p:cNvSpPr/>
          <p:nvPr/>
        </p:nvSpPr>
        <p:spPr>
          <a:xfrm>
            <a:off x="812800" y="3534370"/>
            <a:ext cx="3403600" cy="1155700"/>
          </a:xfrm>
          <a:prstGeom prst="roundRect">
            <a:avLst>
              <a:gd name="adj" fmla="val 10989"/>
            </a:avLst>
          </a:prstGeom>
          <a:solidFill>
            <a:srgbClr val="FFFFFF">
              <a:alpha val="12000"/>
            </a:srgbClr>
          </a:solidFill>
          <a:ln/>
        </p:spPr>
      </p:sp>
      <p:sp>
        <p:nvSpPr>
          <p:cNvPr id="6" name="Text 3"/>
          <p:cNvSpPr/>
          <p:nvPr/>
        </p:nvSpPr>
        <p:spPr>
          <a:xfrm>
            <a:off x="1028700" y="3737570"/>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4E23"/>
                </a:solidFill>
                <a:latin typeface="Be Vietnam Pro" pitchFamily="34" charset="0"/>
                <a:ea typeface="Be Vietnam Pro" pitchFamily="34" charset="-122"/>
                <a:cs typeface="Be Vietnam Pro" pitchFamily="34" charset="-120"/>
              </a:rPr>
              <a:t>Hỏi ngay bây giờ</a:t>
            </a:r>
            <a:endParaRPr lang="en-US" sz="1500" dirty="0"/>
          </a:p>
        </p:txBody>
      </p:sp>
      <p:sp>
        <p:nvSpPr>
          <p:cNvPr id="7" name="Text 4"/>
          <p:cNvSpPr/>
          <p:nvPr/>
        </p:nvSpPr>
        <p:spPr>
          <a:xfrm>
            <a:off x="1028700" y="4042370"/>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Be Vietnam Pro" pitchFamily="34" charset="0"/>
                <a:ea typeface="Be Vietnam Pro" pitchFamily="34" charset="-122"/>
                <a:cs typeface="Be Vietnam Pro" pitchFamily="34" charset="-120"/>
              </a:rPr>
              <a:t>Bất cứ điều gì chưa rõ về nhóm, khối, LMS, nhật ký hay đề bài dự án.</a:t>
            </a:r>
            <a:endParaRPr lang="en-US" sz="1250" dirty="0"/>
          </a:p>
        </p:txBody>
      </p:sp>
      <p:sp>
        <p:nvSpPr>
          <p:cNvPr id="8" name="Shape 5"/>
          <p:cNvSpPr/>
          <p:nvPr/>
        </p:nvSpPr>
        <p:spPr>
          <a:xfrm>
            <a:off x="4394200" y="3534370"/>
            <a:ext cx="3403600" cy="1155700"/>
          </a:xfrm>
          <a:prstGeom prst="roundRect">
            <a:avLst>
              <a:gd name="adj" fmla="val 10989"/>
            </a:avLst>
          </a:prstGeom>
          <a:solidFill>
            <a:srgbClr val="FFFFFF">
              <a:alpha val="12000"/>
            </a:srgbClr>
          </a:solidFill>
          <a:ln/>
        </p:spPr>
      </p:sp>
      <p:sp>
        <p:nvSpPr>
          <p:cNvPr id="9" name="Text 6"/>
          <p:cNvSpPr/>
          <p:nvPr/>
        </p:nvSpPr>
        <p:spPr>
          <a:xfrm>
            <a:off x="4610100" y="3737570"/>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4E23"/>
                </a:solidFill>
                <a:latin typeface="Be Vietnam Pro" pitchFamily="34" charset="0"/>
                <a:ea typeface="Be Vietnam Pro" pitchFamily="34" charset="-122"/>
                <a:cs typeface="Be Vietnam Pro" pitchFamily="34" charset="-120"/>
              </a:rPr>
              <a:t>Hỏi trên nhóm Zalo</a:t>
            </a:r>
            <a:endParaRPr lang="en-US" sz="1500" dirty="0"/>
          </a:p>
        </p:txBody>
      </p:sp>
      <p:sp>
        <p:nvSpPr>
          <p:cNvPr id="10" name="Text 7"/>
          <p:cNvSpPr/>
          <p:nvPr/>
        </p:nvSpPr>
        <p:spPr>
          <a:xfrm>
            <a:off x="4610100" y="4042370"/>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Be Vietnam Pro" pitchFamily="34" charset="0"/>
                <a:ea typeface="Be Vietnam Pro" pitchFamily="34" charset="-122"/>
                <a:cs typeface="Be Vietnam Pro" pitchFamily="34" charset="-120"/>
              </a:rPr>
              <a:t>Hỏi công khai kèm bối cảnh để cả nhóm cùng đọc được câu trả lời.</a:t>
            </a:r>
            <a:endParaRPr lang="en-US" sz="1250" dirty="0"/>
          </a:p>
        </p:txBody>
      </p:sp>
      <p:sp>
        <p:nvSpPr>
          <p:cNvPr id="11" name="Shape 8"/>
          <p:cNvSpPr/>
          <p:nvPr/>
        </p:nvSpPr>
        <p:spPr>
          <a:xfrm>
            <a:off x="7975600" y="3534370"/>
            <a:ext cx="3403600" cy="1155700"/>
          </a:xfrm>
          <a:prstGeom prst="roundRect">
            <a:avLst>
              <a:gd name="adj" fmla="val 10989"/>
            </a:avLst>
          </a:prstGeom>
          <a:solidFill>
            <a:srgbClr val="FFFFFF">
              <a:alpha val="12000"/>
            </a:srgbClr>
          </a:solidFill>
          <a:ln/>
        </p:spPr>
      </p:sp>
      <p:sp>
        <p:nvSpPr>
          <p:cNvPr id="12" name="Text 9"/>
          <p:cNvSpPr/>
          <p:nvPr/>
        </p:nvSpPr>
        <p:spPr>
          <a:xfrm>
            <a:off x="8191500" y="3737570"/>
            <a:ext cx="30609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4E23"/>
                </a:solidFill>
                <a:latin typeface="Be Vietnam Pro" pitchFamily="34" charset="0"/>
                <a:ea typeface="Be Vietnam Pro" pitchFamily="34" charset="-122"/>
                <a:cs typeface="Be Vietnam Pro" pitchFamily="34" charset="-120"/>
              </a:rPr>
              <a:t>Hỏi ở buổi offline</a:t>
            </a:r>
            <a:endParaRPr lang="en-US" sz="1500" dirty="0"/>
          </a:p>
        </p:txBody>
      </p:sp>
      <p:sp>
        <p:nvSpPr>
          <p:cNvPr id="13" name="Text 10"/>
          <p:cNvSpPr/>
          <p:nvPr/>
        </p:nvSpPr>
        <p:spPr>
          <a:xfrm>
            <a:off x="8191500" y="4042370"/>
            <a:ext cx="306095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Be Vietnam Pro" pitchFamily="34" charset="0"/>
                <a:ea typeface="Be Vietnam Pro" pitchFamily="34" charset="-122"/>
                <a:cs typeface="Be Vietnam Pro" pitchFamily="34" charset="-120"/>
              </a:rPr>
              <a:t>Những vướng mắc cần ngồi cùng nhau mổ xẻ thì để dành cho buổi gặp.</a:t>
            </a:r>
            <a:endParaRPr lang="en-US" sz="1250" dirty="0"/>
          </a:p>
        </p:txBody>
      </p:sp>
      <p:sp>
        <p:nvSpPr>
          <p:cNvPr id="14" name="Text 11"/>
          <p:cNvSpPr/>
          <p:nvPr/>
        </p:nvSpPr>
        <p:spPr>
          <a:xfrm>
            <a:off x="654304" y="5966470"/>
            <a:ext cx="10883392"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CADCFC"/>
                </a:solidFill>
                <a:latin typeface="Be Vietnam Pro" pitchFamily="34" charset="0"/>
                <a:ea typeface="Be Vietnam Pro" pitchFamily="34" charset="-122"/>
                <a:cs typeface="Be Vietnam Pro" pitchFamily="34" charset="-120"/>
              </a:rPr>
              <a:t>Mentor Lê Đình Tuấn · Zalo, điện thoại: 0988 259 782 · Email: tuan.le@codegym.vn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Hướng dẫn TTCS tại ICTU — Khối 18 &amp; 19 (buổi chiều)</dc:title>
  <dc:subject>PptxGenJS Presentation</dc:subject>
  <dc:creator>PptxGenJS</dc:creator>
  <cp:lastModifiedBy>PptxGenJS</cp:lastModifiedBy>
  <cp:revision>1</cp:revision>
  <dcterms:created xsi:type="dcterms:W3CDTF">2026-09-21T03:31:34Z</dcterms:created>
  <dcterms:modified xsi:type="dcterms:W3CDTF">2026-09-21T03:31:34Z</dcterms:modified>
</cp:coreProperties>
</file>