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embeddedFontLst>
    <p:embeddedFont>
      <p:font typeface="Be Vietnam Pro" panose="020B0604020202020204" charset="0"/>
      <p:regular r:id="rId25"/>
      <p:bold r:id="rId26"/>
      <p:italic r:id="rId27"/>
      <p:boldItalic r:id="rId28"/>
    </p:embeddedFont>
    <p:embeddedFont>
      <p:font typeface="JetBrains Mono"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jCVcy9ClNM3I1LJK24R9V1VCsF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BF7263-007E-43C9-8404-5F7C5483B795}">
  <a:tblStyle styleId="{F3BF7263-007E-43C9-8404-5F7C5483B79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Trang bìa. Điền tên dự án, tên nhóm, thời gian thực tập, danh sách thành viên kèm vai trò (Frontend, Backend, Game Developer, QA…), mentor, đơn vị và trường. Nhóm dưới 4 người: xóa dòng thừa; nhóm đông hơn: thêm dòng.</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 name="Google Shape;3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Mở đầu Phần A. Nhóm cử 1–2 người trình bày phần chung.</a:t>
            </a:r>
            <a:endParaRPr/>
          </a:p>
        </p:txBody>
      </p:sp>
      <p:sp>
        <p:nvSpPr>
          <p:cNvPr id="35" name="Google Shape;3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Giới thiệu ngắn gọn bài toán, đối tượng người dùng hoặc người chơi, và mục tiêu nhóm đặt ra từ đầu kỳ. Các mục tiêu ở đây sẽ được đối chiếu lại ở slide "Mục tiêu đầu kỳ ↔ Kết quả thực tế".</a:t>
            </a:r>
            <a:endParaRPr/>
          </a:p>
        </p:txBody>
      </p:sp>
      <p:sp>
        <p:nvSpPr>
          <p:cNvPr id="46" name="Google Shape;4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Trình bày timeline theo sprint (thêm hoặc bớt ô cho đúng số sprint thực tế), mô hình làm việc, công cụ và quy tắc Git nhóm đã áp dụng. Chỉ ghi những gì nhóm thực sự làm.</a:t>
            </a:r>
            <a:endParaRPr/>
          </a:p>
        </p:txBody>
      </p:sp>
      <p:sp>
        <p:nvSpPr>
          <p:cNvPr id="82" name="Google Shape;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Chèn ảnh chụp Product Backlog (Backlog view hoặc Issues filter theo dự án). Số liệu lấy từ Jira: tổng số issue, số issue Done, số còn tồn; tỉ lệ hoàn thành = Done / Tổng. Ghi link board và ngày chụp ở chân slide.</a:t>
            </a:r>
            <a:endParaRPr/>
          </a:p>
        </p:txBody>
      </p:sp>
      <p:sp>
        <p:nvSpPr>
          <p:cNvPr id="127" name="Google Shape;12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Lấy Velocity Chart và Burndown Chart trong Jira › Reports. Bảng liệt kê từng sprint: story point (SP) cam kết, SP hoàn thành, tỉ lệ = hoàn thành / cam kết. Thêm dòng nếu nhiều sprint hơn; nếu bảng quá dài, chỉ giữ các sprint chính và dòng Tổng.</a:t>
            </a:r>
            <a:endParaRPr/>
          </a:p>
        </p:txBody>
      </p:sp>
      <p:sp>
        <p:nvSpPr>
          <p:cNvPr id="157" name="Google Shape;15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Số commit và số dòng code chỉ mang tính tham khảo, không dùng riêng để đánh giá đóng góp. Commit graph cần cho thấy nhóm làm việc đều đặn trong suốt kỳ, không dồn cuối kỳ. Loại trừ merge commit, file sinh tự động và file cấu hình khi đếm dòng.</a:t>
            </a:r>
            <a:endParaRPr/>
          </a:p>
        </p:txBody>
      </p:sp>
      <p:sp>
        <p:nvSpPr>
          <p:cNvPr id="180" name="Google Shape;18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Chứng minh nhóm làm việc theo quy trình chuyên nghiệp: mô hình nhánh, quy ước đặt tên, quy tắc review. Chọn 1 PR có trao đổi review thực chất (góp ý và chỉnh sửa), không chọn PR chỉ có "LGTM".</a:t>
            </a:r>
            <a:endParaRPr/>
          </a:p>
        </p:txBody>
      </p:sp>
      <p:sp>
        <p:nvSpPr>
          <p:cNvPr id="203" name="Google Shape;20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Sản phẩm phải chạy được: nhóm Web ghi link deploy, nhóm Game ghi link bản build. Giữ dòng phù hợp, xóa dòng không dùng. Video demo nên dài 2–3 phút, đi qua các luồng chính. Nếu sản phẩm chưa hoàn thiện, ghi rõ mức độ thật.</a:t>
            </a:r>
            <a:endParaRPr/>
          </a:p>
        </p:txBody>
      </p:sp>
      <p:sp>
        <p:nvSpPr>
          <p:cNvPr id="232" name="Google Shape;23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Giữ bảng Web hoặc bảng Game tùy dự án, xóa bảng không dùng rồi có thể mở rộng bảng còn lại. Sơ đồ kiến trúc nên vẽ đơn giản, thể hiện các thành phần chính và luồng dữ liệu. Nêu ngắn lý do chọn công nghệ nếu hội đồng hỏi.</a:t>
            </a:r>
            <a:endParaRPr/>
          </a:p>
        </p:txBody>
      </p:sp>
      <p:sp>
        <p:nvSpPr>
          <p:cNvPr id="253" name="Google Shape;25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Liệt kê lại đúng các mục tiêu đã nêu ở slide Tổng quan dự án. Với hạng mục "Một phần" hoặc "Chưa làm", ghi ngắn lý do ở cột Kết quả thực tế. Thêm hoặc bớt dòng theo thực tế; nếu quá 7 dòng, tách sang slide thứ hai.</a:t>
            </a:r>
            <a:endParaRPr/>
          </a:p>
        </p:txBody>
      </p:sp>
      <p:sp>
        <p:nvSpPr>
          <p:cNvPr id="274" name="Google Shape;27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Mỗi con số cần có nguồn đo: Jira, công cụ kiểm thử, Lighthouse (Web), Unity Profiler hoặc bộ đếm FPS (Game). Nhóm Web xóa cột Game và ngược lại, rồi ghi kết quả cụ thể ở cột cuối. Không ước lượng nếu chưa đo.</a:t>
            </a:r>
            <a:endParaRPr/>
          </a:p>
        </p:txBody>
      </p:sp>
      <p:sp>
        <p:nvSpPr>
          <p:cNvPr id="292" name="Google Shape;29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Cách tính: với mỗi tiêu chí, quy đổi thành % của từng người trong tổng của cả nhóm (VD: story point của A / tổng story point nhóm). Sau đó nhân trọng số và cộng lại ở cột Tổng; tổng các thành viên = 100%. Chỉnh độ rộng từng đoạn trên thanh ngang theo đúng tỉ lệ cột Tổng. Tỉ lệ phải được mentor xác nhận trước buổi báo cáo.</a:t>
            </a:r>
            <a:endParaRPr/>
          </a:p>
        </p:txBody>
      </p:sp>
      <p:sp>
        <p:nvSpPr>
          <p:cNvPr id="323" name="Google Shape;32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Mỗi thành viên tự trình bày phần của mình. Nhân bản 3 slide tiếp theo (B · 01 đến B · 03) cho từng thành viên, đặt liên tiếp theo thứ tự trình bày.</a:t>
            </a:r>
            <a:endParaRPr/>
          </a:p>
        </p:txBody>
      </p:sp>
      <p:sp>
        <p:nvSpPr>
          <p:cNvPr id="348" name="Google Shape;34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Số liệu cá nhân phải khớp với bảng Git và bảng Tỉ lệ đóng góp ở Phần A. Nêu rõ module nào do mình làm chính, module nào chỉ hỗ trợ. Ghi mã ticket Jira để hội đồng tra cứu khi cần.</a:t>
            </a:r>
            <a:endParaRPr/>
          </a:p>
        </p:txBody>
      </p:sp>
      <p:sp>
        <p:nvSpPr>
          <p:cNvPr id="359" name="Google Shape;35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Chọn 1 bài toán kỹ thuật do chính mình giải quyết, có thể đo được kết quả. Trình bày theo mạch Vấn đề → Giải pháp → Kết quả. Dòng in nghiêng là gợi ý, xóa khi điền nội dung thật. Nếu có 2 đóng góp tiêu biểu, nhân bản slide này.</a:t>
            </a:r>
            <a:endParaRPr/>
          </a:p>
        </p:txBody>
      </p:sp>
      <p:sp>
        <p:nvSpPr>
          <p:cNvPr id="390" name="Google Shape;39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Tự đánh giá theo thang 1–5 (1: chưa biết, 3: làm được có hướng dẫn, 5: làm độc lập và hướng dẫn được người khác). Mỗi dòng cần minh chứng cụ thể. Nhận xét trích từ mentor hoặc code review phải là nhận xét thật, ghi rõ người nhận xét.</a:t>
            </a:r>
            <a:endParaRPr/>
          </a:p>
        </p:txBody>
      </p:sp>
      <p:sp>
        <p:nvSpPr>
          <p:cNvPr id="419" name="Google Shape;41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Phần C do nhóm trình bày chung, kết thúc bằng demo trực tiếp và hỏi đáp.</a:t>
            </a:r>
            <a:endParaRPr/>
          </a:p>
        </p:txBody>
      </p:sp>
      <p:sp>
        <p:nvSpPr>
          <p:cNvPr id="440" name="Google Shape;44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Tóm tắt giá trị trên 3 tầng: sản phẩm và doanh nghiệp, nhóm, cá nhân. Mỗi ý nên dẫn lại minh chứng đã trình bày ở Phần A và B, không đưa thêm thông tin mới chưa chứng minh.</a:t>
            </a:r>
            <a:endParaRPr/>
          </a:p>
        </p:txBody>
      </p:sp>
      <p:sp>
        <p:nvSpPr>
          <p:cNvPr id="451" name="Google Shape;45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5" name="Google Shape;47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Nêu bài học cụ thể, gắn với tình huống thực tế trong dự án, tránh câu chung chung như "học được làm việc nhóm". Phần "Nếu làm lại" thể hiện khả năng tự nhìn nhận và cải tiến.</a:t>
            </a:r>
            <a:endParaRPr/>
          </a:p>
        </p:txBody>
      </p:sp>
      <p:sp>
        <p:nvSpPr>
          <p:cNvPr id="476" name="Google Shape;47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Roadmap sản phẩm nêu những gì có thể làm tiếp nếu dự án được duy trì. Định hướng nghề nghiệp: vị trí mong muốn và kế hoạch 6–12 tháng của từng thành viên, bao gồm nguyện vọng làm việc chính thức nếu có.</a:t>
            </a:r>
            <a:endParaRPr/>
          </a:p>
        </p:txBody>
      </p:sp>
      <p:sp>
        <p:nvSpPr>
          <p:cNvPr id="503" name="Google Shape;50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 trực tiếp các luồng chính, chuẩn bị sẵn tài khoản và dữ liệu mẫu. Luôn có video demo dự phòng trong trường hợp mạng hoặc máy trục trặc.</a:t>
            </a:r>
            <a:endParaRPr/>
          </a:p>
        </p:txBody>
      </p:sp>
      <p:sp>
        <p:nvSpPr>
          <p:cNvPr id="525" name="Google Shape;52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Shape 15"/>
        <p:cNvGrpSpPr/>
        <p:nvPr/>
      </p:nvGrpSpPr>
      <p:grpSpPr>
        <a:xfrm>
          <a:off x="0" y="0"/>
          <a:ext cx="0" cy="0"/>
          <a:chOff x="0" y="0"/>
          <a:chExt cx="0" cy="0"/>
        </a:xfrm>
      </p:grpSpPr>
      <p:sp>
        <p:nvSpPr>
          <p:cNvPr id="16" name="Google Shape;16;p1"/>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BÁO CÁO TỔNG KẾT THỰC TẬP · </a:t>
            </a:r>
            <a:endParaRPr sz="1200" b="0" i="0" u="none" strike="noStrike" cap="none">
              <a:solidFill>
                <a:schemeClr val="dk1"/>
              </a:solidFill>
              <a:latin typeface="Calibri"/>
              <a:ea typeface="Calibri"/>
              <a:cs typeface="Calibri"/>
              <a:sym typeface="Calibri"/>
            </a:endParaRPr>
          </a:p>
        </p:txBody>
      </p:sp>
      <p:sp>
        <p:nvSpPr>
          <p:cNvPr id="17" name="Google Shape;17;p1"/>
          <p:cNvSpPr/>
          <p:nvPr/>
        </p:nvSpPr>
        <p:spPr>
          <a:xfrm>
            <a:off x="812800" y="1178520"/>
            <a:ext cx="10607040" cy="69592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F6F7F4"/>
              </a:buClr>
              <a:buSzPts val="4800"/>
              <a:buFont typeface="Be Vietnam Pro"/>
              <a:buNone/>
            </a:pPr>
            <a:r>
              <a:rPr lang="en-US" sz="2600" b="1" i="0" u="none" strike="noStrike" cap="none">
                <a:solidFill>
                  <a:srgbClr val="F6F7F4"/>
                </a:solidFill>
                <a:latin typeface="Be Vietnam Pro"/>
                <a:ea typeface="Be Vietnam Pro"/>
                <a:cs typeface="Be Vietnam Pro"/>
                <a:sym typeface="Be Vietnam Pro"/>
              </a:rPr>
              <a:t>VietFarm Trace — Truy xuất Nguồn gốc Chuỗi lạnh Nông sản</a:t>
            </a:r>
            <a:endParaRPr sz="4800" b="0" i="0" u="none" strike="noStrike" cap="none">
              <a:solidFill>
                <a:schemeClr val="dk1"/>
              </a:solidFill>
              <a:latin typeface="Calibri"/>
              <a:ea typeface="Calibri"/>
              <a:cs typeface="Calibri"/>
              <a:sym typeface="Calibri"/>
            </a:endParaRPr>
          </a:p>
        </p:txBody>
      </p:sp>
      <p:sp>
        <p:nvSpPr>
          <p:cNvPr id="18" name="Google Shape;18;p1"/>
          <p:cNvSpPr/>
          <p:nvPr/>
        </p:nvSpPr>
        <p:spPr>
          <a:xfrm>
            <a:off x="812800" y="2001441"/>
            <a:ext cx="10883392" cy="345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800"/>
              <a:buFont typeface="Be Vietnam Pro"/>
              <a:buNone/>
            </a:pPr>
            <a:r>
              <a:rPr lang="en-US" sz="1800" b="0" i="0" u="none" strike="noStrike" cap="none">
                <a:solidFill>
                  <a:srgbClr val="BFD0DE"/>
                </a:solidFill>
                <a:latin typeface="Be Vietnam Pro"/>
                <a:ea typeface="Be Vietnam Pro"/>
                <a:cs typeface="Be Vietnam Pro"/>
                <a:sym typeface="Be Vietnam Pro"/>
              </a:rPr>
              <a:t>Nhóm 3 (TTCS_T926_K18C4_N3) · Kỳ thực tập 23/09/2026 – 27/10/2026</a:t>
            </a:r>
            <a:endParaRPr sz="1800" b="0" i="0" u="none" strike="noStrike" cap="none">
              <a:solidFill>
                <a:schemeClr val="dk1"/>
              </a:solidFill>
              <a:latin typeface="Calibri"/>
              <a:ea typeface="Calibri"/>
              <a:cs typeface="Calibri"/>
              <a:sym typeface="Calibri"/>
            </a:endParaRPr>
          </a:p>
        </p:txBody>
      </p:sp>
      <p:pic>
        <p:nvPicPr>
          <p:cNvPr id="19" name="Google Shape;19;p1" descr="line"/>
          <p:cNvPicPr preferRelativeResize="0"/>
          <p:nvPr/>
        </p:nvPicPr>
        <p:blipFill rotWithShape="1">
          <a:blip r:embed="rId3">
            <a:alphaModFix/>
          </a:blip>
          <a:srcRect/>
          <a:stretch/>
        </p:blipFill>
        <p:spPr>
          <a:xfrm>
            <a:off x="812800" y="4310459"/>
            <a:ext cx="1016000" cy="25400"/>
          </a:xfrm>
          <a:prstGeom prst="rect">
            <a:avLst/>
          </a:prstGeom>
          <a:noFill/>
          <a:ln>
            <a:noFill/>
          </a:ln>
        </p:spPr>
      </p:pic>
      <p:sp>
        <p:nvSpPr>
          <p:cNvPr id="20" name="Google Shape;20;p1"/>
          <p:cNvSpPr/>
          <p:nvPr/>
        </p:nvSpPr>
        <p:spPr>
          <a:xfrm>
            <a:off x="812800" y="4589859"/>
            <a:ext cx="512775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THÀNH VIÊN</a:t>
            </a:r>
            <a:endParaRPr sz="1200" b="0" i="0" u="none" strike="noStrike" cap="none">
              <a:solidFill>
                <a:schemeClr val="dk1"/>
              </a:solidFill>
              <a:latin typeface="Calibri"/>
              <a:ea typeface="Calibri"/>
              <a:cs typeface="Calibri"/>
              <a:sym typeface="Calibri"/>
            </a:endParaRPr>
          </a:p>
        </p:txBody>
      </p:sp>
      <p:sp>
        <p:nvSpPr>
          <p:cNvPr id="21" name="Google Shape;21;p1"/>
          <p:cNvSpPr/>
          <p:nvPr/>
        </p:nvSpPr>
        <p:spPr>
          <a:xfrm>
            <a:off x="812800" y="4879380"/>
            <a:ext cx="5257800" cy="1092200"/>
          </a:xfrm>
          <a:prstGeom prst="rect">
            <a:avLst/>
          </a:prstGeom>
          <a:noFill/>
          <a:ln>
            <a:noFill/>
          </a:ln>
        </p:spPr>
        <p:txBody>
          <a:bodyPr spcFirstLastPara="1" wrap="square" lIns="0" tIns="0" rIns="0" bIns="0" anchor="t" anchorCtr="0">
            <a:normAutofit/>
          </a:bodyPr>
          <a:lstStyle/>
          <a:p>
            <a:pPr marL="0" marR="0" lvl="0" indent="0" algn="l" rtl="0">
              <a:lnSpc>
                <a:spcPct val="150000"/>
              </a:lnSpc>
              <a:spcBef>
                <a:spcPts val="0"/>
              </a:spcBef>
              <a:spcAft>
                <a:spcPts val="0"/>
              </a:spcAft>
              <a:buClr>
                <a:srgbClr val="F6F7F4"/>
              </a:buClr>
              <a:buSzPts val="1400"/>
              <a:buFont typeface="Be Vietnam Pro"/>
              <a:buNone/>
            </a:pPr>
            <a:r>
              <a:rPr lang="en-US" sz="1050" b="0" i="0" u="none" strike="noStrike" cap="none">
                <a:solidFill>
                  <a:srgbClr val="F6F7F4"/>
                </a:solidFill>
                <a:latin typeface="Be Vietnam Pro"/>
                <a:ea typeface="Be Vietnam Pro"/>
                <a:cs typeface="Be Vietnam Pro"/>
                <a:sym typeface="Be Vietnam Pro"/>
              </a:rPr>
              <a:t>1. Vũ Hiếu Kiên (Trưởng nhóm) · 2. Đinh Bách Hợp · 3. Lâm Tiến Khởi</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6F7F4"/>
              </a:buClr>
              <a:buSzPts val="1400"/>
              <a:buFont typeface="Be Vietnam Pro"/>
              <a:buNone/>
            </a:pPr>
            <a:r>
              <a:rPr lang="en-US" sz="1050" b="0" i="0" u="none" strike="noStrike" cap="none">
                <a:solidFill>
                  <a:srgbClr val="F6F7F4"/>
                </a:solidFill>
                <a:latin typeface="Be Vietnam Pro"/>
                <a:ea typeface="Be Vietnam Pro"/>
                <a:cs typeface="Be Vietnam Pro"/>
                <a:sym typeface="Be Vietnam Pro"/>
              </a:rPr>
              <a:t>4. Nguyễn Thành Long · 5. Nguyễn Ngọc Linh · 6. Đồng Quốc Khánh</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6F7F4"/>
              </a:buClr>
              <a:buSzPts val="1400"/>
              <a:buFont typeface="Be Vietnam Pro"/>
              <a:buNone/>
            </a:pPr>
            <a:r>
              <a:rPr lang="en-US" sz="1050" b="0" i="0" u="none" strike="noStrike" cap="none">
                <a:solidFill>
                  <a:srgbClr val="F6F7F4"/>
                </a:solidFill>
                <a:latin typeface="Be Vietnam Pro"/>
                <a:ea typeface="Be Vietnam Pro"/>
                <a:cs typeface="Be Vietnam Pro"/>
                <a:sym typeface="Be Vietnam Pro"/>
              </a:rPr>
              <a:t>7. Triệu Văn Nam · 8. Nguyễn Mạnh Kiên · 9. Thân Tuấn Linh</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6F7F4"/>
              </a:buClr>
              <a:buSzPts val="1400"/>
              <a:buFont typeface="Be Vietnam Pro"/>
              <a:buNone/>
            </a:pPr>
            <a:r>
              <a:rPr lang="en-US" sz="1050" b="0" i="0" u="none" strike="noStrike" cap="none">
                <a:solidFill>
                  <a:srgbClr val="F6F7F4"/>
                </a:solidFill>
                <a:latin typeface="Be Vietnam Pro"/>
                <a:ea typeface="Be Vietnam Pro"/>
                <a:cs typeface="Be Vietnam Pro"/>
                <a:sym typeface="Be Vietnam Pro"/>
              </a:rPr>
              <a:t>10. Hoàng Trung Kiên (Lớp CNTT K23C — ĐH CNTT &amp; TT Thái Nguyên)</a:t>
            </a:r>
            <a:endParaRPr sz="1400" b="0" i="0" u="none" strike="noStrike" cap="none">
              <a:solidFill>
                <a:schemeClr val="dk1"/>
              </a:solidFill>
              <a:latin typeface="Calibri"/>
              <a:ea typeface="Calibri"/>
              <a:cs typeface="Calibri"/>
              <a:sym typeface="Calibri"/>
            </a:endParaRPr>
          </a:p>
        </p:txBody>
      </p:sp>
      <p:sp>
        <p:nvSpPr>
          <p:cNvPr id="22" name="Google Shape;22;p1"/>
          <p:cNvSpPr/>
          <p:nvPr/>
        </p:nvSpPr>
        <p:spPr>
          <a:xfrm>
            <a:off x="6096000" y="4589859"/>
            <a:ext cx="256387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MENTOR HƯỚNG DẪN</a:t>
            </a:r>
            <a:endParaRPr sz="1200" b="0" i="0" u="none" strike="noStrike" cap="none">
              <a:solidFill>
                <a:schemeClr val="dk1"/>
              </a:solidFill>
              <a:latin typeface="Calibri"/>
              <a:ea typeface="Calibri"/>
              <a:cs typeface="Calibri"/>
              <a:sym typeface="Calibri"/>
            </a:endParaRPr>
          </a:p>
        </p:txBody>
      </p:sp>
      <p:sp>
        <p:nvSpPr>
          <p:cNvPr id="23" name="Google Shape;23;p1"/>
          <p:cNvSpPr/>
          <p:nvPr/>
        </p:nvSpPr>
        <p:spPr>
          <a:xfrm>
            <a:off x="6096000" y="4879380"/>
            <a:ext cx="2563876"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50000"/>
              </a:lnSpc>
              <a:spcBef>
                <a:spcPts val="0"/>
              </a:spcBef>
              <a:spcAft>
                <a:spcPts val="0"/>
              </a:spcAft>
              <a:buClr>
                <a:srgbClr val="F6F7F4"/>
              </a:buClr>
              <a:buSzPts val="1400"/>
              <a:buFont typeface="Be Vietnam Pro"/>
              <a:buNone/>
            </a:pPr>
            <a:r>
              <a:rPr lang="en-US" sz="1400" b="0" i="0" u="none" strike="noStrike" cap="none">
                <a:solidFill>
                  <a:srgbClr val="F6F7F4"/>
                </a:solidFill>
                <a:latin typeface="Be Vietnam Pro"/>
                <a:ea typeface="Be Vietnam Pro"/>
                <a:cs typeface="Be Vietnam Pro"/>
                <a:sym typeface="Be Vietnam Pro"/>
              </a:rPr>
              <a:t>Lê Đình Tuấn</a:t>
            </a:r>
            <a:endParaRPr sz="1400" b="0" i="0" u="none" strike="noStrike" cap="none">
              <a:solidFill>
                <a:schemeClr val="dk1"/>
              </a:solidFill>
              <a:latin typeface="Calibri"/>
              <a:ea typeface="Calibri"/>
              <a:cs typeface="Calibri"/>
              <a:sym typeface="Calibri"/>
            </a:endParaRPr>
          </a:p>
        </p:txBody>
      </p:sp>
      <p:sp>
        <p:nvSpPr>
          <p:cNvPr id="24" name="Google Shape;24;p1"/>
          <p:cNvSpPr/>
          <p:nvPr/>
        </p:nvSpPr>
        <p:spPr>
          <a:xfrm>
            <a:off x="6096000" y="5222280"/>
            <a:ext cx="256387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ĐƠN VỊ</a:t>
            </a:r>
            <a:endParaRPr sz="1200" b="0" i="0" u="none" strike="noStrike" cap="none">
              <a:solidFill>
                <a:schemeClr val="dk1"/>
              </a:solidFill>
              <a:latin typeface="Calibri"/>
              <a:ea typeface="Calibri"/>
              <a:cs typeface="Calibri"/>
              <a:sym typeface="Calibri"/>
            </a:endParaRPr>
          </a:p>
        </p:txBody>
      </p:sp>
      <p:sp>
        <p:nvSpPr>
          <p:cNvPr id="25" name="Google Shape;25;p1"/>
          <p:cNvSpPr/>
          <p:nvPr/>
        </p:nvSpPr>
        <p:spPr>
          <a:xfrm>
            <a:off x="6096000" y="5511800"/>
            <a:ext cx="2563876"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50000"/>
              </a:lnSpc>
              <a:spcBef>
                <a:spcPts val="0"/>
              </a:spcBef>
              <a:spcAft>
                <a:spcPts val="0"/>
              </a:spcAft>
              <a:buClr>
                <a:srgbClr val="F6F7F4"/>
              </a:buClr>
              <a:buSzPts val="1400"/>
              <a:buFont typeface="Be Vietnam Pro"/>
              <a:buNone/>
            </a:pPr>
            <a:r>
              <a:rPr lang="en-US" sz="1400" b="0" i="0" u="none" strike="noStrike" cap="none">
                <a:solidFill>
                  <a:srgbClr val="F6F7F4"/>
                </a:solidFill>
                <a:latin typeface="Be Vietnam Pro"/>
                <a:ea typeface="Be Vietnam Pro"/>
                <a:cs typeface="Be Vietnam Pro"/>
                <a:sym typeface="Be Vietnam Pro"/>
              </a:rPr>
              <a:t>CodeGym · Thực tập Cơ sở</a:t>
            </a:r>
            <a:endParaRPr sz="1400" b="0" i="0" u="none" strike="noStrike" cap="none">
              <a:solidFill>
                <a:schemeClr val="dk1"/>
              </a:solidFill>
              <a:latin typeface="Calibri"/>
              <a:ea typeface="Calibri"/>
              <a:cs typeface="Calibri"/>
              <a:sym typeface="Calibri"/>
            </a:endParaRPr>
          </a:p>
        </p:txBody>
      </p:sp>
      <p:sp>
        <p:nvSpPr>
          <p:cNvPr id="26" name="Google Shape;26;p1"/>
          <p:cNvSpPr/>
          <p:nvPr/>
        </p:nvSpPr>
        <p:spPr>
          <a:xfrm>
            <a:off x="8890000" y="4589859"/>
            <a:ext cx="256387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TRƯỜNG · NGÀNH</a:t>
            </a:r>
            <a:endParaRPr sz="1200" b="0" i="0" u="none" strike="noStrike" cap="none">
              <a:solidFill>
                <a:schemeClr val="dk1"/>
              </a:solidFill>
              <a:latin typeface="Calibri"/>
              <a:ea typeface="Calibri"/>
              <a:cs typeface="Calibri"/>
              <a:sym typeface="Calibri"/>
            </a:endParaRPr>
          </a:p>
        </p:txBody>
      </p:sp>
      <p:sp>
        <p:nvSpPr>
          <p:cNvPr id="27" name="Google Shape;27;p1"/>
          <p:cNvSpPr/>
          <p:nvPr/>
        </p:nvSpPr>
        <p:spPr>
          <a:xfrm>
            <a:off x="8890000" y="4879380"/>
            <a:ext cx="2563876" cy="558800"/>
          </a:xfrm>
          <a:prstGeom prst="rect">
            <a:avLst/>
          </a:prstGeom>
          <a:noFill/>
          <a:ln>
            <a:noFill/>
          </a:ln>
        </p:spPr>
        <p:txBody>
          <a:bodyPr spcFirstLastPara="1" wrap="square" lIns="0" tIns="0" rIns="0" bIns="0" anchor="t" anchorCtr="0">
            <a:normAutofit/>
          </a:bodyPr>
          <a:lstStyle/>
          <a:p>
            <a:pPr marL="0" marR="0" lvl="0" indent="0" algn="l" rtl="0">
              <a:lnSpc>
                <a:spcPct val="150000"/>
              </a:lnSpc>
              <a:spcBef>
                <a:spcPts val="0"/>
              </a:spcBef>
              <a:spcAft>
                <a:spcPts val="0"/>
              </a:spcAft>
              <a:buClr>
                <a:srgbClr val="F6F7F4"/>
              </a:buClr>
              <a:buSzPts val="1400"/>
              <a:buFont typeface="Be Vietnam Pro"/>
              <a:buNone/>
            </a:pPr>
            <a:r>
              <a:rPr lang="en-US" sz="1100" b="0" i="0" u="none" strike="noStrike" cap="none">
                <a:solidFill>
                  <a:srgbClr val="F6F7F4"/>
                </a:solidFill>
                <a:latin typeface="Be Vietnam Pro"/>
                <a:ea typeface="Be Vietnam Pro"/>
                <a:cs typeface="Be Vietnam Pro"/>
                <a:sym typeface="Be Vietnam Pro"/>
              </a:rPr>
              <a:t>ĐH CNTT &amp; TT (ICTU)</a:t>
            </a:r>
            <a:endParaRPr sz="14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F6F7F4"/>
              </a:buClr>
              <a:buSzPts val="1400"/>
              <a:buFont typeface="Be Vietnam Pro"/>
              <a:buNone/>
            </a:pPr>
            <a:r>
              <a:rPr lang="en-US" sz="1100" b="0" i="0" u="none" strike="noStrike" cap="none">
                <a:solidFill>
                  <a:srgbClr val="F6F7F4"/>
                </a:solidFill>
                <a:latin typeface="Be Vietnam Pro"/>
                <a:ea typeface="Be Vietnam Pro"/>
                <a:cs typeface="Be Vietnam Pro"/>
                <a:sym typeface="Be Vietnam Pro"/>
              </a:rPr>
              <a:t>Công nghệ thông tin (K23C)</a:t>
            </a:r>
            <a:endParaRPr sz="1400" b="0" i="0" u="none" strike="noStrike" cap="none">
              <a:solidFill>
                <a:schemeClr val="dk1"/>
              </a:solidFill>
              <a:latin typeface="Calibri"/>
              <a:ea typeface="Calibri"/>
              <a:cs typeface="Calibri"/>
              <a:sym typeface="Calibri"/>
            </a:endParaRPr>
          </a:p>
        </p:txBody>
      </p:sp>
      <p:sp>
        <p:nvSpPr>
          <p:cNvPr id="28" name="Google Shape;28;p1"/>
          <p:cNvSpPr/>
          <p:nvPr/>
        </p:nvSpPr>
        <p:spPr>
          <a:xfrm>
            <a:off x="8890000" y="5488980"/>
            <a:ext cx="256387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28C28"/>
              </a:buClr>
              <a:buSzPts val="1200"/>
              <a:buFont typeface="Be Vietnam Pro"/>
              <a:buNone/>
            </a:pPr>
            <a:r>
              <a:rPr lang="en-US" sz="1200" b="1" i="0" u="none" strike="noStrike" cap="none">
                <a:solidFill>
                  <a:srgbClr val="F28C28"/>
                </a:solidFill>
                <a:latin typeface="Be Vietnam Pro"/>
                <a:ea typeface="Be Vietnam Pro"/>
                <a:cs typeface="Be Vietnam Pro"/>
                <a:sym typeface="Be Vietnam Pro"/>
              </a:rPr>
              <a:t>NGÀY BÁO CÁO</a:t>
            </a:r>
            <a:endParaRPr sz="1200" b="0" i="0" u="none" strike="noStrike" cap="none">
              <a:solidFill>
                <a:schemeClr val="dk1"/>
              </a:solidFill>
              <a:latin typeface="Calibri"/>
              <a:ea typeface="Calibri"/>
              <a:cs typeface="Calibri"/>
              <a:sym typeface="Calibri"/>
            </a:endParaRPr>
          </a:p>
        </p:txBody>
      </p:sp>
      <p:sp>
        <p:nvSpPr>
          <p:cNvPr id="29" name="Google Shape;29;p1"/>
          <p:cNvSpPr/>
          <p:nvPr/>
        </p:nvSpPr>
        <p:spPr>
          <a:xfrm>
            <a:off x="8890000" y="5778500"/>
            <a:ext cx="2563876" cy="2921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50000"/>
              </a:lnSpc>
              <a:spcBef>
                <a:spcPts val="0"/>
              </a:spcBef>
              <a:spcAft>
                <a:spcPts val="0"/>
              </a:spcAft>
              <a:buClr>
                <a:srgbClr val="F6F7F4"/>
              </a:buClr>
              <a:buSzPts val="1400"/>
              <a:buFont typeface="Be Vietnam Pro"/>
              <a:buNone/>
            </a:pPr>
            <a:r>
              <a:rPr lang="en-US" sz="1400" b="0" i="0" u="none" strike="noStrike" cap="none">
                <a:solidFill>
                  <a:srgbClr val="F6F7F4"/>
                </a:solidFill>
                <a:latin typeface="Be Vietnam Pro"/>
                <a:ea typeface="Be Vietnam Pro"/>
                <a:cs typeface="Be Vietnam Pro"/>
                <a:sym typeface="Be Vietnam Pro"/>
              </a:rPr>
              <a:t>26/10/2026</a:t>
            </a:r>
            <a:endParaRPr sz="1400" b="0" i="0" u="none" strike="noStrike" cap="none">
              <a:solidFill>
                <a:schemeClr val="dk1"/>
              </a:solidFill>
              <a:latin typeface="Calibri"/>
              <a:ea typeface="Calibri"/>
              <a:cs typeface="Calibri"/>
              <a:sym typeface="Calibri"/>
            </a:endParaRPr>
          </a:p>
        </p:txBody>
      </p:sp>
      <p:pic>
        <p:nvPicPr>
          <p:cNvPr id="30" name="Google Shape;30;p1"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31" name="Google Shape;31;p1"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Shape 36"/>
        <p:cNvGrpSpPr/>
        <p:nvPr/>
      </p:nvGrpSpPr>
      <p:grpSpPr>
        <a:xfrm>
          <a:off x="0" y="0"/>
          <a:ext cx="0" cy="0"/>
          <a:chOff x="0" y="0"/>
          <a:chExt cx="0" cy="0"/>
        </a:xfrm>
      </p:grpSpPr>
      <p:sp>
        <p:nvSpPr>
          <p:cNvPr id="37" name="Google Shape;37;p2"/>
          <p:cNvSpPr/>
          <p:nvPr/>
        </p:nvSpPr>
        <p:spPr>
          <a:xfrm>
            <a:off x="812800" y="238001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28C28"/>
              </a:buClr>
              <a:buSzPts val="1400"/>
              <a:buFont typeface="Be Vietnam Pro"/>
              <a:buNone/>
            </a:pPr>
            <a:r>
              <a:rPr lang="en-US" sz="1400" b="1" i="0" u="none" strike="noStrike" cap="none">
                <a:solidFill>
                  <a:srgbClr val="F28C28"/>
                </a:solidFill>
                <a:latin typeface="Be Vietnam Pro"/>
                <a:ea typeface="Be Vietnam Pro"/>
                <a:cs typeface="Be Vietnam Pro"/>
                <a:sym typeface="Be Vietnam Pro"/>
              </a:rPr>
              <a:t>PHẦN A</a:t>
            </a:r>
            <a:endParaRPr sz="1400" b="0" i="0" u="none" strike="noStrike" cap="none">
              <a:solidFill>
                <a:schemeClr val="dk1"/>
              </a:solidFill>
              <a:latin typeface="Calibri"/>
              <a:ea typeface="Calibri"/>
              <a:cs typeface="Calibri"/>
              <a:sym typeface="Calibri"/>
            </a:endParaRPr>
          </a:p>
        </p:txBody>
      </p:sp>
      <p:sp>
        <p:nvSpPr>
          <p:cNvPr id="38" name="Google Shape;38;p2"/>
          <p:cNvSpPr/>
          <p:nvPr/>
        </p:nvSpPr>
        <p:spPr>
          <a:xfrm>
            <a:off x="812800" y="2832100"/>
            <a:ext cx="10883392" cy="6959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F6F7F4"/>
              </a:buClr>
              <a:buSzPts val="4800"/>
              <a:buFont typeface="Be Vietnam Pro"/>
              <a:buNone/>
            </a:pPr>
            <a:r>
              <a:rPr lang="en-US" sz="4800" b="1" i="0" u="none" strike="noStrike" cap="none">
                <a:solidFill>
                  <a:srgbClr val="F6F7F4"/>
                </a:solidFill>
                <a:latin typeface="Be Vietnam Pro"/>
                <a:ea typeface="Be Vietnam Pro"/>
                <a:cs typeface="Be Vietnam Pro"/>
                <a:sym typeface="Be Vietnam Pro"/>
              </a:rPr>
              <a:t>Kết quả nhóm</a:t>
            </a:r>
            <a:endParaRPr sz="4800" b="0" i="0" u="none" strike="noStrike" cap="none">
              <a:solidFill>
                <a:schemeClr val="dk1"/>
              </a:solidFill>
              <a:latin typeface="Calibri"/>
              <a:ea typeface="Calibri"/>
              <a:cs typeface="Calibri"/>
              <a:sym typeface="Calibri"/>
            </a:endParaRPr>
          </a:p>
        </p:txBody>
      </p:sp>
      <p:sp>
        <p:nvSpPr>
          <p:cNvPr id="39" name="Google Shape;39;p2"/>
          <p:cNvSpPr/>
          <p:nvPr/>
        </p:nvSpPr>
        <p:spPr>
          <a:xfrm>
            <a:off x="812800" y="3705820"/>
            <a:ext cx="10883392" cy="345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800"/>
              <a:buFont typeface="Be Vietnam Pro"/>
              <a:buNone/>
            </a:pPr>
            <a:r>
              <a:rPr lang="en-US" sz="1800" b="0" i="0" u="none" strike="noStrike" cap="none">
                <a:solidFill>
                  <a:srgbClr val="BFD0DE"/>
                </a:solidFill>
                <a:latin typeface="Be Vietnam Pro"/>
                <a:ea typeface="Be Vietnam Pro"/>
                <a:cs typeface="Be Vietnam Pro"/>
                <a:sym typeface="Be Vietnam Pro"/>
              </a:rPr>
              <a:t>Dự án · Quy trình · Minh chứng Jira &amp; Git · Sản phẩm · Tỉ lệ đóng góp</a:t>
            </a:r>
            <a:endParaRPr sz="1800" b="0" i="0" u="none" strike="noStrike" cap="none">
              <a:solidFill>
                <a:schemeClr val="dk1"/>
              </a:solidFill>
              <a:latin typeface="Calibri"/>
              <a:ea typeface="Calibri"/>
              <a:cs typeface="Calibri"/>
              <a:sym typeface="Calibri"/>
            </a:endParaRPr>
          </a:p>
        </p:txBody>
      </p:sp>
      <p:sp>
        <p:nvSpPr>
          <p:cNvPr id="40" name="Google Shape;40;p2"/>
          <p:cNvSpPr/>
          <p:nvPr/>
        </p:nvSpPr>
        <p:spPr>
          <a:xfrm>
            <a:off x="812800" y="422905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400"/>
              <a:buFont typeface="Be Vietnam Pro"/>
              <a:buNone/>
            </a:pPr>
            <a:r>
              <a:rPr lang="en-US" sz="1400" b="0" i="0" u="none" strike="noStrike" cap="none" dirty="0" err="1">
                <a:solidFill>
                  <a:srgbClr val="BFD0DE"/>
                </a:solidFill>
                <a:latin typeface="Be Vietnam Pro"/>
                <a:ea typeface="Be Vietnam Pro"/>
                <a:cs typeface="Be Vietnam Pro"/>
                <a:sym typeface="Be Vietnam Pro"/>
              </a:rPr>
              <a:t>Người</a:t>
            </a:r>
            <a:r>
              <a:rPr lang="en-US" sz="1400" b="0" i="0" u="none" strike="noStrike" cap="none" dirty="0">
                <a:solidFill>
                  <a:srgbClr val="BFD0DE"/>
                </a:solidFill>
                <a:latin typeface="Be Vietnam Pro"/>
                <a:ea typeface="Be Vietnam Pro"/>
                <a:cs typeface="Be Vietnam Pro"/>
                <a:sym typeface="Be Vietnam Pro"/>
              </a:rPr>
              <a:t> </a:t>
            </a:r>
            <a:r>
              <a:rPr lang="en-US" sz="1400" b="0" i="0" u="none" strike="noStrike" cap="none" dirty="0" err="1">
                <a:solidFill>
                  <a:srgbClr val="BFD0DE"/>
                </a:solidFill>
                <a:latin typeface="Be Vietnam Pro"/>
                <a:ea typeface="Be Vietnam Pro"/>
                <a:cs typeface="Be Vietnam Pro"/>
                <a:sym typeface="Be Vietnam Pro"/>
              </a:rPr>
              <a:t>trình</a:t>
            </a:r>
            <a:r>
              <a:rPr lang="en-US" sz="1400" b="0" i="0" u="none" strike="noStrike" cap="none" dirty="0">
                <a:solidFill>
                  <a:srgbClr val="BFD0DE"/>
                </a:solidFill>
                <a:latin typeface="Be Vietnam Pro"/>
                <a:ea typeface="Be Vietnam Pro"/>
                <a:cs typeface="Be Vietnam Pro"/>
                <a:sym typeface="Be Vietnam Pro"/>
              </a:rPr>
              <a:t> </a:t>
            </a:r>
            <a:r>
              <a:rPr lang="en-US" sz="1400" b="0" i="0" u="none" strike="noStrike" cap="none" dirty="0" err="1">
                <a:solidFill>
                  <a:srgbClr val="BFD0DE"/>
                </a:solidFill>
                <a:latin typeface="Be Vietnam Pro"/>
                <a:ea typeface="Be Vietnam Pro"/>
                <a:cs typeface="Be Vietnam Pro"/>
                <a:sym typeface="Be Vietnam Pro"/>
              </a:rPr>
              <a:t>bày</a:t>
            </a:r>
            <a:r>
              <a:rPr lang="en-US" sz="1400" b="0" i="0" u="none" strike="noStrike" cap="none" dirty="0">
                <a:solidFill>
                  <a:srgbClr val="BFD0DE"/>
                </a:solidFill>
                <a:latin typeface="Be Vietnam Pro"/>
                <a:ea typeface="Be Vietnam Pro"/>
                <a:cs typeface="Be Vietnam Pro"/>
                <a:sym typeface="Be Vietnam Pro"/>
              </a:rPr>
              <a:t>: Vũ Hiếu Kiên</a:t>
            </a:r>
            <a:endParaRPr sz="1400" b="0" i="0" u="none" strike="noStrike" cap="none" dirty="0">
              <a:solidFill>
                <a:schemeClr val="dk1"/>
              </a:solidFill>
              <a:latin typeface="Calibri"/>
              <a:ea typeface="Calibri"/>
              <a:cs typeface="Calibri"/>
              <a:sym typeface="Calibri"/>
            </a:endParaRPr>
          </a:p>
        </p:txBody>
      </p:sp>
      <p:pic>
        <p:nvPicPr>
          <p:cNvPr id="41" name="Google Shape;41;p2"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42" name="Google Shape;42;p2"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47"/>
        <p:cNvGrpSpPr/>
        <p:nvPr/>
      </p:nvGrpSpPr>
      <p:grpSpPr>
        <a:xfrm>
          <a:off x="0" y="0"/>
          <a:ext cx="0" cy="0"/>
          <a:chOff x="0" y="0"/>
          <a:chExt cx="0" cy="0"/>
        </a:xfrm>
      </p:grpSpPr>
      <p:sp>
        <p:nvSpPr>
          <p:cNvPr id="48" name="Google Shape;48;p3"/>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01 — TỔNG QUAN</a:t>
            </a:r>
            <a:endParaRPr sz="1200" b="0" i="0" u="none" strike="noStrike" cap="none">
              <a:solidFill>
                <a:schemeClr val="dk1"/>
              </a:solidFill>
              <a:latin typeface="Calibri"/>
              <a:ea typeface="Calibri"/>
              <a:cs typeface="Calibri"/>
              <a:sym typeface="Calibri"/>
            </a:endParaRPr>
          </a:p>
        </p:txBody>
      </p:sp>
      <p:sp>
        <p:nvSpPr>
          <p:cNvPr id="49" name="Google Shape;49;p3"/>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Tổng quan dự án</a:t>
            </a:r>
            <a:endParaRPr sz="3200" b="0" i="0" u="none" strike="noStrike" cap="none">
              <a:solidFill>
                <a:schemeClr val="dk1"/>
              </a:solidFill>
              <a:latin typeface="Calibri"/>
              <a:ea typeface="Calibri"/>
              <a:cs typeface="Calibri"/>
              <a:sym typeface="Calibri"/>
            </a:endParaRPr>
          </a:p>
        </p:txBody>
      </p:sp>
      <p:sp>
        <p:nvSpPr>
          <p:cNvPr id="50" name="Google Shape;50;p3"/>
          <p:cNvSpPr/>
          <p:nvPr/>
        </p:nvSpPr>
        <p:spPr>
          <a:xfrm>
            <a:off x="815975" y="1806525"/>
            <a:ext cx="3414167"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1022350" y="2012900"/>
            <a:ext cx="309145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Bài toán thực tế</a:t>
            </a:r>
            <a:endParaRPr sz="1800" b="0" i="0" u="none" strike="noStrike" cap="none">
              <a:solidFill>
                <a:schemeClr val="dk1"/>
              </a:solidFill>
              <a:latin typeface="Calibri"/>
              <a:ea typeface="Calibri"/>
              <a:cs typeface="Calibri"/>
              <a:sym typeface="Calibri"/>
            </a:endParaRPr>
          </a:p>
        </p:txBody>
      </p:sp>
      <p:sp>
        <p:nvSpPr>
          <p:cNvPr id="52" name="Google Shape;52;p3"/>
          <p:cNvSpPr/>
          <p:nvPr/>
        </p:nvSpPr>
        <p:spPr>
          <a:xfrm>
            <a:off x="1022350" y="2363391"/>
            <a:ext cx="3091459" cy="772071"/>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150" b="0" i="0" u="none" strike="noStrike" cap="none">
                <a:solidFill>
                  <a:srgbClr val="3F4A57"/>
                </a:solidFill>
                <a:latin typeface="Be Vietnam Pro"/>
                <a:ea typeface="Be Vietnam Pro"/>
                <a:cs typeface="Be Vietnam Pro"/>
                <a:sym typeface="Be Vietnam Pro"/>
              </a:rPr>
              <a:t>Giải quyết bài toán đứt gãy thông tin nguồn gốc và vi phạm nhiệt độ bảo quản trong chuỗi cung ứng nông sản lạnh từ nông trại đến người tiêu dùng.</a:t>
            </a:r>
            <a:endParaRPr sz="1400" b="0" i="0" u="none" strike="noStrike" cap="none">
              <a:solidFill>
                <a:schemeClr val="dk1"/>
              </a:solidFill>
              <a:latin typeface="Calibri"/>
              <a:ea typeface="Calibri"/>
              <a:cs typeface="Calibri"/>
              <a:sym typeface="Calibri"/>
            </a:endParaRPr>
          </a:p>
        </p:txBody>
      </p:sp>
      <p:sp>
        <p:nvSpPr>
          <p:cNvPr id="53" name="Google Shape;53;p3"/>
          <p:cNvSpPr/>
          <p:nvPr/>
        </p:nvSpPr>
        <p:spPr>
          <a:xfrm>
            <a:off x="4388892" y="1806525"/>
            <a:ext cx="3414216"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4595267" y="2012900"/>
            <a:ext cx="3091510"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Đối tượng người dùng</a:t>
            </a:r>
            <a:endParaRPr sz="1800" b="0" i="0" u="none" strike="noStrike" cap="none">
              <a:solidFill>
                <a:schemeClr val="dk1"/>
              </a:solidFill>
              <a:latin typeface="Calibri"/>
              <a:ea typeface="Calibri"/>
              <a:cs typeface="Calibri"/>
              <a:sym typeface="Calibri"/>
            </a:endParaRPr>
          </a:p>
        </p:txBody>
      </p:sp>
      <p:sp>
        <p:nvSpPr>
          <p:cNvPr id="55" name="Google Shape;55;p3"/>
          <p:cNvSpPr/>
          <p:nvPr/>
        </p:nvSpPr>
        <p:spPr>
          <a:xfrm>
            <a:off x="4595267" y="2363391"/>
            <a:ext cx="3091510" cy="523180"/>
          </a:xfrm>
          <a:prstGeom prst="rect">
            <a:avLst/>
          </a:prstGeom>
          <a:noFill/>
          <a:ln>
            <a:noFill/>
          </a:ln>
        </p:spPr>
        <p:txBody>
          <a:bodyPr spcFirstLastPara="1" wrap="square" lIns="0" tIns="0" rIns="0" bIns="0" anchor="t" anchorCtr="0">
            <a:normAutofit fontScale="775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150" b="0" i="0" u="none" strike="noStrike" cap="none">
                <a:solidFill>
                  <a:srgbClr val="3F4A57"/>
                </a:solidFill>
                <a:latin typeface="Be Vietnam Pro"/>
                <a:ea typeface="Be Vietnam Pro"/>
                <a:cs typeface="Be Vietnam Pro"/>
                <a:sym typeface="Be Vietnam Pro"/>
              </a:rPr>
              <a:t>Nông hộ, HTX sơ chế, Đơn vị vận tải lạnh, Nhà phân phối, Thanh tra chất lượng và Người tiêu dùng quét QR.</a:t>
            </a:r>
            <a:endParaRPr sz="1400" b="0" i="0" u="none" strike="noStrike" cap="none">
              <a:solidFill>
                <a:schemeClr val="dk1"/>
              </a:solidFill>
              <a:latin typeface="Calibri"/>
              <a:ea typeface="Calibri"/>
              <a:cs typeface="Calibri"/>
              <a:sym typeface="Calibri"/>
            </a:endParaRPr>
          </a:p>
        </p:txBody>
      </p:sp>
      <p:sp>
        <p:nvSpPr>
          <p:cNvPr id="56" name="Google Shape;56;p3"/>
          <p:cNvSpPr/>
          <p:nvPr/>
        </p:nvSpPr>
        <p:spPr>
          <a:xfrm>
            <a:off x="7961858" y="1806525"/>
            <a:ext cx="3414167"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168233" y="2012900"/>
            <a:ext cx="309145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Mục tiêu đầu kỳ</a:t>
            </a:r>
            <a:endParaRPr sz="1800" b="0" i="0" u="none" strike="noStrike" cap="none">
              <a:solidFill>
                <a:schemeClr val="dk1"/>
              </a:solidFill>
              <a:latin typeface="Calibri"/>
              <a:ea typeface="Calibri"/>
              <a:cs typeface="Calibri"/>
              <a:sym typeface="Calibri"/>
            </a:endParaRPr>
          </a:p>
        </p:txBody>
      </p:sp>
      <p:sp>
        <p:nvSpPr>
          <p:cNvPr id="58" name="Google Shape;58;p3"/>
          <p:cNvSpPr/>
          <p:nvPr/>
        </p:nvSpPr>
        <p:spPr>
          <a:xfrm>
            <a:off x="8168233" y="2363391"/>
            <a:ext cx="3091459" cy="772071"/>
          </a:xfrm>
          <a:prstGeom prst="rect">
            <a:avLst/>
          </a:prstGeom>
          <a:noFill/>
          <a:ln>
            <a:noFill/>
          </a:ln>
        </p:spPr>
        <p:txBody>
          <a:bodyPr spcFirstLastPara="1" wrap="square" lIns="0" tIns="0" rIns="0" bIns="0" anchor="t" anchorCtr="0">
            <a:normAutofit fontScale="70000" lnSpcReduction="2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Truy vết phả hệ lô hàng 2 chiều (DAG) &amp; phân quyền RLS.</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Giám sát nhiệt độ chuỗi lạnh &amp; thu hồi khẩn cấp xuôi dòng.</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Chuỗi băm SHA-256 (RFC 8785), tra cứu QR &amp; xuất PDF A4.</a:t>
            </a:r>
            <a:endParaRPr sz="1400" b="0" i="0" u="none" strike="noStrike" cap="none">
              <a:solidFill>
                <a:schemeClr val="dk1"/>
              </a:solidFill>
              <a:latin typeface="Calibri"/>
              <a:ea typeface="Calibri"/>
              <a:cs typeface="Calibri"/>
              <a:sym typeface="Calibri"/>
            </a:endParaRPr>
          </a:p>
        </p:txBody>
      </p:sp>
      <p:sp>
        <p:nvSpPr>
          <p:cNvPr id="59" name="Google Shape;59;p3"/>
          <p:cNvSpPr/>
          <p:nvPr/>
        </p:nvSpPr>
        <p:spPr>
          <a:xfrm>
            <a:off x="812800" y="4986089"/>
            <a:ext cx="2527300" cy="85591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3"/>
          <p:cNvCxnSpPr/>
          <p:nvPr/>
        </p:nvCxnSpPr>
        <p:spPr>
          <a:xfrm>
            <a:off x="812800" y="5005139"/>
            <a:ext cx="2527300" cy="0"/>
          </a:xfrm>
          <a:prstGeom prst="straightConnector1">
            <a:avLst/>
          </a:prstGeom>
          <a:noFill/>
          <a:ln w="38100" cap="flat" cmpd="sng">
            <a:solidFill>
              <a:srgbClr val="F28C28"/>
            </a:solidFill>
            <a:prstDash val="solid"/>
            <a:round/>
            <a:headEnd type="none" w="sm" len="sm"/>
            <a:tailEnd type="none" w="sm" len="sm"/>
          </a:ln>
        </p:spPr>
      </p:cxnSp>
      <p:sp>
        <p:nvSpPr>
          <p:cNvPr id="61" name="Google Shape;61;p3"/>
          <p:cNvSpPr/>
          <p:nvPr/>
        </p:nvSpPr>
        <p:spPr>
          <a:xfrm>
            <a:off x="990600" y="5176589"/>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Loại sản phẩm</a:t>
            </a:r>
            <a:endParaRPr sz="1200" b="0" i="0" u="none" strike="noStrike" cap="none">
              <a:solidFill>
                <a:schemeClr val="dk1"/>
              </a:solidFill>
              <a:latin typeface="Calibri"/>
              <a:ea typeface="Calibri"/>
              <a:cs typeface="Calibri"/>
              <a:sym typeface="Calibri"/>
            </a:endParaRPr>
          </a:p>
        </p:txBody>
      </p:sp>
      <p:sp>
        <p:nvSpPr>
          <p:cNvPr id="62" name="Google Shape;62;p3"/>
          <p:cNvSpPr/>
          <p:nvPr/>
        </p:nvSpPr>
        <p:spPr>
          <a:xfrm>
            <a:off x="990600" y="5440710"/>
            <a:ext cx="2236851"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400"/>
              <a:buFont typeface="Be Vietnam Pro"/>
              <a:buNone/>
            </a:pPr>
            <a:r>
              <a:rPr lang="en-US" sz="1400" b="1" i="0" u="none" strike="noStrike" cap="none">
                <a:solidFill>
                  <a:srgbClr val="12263A"/>
                </a:solidFill>
                <a:latin typeface="Be Vietnam Pro"/>
                <a:ea typeface="Be Vietnam Pro"/>
                <a:cs typeface="Be Vietnam Pro"/>
                <a:sym typeface="Be Vietnam Pro"/>
              </a:rPr>
              <a:t>Web Application</a:t>
            </a:r>
            <a:endParaRPr sz="1400" b="0" i="0" u="none" strike="noStrike" cap="none">
              <a:solidFill>
                <a:schemeClr val="dk1"/>
              </a:solidFill>
              <a:latin typeface="Calibri"/>
              <a:ea typeface="Calibri"/>
              <a:cs typeface="Calibri"/>
              <a:sym typeface="Calibri"/>
            </a:endParaRPr>
          </a:p>
        </p:txBody>
      </p:sp>
      <p:sp>
        <p:nvSpPr>
          <p:cNvPr id="63" name="Google Shape;63;p3"/>
          <p:cNvSpPr/>
          <p:nvPr/>
        </p:nvSpPr>
        <p:spPr>
          <a:xfrm>
            <a:off x="3492500" y="4986089"/>
            <a:ext cx="2527300" cy="85591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 name="Google Shape;64;p3"/>
          <p:cNvCxnSpPr/>
          <p:nvPr/>
        </p:nvCxnSpPr>
        <p:spPr>
          <a:xfrm>
            <a:off x="3492500" y="5005139"/>
            <a:ext cx="2527300" cy="0"/>
          </a:xfrm>
          <a:prstGeom prst="straightConnector1">
            <a:avLst/>
          </a:prstGeom>
          <a:noFill/>
          <a:ln w="38100" cap="flat" cmpd="sng">
            <a:solidFill>
              <a:srgbClr val="F28C28"/>
            </a:solidFill>
            <a:prstDash val="solid"/>
            <a:round/>
            <a:headEnd type="none" w="sm" len="sm"/>
            <a:tailEnd type="none" w="sm" len="sm"/>
          </a:ln>
        </p:spPr>
      </p:cxnSp>
      <p:sp>
        <p:nvSpPr>
          <p:cNvPr id="65" name="Google Shape;65;p3"/>
          <p:cNvSpPr/>
          <p:nvPr/>
        </p:nvSpPr>
        <p:spPr>
          <a:xfrm>
            <a:off x="3670300" y="5176589"/>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Nền tảng</a:t>
            </a:r>
            <a:endParaRPr sz="1200" b="0" i="0" u="none" strike="noStrike" cap="none">
              <a:solidFill>
                <a:schemeClr val="dk1"/>
              </a:solidFill>
              <a:latin typeface="Calibri"/>
              <a:ea typeface="Calibri"/>
              <a:cs typeface="Calibri"/>
              <a:sym typeface="Calibri"/>
            </a:endParaRPr>
          </a:p>
        </p:txBody>
      </p:sp>
      <p:sp>
        <p:nvSpPr>
          <p:cNvPr id="66" name="Google Shape;66;p3"/>
          <p:cNvSpPr/>
          <p:nvPr/>
        </p:nvSpPr>
        <p:spPr>
          <a:xfrm>
            <a:off x="3670300" y="5440710"/>
            <a:ext cx="2236851"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400"/>
              <a:buFont typeface="Be Vietnam Pro"/>
              <a:buNone/>
            </a:pPr>
            <a:r>
              <a:rPr lang="en-US" sz="1400" b="1" i="0" u="none" strike="noStrike" cap="none">
                <a:solidFill>
                  <a:srgbClr val="12263A"/>
                </a:solidFill>
                <a:latin typeface="Be Vietnam Pro"/>
                <a:ea typeface="Be Vietnam Pro"/>
                <a:cs typeface="Be Vietnam Pro"/>
                <a:sym typeface="Be Vietnam Pro"/>
              </a:rPr>
              <a:t>Web (Desktop &amp; Mobile)</a:t>
            </a:r>
            <a:endParaRPr sz="1400" b="0" i="0" u="none" strike="noStrike" cap="none">
              <a:solidFill>
                <a:schemeClr val="dk1"/>
              </a:solidFill>
              <a:latin typeface="Calibri"/>
              <a:ea typeface="Calibri"/>
              <a:cs typeface="Calibri"/>
              <a:sym typeface="Calibri"/>
            </a:endParaRPr>
          </a:p>
        </p:txBody>
      </p:sp>
      <p:sp>
        <p:nvSpPr>
          <p:cNvPr id="67" name="Google Shape;67;p3"/>
          <p:cNvSpPr/>
          <p:nvPr/>
        </p:nvSpPr>
        <p:spPr>
          <a:xfrm>
            <a:off x="6172200" y="4986089"/>
            <a:ext cx="2527300" cy="85591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 name="Google Shape;68;p3"/>
          <p:cNvCxnSpPr/>
          <p:nvPr/>
        </p:nvCxnSpPr>
        <p:spPr>
          <a:xfrm>
            <a:off x="6172200" y="5005139"/>
            <a:ext cx="2527300" cy="0"/>
          </a:xfrm>
          <a:prstGeom prst="straightConnector1">
            <a:avLst/>
          </a:prstGeom>
          <a:noFill/>
          <a:ln w="38100" cap="flat" cmpd="sng">
            <a:solidFill>
              <a:srgbClr val="F28C28"/>
            </a:solidFill>
            <a:prstDash val="solid"/>
            <a:round/>
            <a:headEnd type="none" w="sm" len="sm"/>
            <a:tailEnd type="none" w="sm" len="sm"/>
          </a:ln>
        </p:spPr>
      </p:cxnSp>
      <p:sp>
        <p:nvSpPr>
          <p:cNvPr id="69" name="Google Shape;69;p3"/>
          <p:cNvSpPr/>
          <p:nvPr/>
        </p:nvSpPr>
        <p:spPr>
          <a:xfrm>
            <a:off x="6350000" y="5176589"/>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Thời gian</a:t>
            </a:r>
            <a:endParaRPr sz="1200" b="0" i="0" u="none" strike="noStrike" cap="none">
              <a:solidFill>
                <a:schemeClr val="dk1"/>
              </a:solidFill>
              <a:latin typeface="Calibri"/>
              <a:ea typeface="Calibri"/>
              <a:cs typeface="Calibri"/>
              <a:sym typeface="Calibri"/>
            </a:endParaRPr>
          </a:p>
        </p:txBody>
      </p:sp>
      <p:sp>
        <p:nvSpPr>
          <p:cNvPr id="70" name="Google Shape;70;p3"/>
          <p:cNvSpPr/>
          <p:nvPr/>
        </p:nvSpPr>
        <p:spPr>
          <a:xfrm>
            <a:off x="6350000" y="5440710"/>
            <a:ext cx="2236851"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400"/>
              <a:buFont typeface="Be Vietnam Pro"/>
              <a:buNone/>
            </a:pPr>
            <a:r>
              <a:rPr lang="en-US" sz="1400" b="1" i="0" u="none" strike="noStrike" cap="none">
                <a:solidFill>
                  <a:srgbClr val="12263A"/>
                </a:solidFill>
                <a:latin typeface="Be Vietnam Pro"/>
                <a:ea typeface="Be Vietnam Pro"/>
                <a:cs typeface="Be Vietnam Pro"/>
                <a:sym typeface="Be Vietnam Pro"/>
              </a:rPr>
              <a:t>5 tuần · 8 sprint</a:t>
            </a:r>
            <a:endParaRPr sz="1400" b="0" i="0" u="none" strike="noStrike" cap="none">
              <a:solidFill>
                <a:schemeClr val="dk1"/>
              </a:solidFill>
              <a:latin typeface="Calibri"/>
              <a:ea typeface="Calibri"/>
              <a:cs typeface="Calibri"/>
              <a:sym typeface="Calibri"/>
            </a:endParaRPr>
          </a:p>
        </p:txBody>
      </p:sp>
      <p:sp>
        <p:nvSpPr>
          <p:cNvPr id="71" name="Google Shape;71;p3"/>
          <p:cNvSpPr/>
          <p:nvPr/>
        </p:nvSpPr>
        <p:spPr>
          <a:xfrm>
            <a:off x="8851900" y="4986089"/>
            <a:ext cx="2527300" cy="85591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3"/>
          <p:cNvCxnSpPr/>
          <p:nvPr/>
        </p:nvCxnSpPr>
        <p:spPr>
          <a:xfrm>
            <a:off x="8851900" y="5005139"/>
            <a:ext cx="2527300" cy="0"/>
          </a:xfrm>
          <a:prstGeom prst="straightConnector1">
            <a:avLst/>
          </a:prstGeom>
          <a:noFill/>
          <a:ln w="38100" cap="flat" cmpd="sng">
            <a:solidFill>
              <a:srgbClr val="F28C28"/>
            </a:solidFill>
            <a:prstDash val="solid"/>
            <a:round/>
            <a:headEnd type="none" w="sm" len="sm"/>
            <a:tailEnd type="none" w="sm" len="sm"/>
          </a:ln>
        </p:spPr>
      </p:cxnSp>
      <p:sp>
        <p:nvSpPr>
          <p:cNvPr id="73" name="Google Shape;73;p3"/>
          <p:cNvSpPr/>
          <p:nvPr/>
        </p:nvSpPr>
        <p:spPr>
          <a:xfrm>
            <a:off x="9029700" y="5176589"/>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Thành viên</a:t>
            </a:r>
            <a:endParaRPr sz="1200" b="0" i="0" u="none" strike="noStrike" cap="none">
              <a:solidFill>
                <a:schemeClr val="dk1"/>
              </a:solidFill>
              <a:latin typeface="Calibri"/>
              <a:ea typeface="Calibri"/>
              <a:cs typeface="Calibri"/>
              <a:sym typeface="Calibri"/>
            </a:endParaRPr>
          </a:p>
        </p:txBody>
      </p:sp>
      <p:sp>
        <p:nvSpPr>
          <p:cNvPr id="74" name="Google Shape;74;p3"/>
          <p:cNvSpPr/>
          <p:nvPr/>
        </p:nvSpPr>
        <p:spPr>
          <a:xfrm>
            <a:off x="9029700" y="5440710"/>
            <a:ext cx="2236851"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400"/>
              <a:buFont typeface="Be Vietnam Pro"/>
              <a:buNone/>
            </a:pPr>
            <a:r>
              <a:rPr lang="en-US" sz="1400" b="1" i="0" u="none" strike="noStrike" cap="none">
                <a:solidFill>
                  <a:srgbClr val="12263A"/>
                </a:solidFill>
                <a:latin typeface="Be Vietnam Pro"/>
                <a:ea typeface="Be Vietnam Pro"/>
                <a:cs typeface="Be Vietnam Pro"/>
                <a:sym typeface="Be Vietnam Pro"/>
              </a:rPr>
              <a:t>10 thành viên</a:t>
            </a:r>
            <a:endParaRPr sz="1400" b="0" i="0" u="none" strike="noStrike" cap="none">
              <a:solidFill>
                <a:schemeClr val="dk1"/>
              </a:solidFill>
              <a:latin typeface="Calibri"/>
              <a:ea typeface="Calibri"/>
              <a:cs typeface="Calibri"/>
              <a:sym typeface="Calibri"/>
            </a:endParaRPr>
          </a:p>
        </p:txBody>
      </p:sp>
      <p:sp>
        <p:nvSpPr>
          <p:cNvPr id="75" name="Google Shape;75;p3"/>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76" name="Google Shape;76;p3"/>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77" name="Google Shape;77;p3"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78" name="Google Shape;78;p3"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83"/>
        <p:cNvGrpSpPr/>
        <p:nvPr/>
      </p:nvGrpSpPr>
      <p:grpSpPr>
        <a:xfrm>
          <a:off x="0" y="0"/>
          <a:ext cx="0" cy="0"/>
          <a:chOff x="0" y="0"/>
          <a:chExt cx="0" cy="0"/>
        </a:xfrm>
      </p:grpSpPr>
      <p:sp>
        <p:nvSpPr>
          <p:cNvPr id="84" name="Google Shape;84;p4"/>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02 — QUY TRÌNH</a:t>
            </a:r>
            <a:endParaRPr sz="1200" b="0" i="0" u="none" strike="noStrike" cap="none">
              <a:solidFill>
                <a:schemeClr val="dk1"/>
              </a:solidFill>
              <a:latin typeface="Calibri"/>
              <a:ea typeface="Calibri"/>
              <a:cs typeface="Calibri"/>
              <a:sym typeface="Calibri"/>
            </a:endParaRPr>
          </a:p>
        </p:txBody>
      </p:sp>
      <p:sp>
        <p:nvSpPr>
          <p:cNvPr id="85" name="Google Shape;85;p4"/>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Quy trình &amp; cách làm việc nhóm</a:t>
            </a:r>
            <a:endParaRPr sz="3200" b="0" i="0" u="none" strike="noStrike" cap="none">
              <a:solidFill>
                <a:schemeClr val="dk1"/>
              </a:solidFill>
              <a:latin typeface="Calibri"/>
              <a:ea typeface="Calibri"/>
              <a:cs typeface="Calibri"/>
              <a:sym typeface="Calibri"/>
            </a:endParaRPr>
          </a:p>
        </p:txBody>
      </p:sp>
      <p:sp>
        <p:nvSpPr>
          <p:cNvPr id="86" name="Google Shape;86;p4"/>
          <p:cNvSpPr/>
          <p:nvPr/>
        </p:nvSpPr>
        <p:spPr>
          <a:xfrm>
            <a:off x="812800" y="1803350"/>
            <a:ext cx="2032000" cy="136892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 name="Google Shape;87;p4"/>
          <p:cNvCxnSpPr/>
          <p:nvPr/>
        </p:nvCxnSpPr>
        <p:spPr>
          <a:xfrm>
            <a:off x="812800" y="1822400"/>
            <a:ext cx="2032000" cy="0"/>
          </a:xfrm>
          <a:prstGeom prst="straightConnector1">
            <a:avLst/>
          </a:prstGeom>
          <a:noFill/>
          <a:ln w="38100" cap="flat" cmpd="sng">
            <a:solidFill>
              <a:srgbClr val="2556C4"/>
            </a:solidFill>
            <a:prstDash val="solid"/>
            <a:round/>
            <a:headEnd type="none" w="sm" len="sm"/>
            <a:tailEnd type="none" w="sm" len="sm"/>
          </a:ln>
        </p:spPr>
      </p:cxnSp>
      <p:sp>
        <p:nvSpPr>
          <p:cNvPr id="88" name="Google Shape;88;p4"/>
          <p:cNvSpPr/>
          <p:nvPr/>
        </p:nvSpPr>
        <p:spPr>
          <a:xfrm>
            <a:off x="965200" y="1993850"/>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SPRINT 1</a:t>
            </a:r>
            <a:endParaRPr sz="1200" b="0" i="0" u="none" strike="noStrike" cap="none">
              <a:solidFill>
                <a:schemeClr val="dk1"/>
              </a:solidFill>
              <a:latin typeface="Calibri"/>
              <a:ea typeface="Calibri"/>
              <a:cs typeface="Calibri"/>
              <a:sym typeface="Calibri"/>
            </a:endParaRPr>
          </a:p>
        </p:txBody>
      </p:sp>
      <p:sp>
        <p:nvSpPr>
          <p:cNvPr id="89" name="Google Shape;89;p4"/>
          <p:cNvSpPr/>
          <p:nvPr/>
        </p:nvSpPr>
        <p:spPr>
          <a:xfrm>
            <a:off x="965200" y="2257971"/>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23/09 – 30/09</a:t>
            </a:r>
            <a:endParaRPr sz="1200" b="0" i="0" u="none" strike="noStrike" cap="none">
              <a:solidFill>
                <a:schemeClr val="dk1"/>
              </a:solidFill>
              <a:latin typeface="Calibri"/>
              <a:ea typeface="Calibri"/>
              <a:cs typeface="Calibri"/>
              <a:sym typeface="Calibri"/>
            </a:endParaRPr>
          </a:p>
        </p:txBody>
      </p:sp>
      <p:sp>
        <p:nvSpPr>
          <p:cNvPr id="90" name="Google Shape;90;p4"/>
          <p:cNvSpPr/>
          <p:nvPr/>
        </p:nvSpPr>
        <p:spPr>
          <a:xfrm>
            <a:off x="965200" y="2522091"/>
            <a:ext cx="1779016" cy="5231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12263A"/>
              </a:buClr>
              <a:buSzPts val="1400"/>
              <a:buFont typeface="Be Vietnam Pro"/>
              <a:buNone/>
            </a:pPr>
            <a:r>
              <a:rPr lang="en-US" sz="1000" b="0" i="0" u="none" strike="noStrike" cap="none">
                <a:solidFill>
                  <a:srgbClr val="12263A"/>
                </a:solidFill>
                <a:latin typeface="Be Vietnam Pro"/>
                <a:ea typeface="Be Vietnam Pro"/>
                <a:cs typeface="Be Vietnam Pro"/>
                <a:sym typeface="Be Vietnam Pro"/>
              </a:rPr>
              <a:t>Nền tảng, CI/CD, đăng nhập, phân quyền &amp; vùng trồng (12 SP)</a:t>
            </a:r>
            <a:endParaRPr sz="1400" b="0" i="0" u="none" strike="noStrike" cap="none">
              <a:solidFill>
                <a:schemeClr val="dk1"/>
              </a:solidFill>
              <a:latin typeface="Calibri"/>
              <a:ea typeface="Calibri"/>
              <a:cs typeface="Calibri"/>
              <a:sym typeface="Calibri"/>
            </a:endParaRPr>
          </a:p>
        </p:txBody>
      </p:sp>
      <p:sp>
        <p:nvSpPr>
          <p:cNvPr id="91" name="Google Shape;91;p4"/>
          <p:cNvSpPr/>
          <p:nvPr/>
        </p:nvSpPr>
        <p:spPr>
          <a:xfrm>
            <a:off x="2946400" y="1803350"/>
            <a:ext cx="2032000" cy="136892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4"/>
          <p:cNvCxnSpPr/>
          <p:nvPr/>
        </p:nvCxnSpPr>
        <p:spPr>
          <a:xfrm>
            <a:off x="2946400" y="1822400"/>
            <a:ext cx="2032000" cy="0"/>
          </a:xfrm>
          <a:prstGeom prst="straightConnector1">
            <a:avLst/>
          </a:prstGeom>
          <a:noFill/>
          <a:ln w="38100" cap="flat" cmpd="sng">
            <a:solidFill>
              <a:srgbClr val="2556C4"/>
            </a:solidFill>
            <a:prstDash val="solid"/>
            <a:round/>
            <a:headEnd type="none" w="sm" len="sm"/>
            <a:tailEnd type="none" w="sm" len="sm"/>
          </a:ln>
        </p:spPr>
      </p:cxnSp>
      <p:sp>
        <p:nvSpPr>
          <p:cNvPr id="93" name="Google Shape;93;p4"/>
          <p:cNvSpPr/>
          <p:nvPr/>
        </p:nvSpPr>
        <p:spPr>
          <a:xfrm>
            <a:off x="3098800" y="1993850"/>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SPRINT 2–3</a:t>
            </a:r>
            <a:endParaRPr sz="1200" b="0" i="0" u="none" strike="noStrike" cap="none">
              <a:solidFill>
                <a:schemeClr val="dk1"/>
              </a:solidFill>
              <a:latin typeface="Calibri"/>
              <a:ea typeface="Calibri"/>
              <a:cs typeface="Calibri"/>
              <a:sym typeface="Calibri"/>
            </a:endParaRPr>
          </a:p>
        </p:txBody>
      </p:sp>
      <p:sp>
        <p:nvSpPr>
          <p:cNvPr id="94" name="Google Shape;94;p4"/>
          <p:cNvSpPr/>
          <p:nvPr/>
        </p:nvSpPr>
        <p:spPr>
          <a:xfrm>
            <a:off x="3098800" y="2257971"/>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04/10 – 12/10</a:t>
            </a:r>
            <a:endParaRPr sz="1200" b="0" i="0" u="none" strike="noStrike" cap="none">
              <a:solidFill>
                <a:schemeClr val="dk1"/>
              </a:solidFill>
              <a:latin typeface="Calibri"/>
              <a:ea typeface="Calibri"/>
              <a:cs typeface="Calibri"/>
              <a:sym typeface="Calibri"/>
            </a:endParaRPr>
          </a:p>
        </p:txBody>
      </p:sp>
      <p:sp>
        <p:nvSpPr>
          <p:cNvPr id="95" name="Google Shape;95;p4"/>
          <p:cNvSpPr/>
          <p:nvPr/>
        </p:nvSpPr>
        <p:spPr>
          <a:xfrm>
            <a:off x="3098800" y="2522091"/>
            <a:ext cx="1779016" cy="274290"/>
          </a:xfrm>
          <a:prstGeom prst="rect">
            <a:avLst/>
          </a:prstGeom>
          <a:noFill/>
          <a:ln>
            <a:noFill/>
          </a:ln>
        </p:spPr>
        <p:txBody>
          <a:bodyPr spcFirstLastPara="1" wrap="square" lIns="0" tIns="0" rIns="0" bIns="0" anchor="t" anchorCtr="0">
            <a:normAutofit fontScale="70000" lnSpcReduction="20000"/>
          </a:bodyPr>
          <a:lstStyle/>
          <a:p>
            <a:pPr marL="0" marR="0" lvl="0" indent="0" algn="l" rtl="0">
              <a:lnSpc>
                <a:spcPct val="140000"/>
              </a:lnSpc>
              <a:spcBef>
                <a:spcPts val="0"/>
              </a:spcBef>
              <a:spcAft>
                <a:spcPts val="0"/>
              </a:spcAft>
              <a:buClr>
                <a:srgbClr val="12263A"/>
              </a:buClr>
              <a:buSzPts val="1400"/>
              <a:buFont typeface="Be Vietnam Pro"/>
              <a:buNone/>
            </a:pPr>
            <a:r>
              <a:rPr lang="en-US" sz="1000" b="0" i="0" u="none" strike="noStrike" cap="none">
                <a:solidFill>
                  <a:srgbClr val="12263A"/>
                </a:solidFill>
                <a:latin typeface="Be Vietnam Pro"/>
                <a:ea typeface="Be Vietnam Pro"/>
                <a:cs typeface="Be Vietnam Pro"/>
                <a:sym typeface="Be Vietnam Pro"/>
              </a:rPr>
              <a:t>Chuỗi băm sự kiện SHA-256, bàn giao lô &amp; tách/gộp lô (40 SP)</a:t>
            </a:r>
            <a:endParaRPr sz="1400" b="0" i="0" u="none" strike="noStrike" cap="none">
              <a:solidFill>
                <a:schemeClr val="dk1"/>
              </a:solidFill>
              <a:latin typeface="Calibri"/>
              <a:ea typeface="Calibri"/>
              <a:cs typeface="Calibri"/>
              <a:sym typeface="Calibri"/>
            </a:endParaRPr>
          </a:p>
        </p:txBody>
      </p:sp>
      <p:sp>
        <p:nvSpPr>
          <p:cNvPr id="96" name="Google Shape;96;p4"/>
          <p:cNvSpPr/>
          <p:nvPr/>
        </p:nvSpPr>
        <p:spPr>
          <a:xfrm>
            <a:off x="5080000" y="1803350"/>
            <a:ext cx="2032000" cy="136892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7" name="Google Shape;97;p4"/>
          <p:cNvCxnSpPr/>
          <p:nvPr/>
        </p:nvCxnSpPr>
        <p:spPr>
          <a:xfrm>
            <a:off x="5080000" y="1822400"/>
            <a:ext cx="2032000" cy="0"/>
          </a:xfrm>
          <a:prstGeom prst="straightConnector1">
            <a:avLst/>
          </a:prstGeom>
          <a:noFill/>
          <a:ln w="38100" cap="flat" cmpd="sng">
            <a:solidFill>
              <a:srgbClr val="2556C4"/>
            </a:solidFill>
            <a:prstDash val="solid"/>
            <a:round/>
            <a:headEnd type="none" w="sm" len="sm"/>
            <a:tailEnd type="none" w="sm" len="sm"/>
          </a:ln>
        </p:spPr>
      </p:cxnSp>
      <p:sp>
        <p:nvSpPr>
          <p:cNvPr id="98" name="Google Shape;98;p4"/>
          <p:cNvSpPr/>
          <p:nvPr/>
        </p:nvSpPr>
        <p:spPr>
          <a:xfrm>
            <a:off x="5232400" y="1993850"/>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SPRINT 4–5</a:t>
            </a:r>
            <a:endParaRPr sz="1200" b="0" i="0" u="none" strike="noStrike" cap="none">
              <a:solidFill>
                <a:schemeClr val="dk1"/>
              </a:solidFill>
              <a:latin typeface="Calibri"/>
              <a:ea typeface="Calibri"/>
              <a:cs typeface="Calibri"/>
              <a:sym typeface="Calibri"/>
            </a:endParaRPr>
          </a:p>
        </p:txBody>
      </p:sp>
      <p:sp>
        <p:nvSpPr>
          <p:cNvPr id="99" name="Google Shape;99;p4"/>
          <p:cNvSpPr/>
          <p:nvPr/>
        </p:nvSpPr>
        <p:spPr>
          <a:xfrm>
            <a:off x="5232400" y="2257971"/>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13/10 – 20/10</a:t>
            </a:r>
            <a:endParaRPr sz="1200" b="0" i="0" u="none" strike="noStrike" cap="none">
              <a:solidFill>
                <a:schemeClr val="dk1"/>
              </a:solidFill>
              <a:latin typeface="Calibri"/>
              <a:ea typeface="Calibri"/>
              <a:cs typeface="Calibri"/>
              <a:sym typeface="Calibri"/>
            </a:endParaRPr>
          </a:p>
        </p:txBody>
      </p:sp>
      <p:sp>
        <p:nvSpPr>
          <p:cNvPr id="100" name="Google Shape;100;p4"/>
          <p:cNvSpPr/>
          <p:nvPr/>
        </p:nvSpPr>
        <p:spPr>
          <a:xfrm>
            <a:off x="5232400" y="2522091"/>
            <a:ext cx="1779016" cy="274290"/>
          </a:xfrm>
          <a:prstGeom prst="rect">
            <a:avLst/>
          </a:prstGeom>
          <a:noFill/>
          <a:ln>
            <a:noFill/>
          </a:ln>
        </p:spPr>
        <p:txBody>
          <a:bodyPr spcFirstLastPara="1" wrap="square" lIns="0" tIns="0" rIns="0" bIns="0" anchor="t" anchorCtr="0">
            <a:normAutofit fontScale="70000" lnSpcReduction="20000"/>
          </a:bodyPr>
          <a:lstStyle/>
          <a:p>
            <a:pPr marL="0" marR="0" lvl="0" indent="0" algn="l" rtl="0">
              <a:lnSpc>
                <a:spcPct val="140000"/>
              </a:lnSpc>
              <a:spcBef>
                <a:spcPts val="0"/>
              </a:spcBef>
              <a:spcAft>
                <a:spcPts val="0"/>
              </a:spcAft>
              <a:buClr>
                <a:srgbClr val="12263A"/>
              </a:buClr>
              <a:buSzPts val="1400"/>
              <a:buFont typeface="Be Vietnam Pro"/>
              <a:buNone/>
            </a:pPr>
            <a:r>
              <a:rPr lang="en-US" sz="1000" b="0" i="0" u="none" strike="noStrike" cap="none">
                <a:solidFill>
                  <a:srgbClr val="12263A"/>
                </a:solidFill>
                <a:latin typeface="Be Vietnam Pro"/>
                <a:ea typeface="Be Vietnam Pro"/>
                <a:cs typeface="Be Vietnam Pro"/>
                <a:sym typeface="Be Vietnam Pro"/>
              </a:rPr>
              <a:t>Truy vết phả hệ lô phát sinh (DAG) &amp; thu hồi lô hàng (40 SP)</a:t>
            </a:r>
            <a:endParaRPr sz="1400" b="0" i="0" u="none" strike="noStrike" cap="none">
              <a:solidFill>
                <a:schemeClr val="dk1"/>
              </a:solidFill>
              <a:latin typeface="Calibri"/>
              <a:ea typeface="Calibri"/>
              <a:cs typeface="Calibri"/>
              <a:sym typeface="Calibri"/>
            </a:endParaRPr>
          </a:p>
        </p:txBody>
      </p:sp>
      <p:sp>
        <p:nvSpPr>
          <p:cNvPr id="101" name="Google Shape;101;p4"/>
          <p:cNvSpPr/>
          <p:nvPr/>
        </p:nvSpPr>
        <p:spPr>
          <a:xfrm>
            <a:off x="7213600" y="1803350"/>
            <a:ext cx="2032000" cy="136892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 name="Google Shape;102;p4"/>
          <p:cNvCxnSpPr/>
          <p:nvPr/>
        </p:nvCxnSpPr>
        <p:spPr>
          <a:xfrm>
            <a:off x="7213600" y="1822400"/>
            <a:ext cx="2032000" cy="0"/>
          </a:xfrm>
          <a:prstGeom prst="straightConnector1">
            <a:avLst/>
          </a:prstGeom>
          <a:noFill/>
          <a:ln w="38100" cap="flat" cmpd="sng">
            <a:solidFill>
              <a:srgbClr val="2556C4"/>
            </a:solidFill>
            <a:prstDash val="solid"/>
            <a:round/>
            <a:headEnd type="none" w="sm" len="sm"/>
            <a:tailEnd type="none" w="sm" len="sm"/>
          </a:ln>
        </p:spPr>
      </p:cxnSp>
      <p:sp>
        <p:nvSpPr>
          <p:cNvPr id="103" name="Google Shape;103;p4"/>
          <p:cNvSpPr/>
          <p:nvPr/>
        </p:nvSpPr>
        <p:spPr>
          <a:xfrm>
            <a:off x="7366000" y="1993850"/>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SPRINT 6–7</a:t>
            </a:r>
            <a:endParaRPr sz="1200" b="0" i="0" u="none" strike="noStrike" cap="none">
              <a:solidFill>
                <a:schemeClr val="dk1"/>
              </a:solidFill>
              <a:latin typeface="Calibri"/>
              <a:ea typeface="Calibri"/>
              <a:cs typeface="Calibri"/>
              <a:sym typeface="Calibri"/>
            </a:endParaRPr>
          </a:p>
        </p:txBody>
      </p:sp>
      <p:sp>
        <p:nvSpPr>
          <p:cNvPr id="104" name="Google Shape;104;p4"/>
          <p:cNvSpPr/>
          <p:nvPr/>
        </p:nvSpPr>
        <p:spPr>
          <a:xfrm>
            <a:off x="7366000" y="2257971"/>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20/10 – 25/10</a:t>
            </a:r>
            <a:endParaRPr sz="1200" b="0" i="0" u="none" strike="noStrike" cap="none">
              <a:solidFill>
                <a:schemeClr val="dk1"/>
              </a:solidFill>
              <a:latin typeface="Calibri"/>
              <a:ea typeface="Calibri"/>
              <a:cs typeface="Calibri"/>
              <a:sym typeface="Calibri"/>
            </a:endParaRPr>
          </a:p>
        </p:txBody>
      </p:sp>
      <p:sp>
        <p:nvSpPr>
          <p:cNvPr id="105" name="Google Shape;105;p4"/>
          <p:cNvSpPr/>
          <p:nvPr/>
        </p:nvSpPr>
        <p:spPr>
          <a:xfrm>
            <a:off x="7366000" y="2522091"/>
            <a:ext cx="1779016" cy="274290"/>
          </a:xfrm>
          <a:prstGeom prst="rect">
            <a:avLst/>
          </a:prstGeom>
          <a:noFill/>
          <a:ln>
            <a:noFill/>
          </a:ln>
        </p:spPr>
        <p:txBody>
          <a:bodyPr spcFirstLastPara="1" wrap="square" lIns="0" tIns="0" rIns="0" bIns="0" anchor="t" anchorCtr="0">
            <a:normAutofit fontScale="70000" lnSpcReduction="20000"/>
          </a:bodyPr>
          <a:lstStyle/>
          <a:p>
            <a:pPr marL="0" marR="0" lvl="0" indent="0" algn="l" rtl="0">
              <a:lnSpc>
                <a:spcPct val="140000"/>
              </a:lnSpc>
              <a:spcBef>
                <a:spcPts val="0"/>
              </a:spcBef>
              <a:spcAft>
                <a:spcPts val="0"/>
              </a:spcAft>
              <a:buClr>
                <a:srgbClr val="12263A"/>
              </a:buClr>
              <a:buSzPts val="1400"/>
              <a:buFont typeface="Be Vietnam Pro"/>
              <a:buNone/>
            </a:pPr>
            <a:r>
              <a:rPr lang="en-US" sz="1000" b="0" i="0" u="none" strike="noStrike" cap="none">
                <a:solidFill>
                  <a:srgbClr val="12263A"/>
                </a:solidFill>
                <a:latin typeface="Be Vietnam Pro"/>
                <a:ea typeface="Be Vietnam Pro"/>
                <a:cs typeface="Be Vietnam Pro"/>
                <a:sym typeface="Be Vietnam Pro"/>
              </a:rPr>
              <a:t>Giám sát nhiệt độ chuỗi lạnh &amp; trang tra cứu QR công khai (40 SP)</a:t>
            </a:r>
            <a:endParaRPr sz="1400" b="0" i="0" u="none" strike="noStrike" cap="none">
              <a:solidFill>
                <a:schemeClr val="dk1"/>
              </a:solidFill>
              <a:latin typeface="Calibri"/>
              <a:ea typeface="Calibri"/>
              <a:cs typeface="Calibri"/>
              <a:sym typeface="Calibri"/>
            </a:endParaRPr>
          </a:p>
        </p:txBody>
      </p:sp>
      <p:sp>
        <p:nvSpPr>
          <p:cNvPr id="106" name="Google Shape;106;p4"/>
          <p:cNvSpPr/>
          <p:nvPr/>
        </p:nvSpPr>
        <p:spPr>
          <a:xfrm>
            <a:off x="9347200" y="1803350"/>
            <a:ext cx="2032000" cy="136892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 name="Google Shape;107;p4"/>
          <p:cNvCxnSpPr/>
          <p:nvPr/>
        </p:nvCxnSpPr>
        <p:spPr>
          <a:xfrm>
            <a:off x="9347200" y="1822400"/>
            <a:ext cx="2032000" cy="0"/>
          </a:xfrm>
          <a:prstGeom prst="straightConnector1">
            <a:avLst/>
          </a:prstGeom>
          <a:noFill/>
          <a:ln w="38100" cap="flat" cmpd="sng">
            <a:solidFill>
              <a:srgbClr val="F28C28"/>
            </a:solidFill>
            <a:prstDash val="solid"/>
            <a:round/>
            <a:headEnd type="none" w="sm" len="sm"/>
            <a:tailEnd type="none" w="sm" len="sm"/>
          </a:ln>
        </p:spPr>
      </p:cxnSp>
      <p:sp>
        <p:nvSpPr>
          <p:cNvPr id="108" name="Google Shape;108;p4"/>
          <p:cNvSpPr/>
          <p:nvPr/>
        </p:nvSpPr>
        <p:spPr>
          <a:xfrm>
            <a:off x="9499600" y="1993850"/>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SPRINT 8</a:t>
            </a:r>
            <a:endParaRPr sz="1200" b="0" i="0" u="none" strike="noStrike" cap="none">
              <a:solidFill>
                <a:schemeClr val="dk1"/>
              </a:solidFill>
              <a:latin typeface="Calibri"/>
              <a:ea typeface="Calibri"/>
              <a:cs typeface="Calibri"/>
              <a:sym typeface="Calibri"/>
            </a:endParaRPr>
          </a:p>
        </p:txBody>
      </p:sp>
      <p:sp>
        <p:nvSpPr>
          <p:cNvPr id="109" name="Google Shape;109;p4"/>
          <p:cNvSpPr/>
          <p:nvPr/>
        </p:nvSpPr>
        <p:spPr>
          <a:xfrm>
            <a:off x="9499600" y="2257971"/>
            <a:ext cx="1779016"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20/10 – 27/10</a:t>
            </a:r>
            <a:endParaRPr sz="1200" b="0" i="0" u="none" strike="noStrike" cap="none">
              <a:solidFill>
                <a:schemeClr val="dk1"/>
              </a:solidFill>
              <a:latin typeface="Calibri"/>
              <a:ea typeface="Calibri"/>
              <a:cs typeface="Calibri"/>
              <a:sym typeface="Calibri"/>
            </a:endParaRPr>
          </a:p>
        </p:txBody>
      </p:sp>
      <p:sp>
        <p:nvSpPr>
          <p:cNvPr id="110" name="Google Shape;110;p4"/>
          <p:cNvSpPr/>
          <p:nvPr/>
        </p:nvSpPr>
        <p:spPr>
          <a:xfrm>
            <a:off x="9499600" y="2522091"/>
            <a:ext cx="1779016" cy="52318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12263A"/>
              </a:buClr>
              <a:buSzPts val="1400"/>
              <a:buFont typeface="Be Vietnam Pro"/>
              <a:buNone/>
            </a:pPr>
            <a:r>
              <a:rPr lang="en-US" sz="1000" b="0" i="0" u="none" strike="noStrike" cap="none">
                <a:solidFill>
                  <a:srgbClr val="12263A"/>
                </a:solidFill>
                <a:latin typeface="Be Vietnam Pro"/>
                <a:ea typeface="Be Vietnam Pro"/>
                <a:cs typeface="Be Vietnam Pro"/>
                <a:sym typeface="Be Vietnam Pro"/>
              </a:rPr>
              <a:t>Báo cáo PDF A4, sao lưu/khôi phục, ẩn danh PII &amp; Staging (38 SP)</a:t>
            </a:r>
            <a:endParaRPr sz="1400" b="0" i="0" u="none" strike="noStrike" cap="none">
              <a:solidFill>
                <a:schemeClr val="dk1"/>
              </a:solidFill>
              <a:latin typeface="Calibri"/>
              <a:ea typeface="Calibri"/>
              <a:cs typeface="Calibri"/>
              <a:sym typeface="Calibri"/>
            </a:endParaRPr>
          </a:p>
        </p:txBody>
      </p:sp>
      <p:sp>
        <p:nvSpPr>
          <p:cNvPr id="111" name="Google Shape;111;p4"/>
          <p:cNvSpPr/>
          <p:nvPr/>
        </p:nvSpPr>
        <p:spPr>
          <a:xfrm>
            <a:off x="815975" y="3429446"/>
            <a:ext cx="3414167"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1022350" y="3635821"/>
            <a:ext cx="309145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Mô hình làm việc</a:t>
            </a:r>
            <a:endParaRPr sz="1800" b="0" i="0" u="none" strike="noStrike" cap="none">
              <a:solidFill>
                <a:schemeClr val="dk1"/>
              </a:solidFill>
              <a:latin typeface="Calibri"/>
              <a:ea typeface="Calibri"/>
              <a:cs typeface="Calibri"/>
              <a:sym typeface="Calibri"/>
            </a:endParaRPr>
          </a:p>
        </p:txBody>
      </p:sp>
      <p:sp>
        <p:nvSpPr>
          <p:cNvPr id="113" name="Google Shape;113;p4"/>
          <p:cNvSpPr/>
          <p:nvPr/>
        </p:nvSpPr>
        <p:spPr>
          <a:xfrm>
            <a:off x="1022350" y="3986312"/>
            <a:ext cx="3091459" cy="772071"/>
          </a:xfrm>
          <a:prstGeom prst="rect">
            <a:avLst/>
          </a:prstGeom>
          <a:noFill/>
          <a:ln>
            <a:noFill/>
          </a:ln>
        </p:spPr>
        <p:txBody>
          <a:bodyPr spcFirstLastPara="1" wrap="square" lIns="0" tIns="0" rIns="0" bIns="0" anchor="t" anchorCtr="0">
            <a:normAutofit/>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Scrum · 8 Sprint trên Jira Board 4</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Daily trên Jira, Sprint Review &amp; Retro</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Báo cáo &amp; rà soát định kỳ cùng Mentor</a:t>
            </a:r>
            <a:endParaRPr sz="1400" b="0" i="0" u="none" strike="noStrike" cap="none">
              <a:solidFill>
                <a:schemeClr val="dk1"/>
              </a:solidFill>
              <a:latin typeface="Calibri"/>
              <a:ea typeface="Calibri"/>
              <a:cs typeface="Calibri"/>
              <a:sym typeface="Calibri"/>
            </a:endParaRPr>
          </a:p>
        </p:txBody>
      </p:sp>
      <p:sp>
        <p:nvSpPr>
          <p:cNvPr id="114" name="Google Shape;114;p4"/>
          <p:cNvSpPr/>
          <p:nvPr/>
        </p:nvSpPr>
        <p:spPr>
          <a:xfrm>
            <a:off x="4388892" y="3429446"/>
            <a:ext cx="3414216"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4595267" y="3635821"/>
            <a:ext cx="3091510"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Công cụ</a:t>
            </a:r>
            <a:endParaRPr sz="1800" b="0" i="0" u="none" strike="noStrike" cap="none">
              <a:solidFill>
                <a:schemeClr val="dk1"/>
              </a:solidFill>
              <a:latin typeface="Calibri"/>
              <a:ea typeface="Calibri"/>
              <a:cs typeface="Calibri"/>
              <a:sym typeface="Calibri"/>
            </a:endParaRPr>
          </a:p>
        </p:txBody>
      </p:sp>
      <p:sp>
        <p:nvSpPr>
          <p:cNvPr id="116" name="Google Shape;116;p4"/>
          <p:cNvSpPr/>
          <p:nvPr/>
        </p:nvSpPr>
        <p:spPr>
          <a:xfrm>
            <a:off x="4595267" y="3986312"/>
            <a:ext cx="3091510" cy="1020961"/>
          </a:xfrm>
          <a:prstGeom prst="rect">
            <a:avLst/>
          </a:prstGeom>
          <a:noFill/>
          <a:ln>
            <a:noFill/>
          </a:ln>
        </p:spPr>
        <p:txBody>
          <a:bodyPr spcFirstLastPara="1" wrap="square" lIns="0" tIns="0" rIns="0" bIns="0" anchor="t" anchorCtr="0">
            <a:normAutofit fontScale="85000" lnSpcReduction="2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050" b="0" i="0" u="none" strike="noStrike" cap="none">
                <a:solidFill>
                  <a:srgbClr val="3F4A57"/>
                </a:solidFill>
                <a:latin typeface="Be Vietnam Pro"/>
                <a:ea typeface="Be Vietnam Pro"/>
                <a:cs typeface="Be Vietnam Pro"/>
                <a:sym typeface="Be Vietnam Pro"/>
              </a:rPr>
              <a:t>Jira — 160 issues (63 Story, 16 Task, 69 Subtask, 12 Epic)</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b="0" i="0" u="none" strike="noStrike" cap="none">
                <a:solidFill>
                  <a:srgbClr val="3F4A57"/>
                </a:solidFill>
                <a:latin typeface="Be Vietnam Pro"/>
                <a:ea typeface="Be Vietnam Pro"/>
                <a:cs typeface="Be Vietnam Pro"/>
                <a:sym typeface="Be Vietnam Pro"/>
              </a:rPr>
              <a:t>GitHub — nhom-3-cnttk23c (227 commits, 58 PRs)</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b="0" i="0" u="none" strike="noStrike" cap="none">
                <a:solidFill>
                  <a:srgbClr val="3F4A57"/>
                </a:solidFill>
                <a:latin typeface="Be Vietnam Pro"/>
                <a:ea typeface="Be Vietnam Pro"/>
                <a:cs typeface="Be Vietnam Pro"/>
                <a:sym typeface="Be Vietnam Pro"/>
              </a:rPr>
              <a:t>Zalo / Google Meet — Trao đổi &amp; họp nhóm</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b="0" i="0" u="none" strike="noStrike" cap="none">
                <a:solidFill>
                  <a:srgbClr val="3F4A57"/>
                </a:solidFill>
                <a:latin typeface="Be Vietnam Pro"/>
                <a:ea typeface="Be Vietnam Pro"/>
                <a:cs typeface="Be Vietnam Pro"/>
                <a:sym typeface="Be Vietnam Pro"/>
              </a:rPr>
              <a:t>Render &amp; Neon DB — Hạ tầng Cloud Staging</a:t>
            </a:r>
            <a:endParaRPr sz="1400" b="0" i="0" u="none" strike="noStrike" cap="none">
              <a:solidFill>
                <a:schemeClr val="dk1"/>
              </a:solidFill>
              <a:latin typeface="Calibri"/>
              <a:ea typeface="Calibri"/>
              <a:cs typeface="Calibri"/>
              <a:sym typeface="Calibri"/>
            </a:endParaRPr>
          </a:p>
        </p:txBody>
      </p:sp>
      <p:sp>
        <p:nvSpPr>
          <p:cNvPr id="117" name="Google Shape;117;p4"/>
          <p:cNvSpPr/>
          <p:nvPr/>
        </p:nvSpPr>
        <p:spPr>
          <a:xfrm>
            <a:off x="7961858" y="3429446"/>
            <a:ext cx="3414167"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8168233" y="3635821"/>
            <a:ext cx="309145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Quy tắc Git</a:t>
            </a:r>
            <a:endParaRPr sz="1800" b="0" i="0" u="none" strike="noStrike" cap="none">
              <a:solidFill>
                <a:schemeClr val="dk1"/>
              </a:solidFill>
              <a:latin typeface="Calibri"/>
              <a:ea typeface="Calibri"/>
              <a:cs typeface="Calibri"/>
              <a:sym typeface="Calibri"/>
            </a:endParaRPr>
          </a:p>
        </p:txBody>
      </p:sp>
      <p:sp>
        <p:nvSpPr>
          <p:cNvPr id="119" name="Google Shape;119;p4"/>
          <p:cNvSpPr/>
          <p:nvPr/>
        </p:nvSpPr>
        <p:spPr>
          <a:xfrm>
            <a:off x="8168233" y="3986312"/>
            <a:ext cx="3091459" cy="1020961"/>
          </a:xfrm>
          <a:prstGeom prst="rect">
            <a:avLst/>
          </a:prstGeom>
          <a:noFill/>
          <a:ln>
            <a:noFill/>
          </a:ln>
        </p:spPr>
        <p:txBody>
          <a:bodyPr spcFirstLastPara="1" wrap="square" lIns="0" tIns="0" rIns="0" bIns="0" anchor="t" anchorCtr="0">
            <a:normAutofit/>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Git flow: main · develops · feature/N3-*</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Mỗi PR có ≥ 1 người review &amp; pass CI</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Commit chuẩn: feat:, fix:, refactor:, test:</a:t>
            </a:r>
            <a:endParaRPr sz="1400" b="0" i="0" u="none" strike="noStrike" cap="none">
              <a:solidFill>
                <a:schemeClr val="dk1"/>
              </a:solidFill>
              <a:latin typeface="Calibri"/>
              <a:ea typeface="Calibri"/>
              <a:cs typeface="Calibri"/>
              <a:sym typeface="Calibri"/>
            </a:endParaRPr>
          </a:p>
        </p:txBody>
      </p:sp>
      <p:sp>
        <p:nvSpPr>
          <p:cNvPr id="120" name="Google Shape;120;p4"/>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121" name="Google Shape;121;p4"/>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122" name="Google Shape;122;p4"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123" name="Google Shape;123;p4"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28"/>
        <p:cNvGrpSpPr/>
        <p:nvPr/>
      </p:nvGrpSpPr>
      <p:grpSpPr>
        <a:xfrm>
          <a:off x="0" y="0"/>
          <a:ext cx="0" cy="0"/>
          <a:chOff x="0" y="0"/>
          <a:chExt cx="0" cy="0"/>
        </a:xfrm>
      </p:grpSpPr>
      <p:sp>
        <p:nvSpPr>
          <p:cNvPr id="129" name="Google Shape;129;p5"/>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03 — MINH CHỨNG JIRA</a:t>
            </a:r>
            <a:endParaRPr sz="1200" b="0" i="0" u="none" strike="noStrike" cap="none">
              <a:solidFill>
                <a:schemeClr val="dk1"/>
              </a:solidFill>
              <a:latin typeface="Calibri"/>
              <a:ea typeface="Calibri"/>
              <a:cs typeface="Calibri"/>
              <a:sym typeface="Calibri"/>
            </a:endParaRPr>
          </a:p>
        </p:txBody>
      </p:sp>
      <p:sp>
        <p:nvSpPr>
          <p:cNvPr id="130" name="Google Shape;130;p5"/>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Product Backlog của dự án</a:t>
            </a:r>
            <a:endParaRPr sz="3200" b="0" i="0" u="none" strike="noStrike" cap="none">
              <a:solidFill>
                <a:schemeClr val="dk1"/>
              </a:solidFill>
              <a:latin typeface="Calibri"/>
              <a:ea typeface="Calibri"/>
              <a:cs typeface="Calibri"/>
              <a:sym typeface="Calibri"/>
            </a:endParaRPr>
          </a:p>
        </p:txBody>
      </p:sp>
      <p:sp>
        <p:nvSpPr>
          <p:cNvPr id="131" name="Google Shape;131;p5"/>
          <p:cNvSpPr/>
          <p:nvPr/>
        </p:nvSpPr>
        <p:spPr>
          <a:xfrm>
            <a:off x="819150" y="1809700"/>
            <a:ext cx="634747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 name="Google Shape;132;p5" descr="Database"/>
          <p:cNvPicPr preferRelativeResize="0"/>
          <p:nvPr/>
        </p:nvPicPr>
        <p:blipFill rotWithShape="1">
          <a:blip r:embed="rId3">
            <a:alphaModFix/>
          </a:blip>
          <a:srcRect/>
          <a:stretch/>
        </p:blipFill>
        <p:spPr>
          <a:xfrm>
            <a:off x="3789660" y="3312170"/>
            <a:ext cx="406400" cy="406400"/>
          </a:xfrm>
          <a:prstGeom prst="rect">
            <a:avLst/>
          </a:prstGeom>
          <a:noFill/>
          <a:ln>
            <a:noFill/>
          </a:ln>
        </p:spPr>
      </p:pic>
      <p:sp>
        <p:nvSpPr>
          <p:cNvPr id="133" name="Google Shape;133;p5"/>
          <p:cNvSpPr/>
          <p:nvPr/>
        </p:nvSpPr>
        <p:spPr>
          <a:xfrm>
            <a:off x="2296214" y="3794770"/>
            <a:ext cx="3393293"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134" name="Google Shape;134;p5"/>
          <p:cNvSpPr/>
          <p:nvPr/>
        </p:nvSpPr>
        <p:spPr>
          <a:xfrm>
            <a:off x="1942515" y="4119860"/>
            <a:ext cx="4100740"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135" name="Google Shape;135;p5"/>
          <p:cNvSpPr/>
          <p:nvPr/>
        </p:nvSpPr>
        <p:spPr>
          <a:xfrm>
            <a:off x="7430145" y="1806525"/>
            <a:ext cx="190624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7611120" y="1962100"/>
            <a:ext cx="159509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Tổng số issue</a:t>
            </a:r>
            <a:endParaRPr sz="1200" b="0" i="0" u="none" strike="noStrike" cap="none">
              <a:solidFill>
                <a:schemeClr val="dk1"/>
              </a:solidFill>
              <a:latin typeface="Calibri"/>
              <a:ea typeface="Calibri"/>
              <a:cs typeface="Calibri"/>
              <a:sym typeface="Calibri"/>
            </a:endParaRPr>
          </a:p>
        </p:txBody>
      </p:sp>
      <p:sp>
        <p:nvSpPr>
          <p:cNvPr id="137" name="Google Shape;137;p5"/>
          <p:cNvSpPr/>
          <p:nvPr/>
        </p:nvSpPr>
        <p:spPr>
          <a:xfrm>
            <a:off x="7611120" y="2226221"/>
            <a:ext cx="1595090"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160</a:t>
            </a:r>
            <a:endParaRPr sz="3200" b="0" i="0" u="none" strike="noStrike" cap="none">
              <a:solidFill>
                <a:schemeClr val="dk1"/>
              </a:solidFill>
              <a:latin typeface="Calibri"/>
              <a:ea typeface="Calibri"/>
              <a:cs typeface="Calibri"/>
              <a:sym typeface="Calibri"/>
            </a:endParaRPr>
          </a:p>
        </p:txBody>
      </p:sp>
      <p:sp>
        <p:nvSpPr>
          <p:cNvPr id="138" name="Google Shape;138;p5"/>
          <p:cNvSpPr/>
          <p:nvPr/>
        </p:nvSpPr>
        <p:spPr>
          <a:xfrm>
            <a:off x="9469735" y="1806525"/>
            <a:ext cx="190629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9650710" y="1962100"/>
            <a:ext cx="159514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Đã Done</a:t>
            </a:r>
            <a:endParaRPr sz="1200" b="0" i="0" u="none" strike="noStrike" cap="none">
              <a:solidFill>
                <a:schemeClr val="dk1"/>
              </a:solidFill>
              <a:latin typeface="Calibri"/>
              <a:ea typeface="Calibri"/>
              <a:cs typeface="Calibri"/>
              <a:sym typeface="Calibri"/>
            </a:endParaRPr>
          </a:p>
        </p:txBody>
      </p:sp>
      <p:sp>
        <p:nvSpPr>
          <p:cNvPr id="140" name="Google Shape;140;p5"/>
          <p:cNvSpPr/>
          <p:nvPr/>
        </p:nvSpPr>
        <p:spPr>
          <a:xfrm>
            <a:off x="9650710" y="2226221"/>
            <a:ext cx="1595140"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160</a:t>
            </a:r>
            <a:endParaRPr sz="3200" b="0" i="0" u="none" strike="noStrike" cap="none">
              <a:solidFill>
                <a:schemeClr val="dk1"/>
              </a:solidFill>
              <a:latin typeface="Calibri"/>
              <a:ea typeface="Calibri"/>
              <a:cs typeface="Calibri"/>
              <a:sym typeface="Calibri"/>
            </a:endParaRPr>
          </a:p>
        </p:txBody>
      </p:sp>
      <p:sp>
        <p:nvSpPr>
          <p:cNvPr id="141" name="Google Shape;141;p5"/>
          <p:cNvSpPr/>
          <p:nvPr/>
        </p:nvSpPr>
        <p:spPr>
          <a:xfrm>
            <a:off x="7430145" y="2962176"/>
            <a:ext cx="190624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7611120" y="3117751"/>
            <a:ext cx="159509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Còn tồn</a:t>
            </a:r>
            <a:endParaRPr sz="1200" b="0" i="0" u="none" strike="noStrike" cap="none">
              <a:solidFill>
                <a:schemeClr val="dk1"/>
              </a:solidFill>
              <a:latin typeface="Calibri"/>
              <a:ea typeface="Calibri"/>
              <a:cs typeface="Calibri"/>
              <a:sym typeface="Calibri"/>
            </a:endParaRPr>
          </a:p>
        </p:txBody>
      </p:sp>
      <p:sp>
        <p:nvSpPr>
          <p:cNvPr id="143" name="Google Shape;143;p5"/>
          <p:cNvSpPr/>
          <p:nvPr/>
        </p:nvSpPr>
        <p:spPr>
          <a:xfrm>
            <a:off x="7611120" y="3381871"/>
            <a:ext cx="1595090"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0</a:t>
            </a:r>
            <a:endParaRPr sz="3200" b="0" i="0" u="none" strike="noStrike" cap="none">
              <a:solidFill>
                <a:schemeClr val="dk1"/>
              </a:solidFill>
              <a:latin typeface="Calibri"/>
              <a:ea typeface="Calibri"/>
              <a:cs typeface="Calibri"/>
              <a:sym typeface="Calibri"/>
            </a:endParaRPr>
          </a:p>
        </p:txBody>
      </p:sp>
      <p:sp>
        <p:nvSpPr>
          <p:cNvPr id="144" name="Google Shape;144;p5"/>
          <p:cNvSpPr/>
          <p:nvPr/>
        </p:nvSpPr>
        <p:spPr>
          <a:xfrm>
            <a:off x="9469735" y="2962176"/>
            <a:ext cx="190629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9650710" y="3117751"/>
            <a:ext cx="159514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Hoàn thành backlog</a:t>
            </a:r>
            <a:endParaRPr sz="1200" b="0" i="0" u="none" strike="noStrike" cap="none">
              <a:solidFill>
                <a:schemeClr val="dk1"/>
              </a:solidFill>
              <a:latin typeface="Calibri"/>
              <a:ea typeface="Calibri"/>
              <a:cs typeface="Calibri"/>
              <a:sym typeface="Calibri"/>
            </a:endParaRPr>
          </a:p>
        </p:txBody>
      </p:sp>
      <p:sp>
        <p:nvSpPr>
          <p:cNvPr id="146" name="Google Shape;146;p5"/>
          <p:cNvSpPr/>
          <p:nvPr/>
        </p:nvSpPr>
        <p:spPr>
          <a:xfrm>
            <a:off x="9650710" y="3381871"/>
            <a:ext cx="1595140"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2556C4"/>
              </a:buClr>
              <a:buSzPts val="3200"/>
              <a:buFont typeface="Be Vietnam Pro"/>
              <a:buNone/>
            </a:pPr>
            <a:r>
              <a:rPr lang="en-US" sz="3200" b="1" i="0" u="none" strike="noStrike" cap="none">
                <a:solidFill>
                  <a:srgbClr val="2556C4"/>
                </a:solidFill>
                <a:latin typeface="Be Vietnam Pro"/>
                <a:ea typeface="Be Vietnam Pro"/>
                <a:cs typeface="Be Vietnam Pro"/>
                <a:sym typeface="Be Vietnam Pro"/>
              </a:rPr>
              <a:t>100%</a:t>
            </a:r>
            <a:endParaRPr sz="3200" b="0" i="0" u="none" strike="noStrike" cap="none">
              <a:solidFill>
                <a:schemeClr val="dk1"/>
              </a:solidFill>
              <a:latin typeface="Calibri"/>
              <a:ea typeface="Calibri"/>
              <a:cs typeface="Calibri"/>
              <a:sym typeface="Calibri"/>
            </a:endParaRPr>
          </a:p>
        </p:txBody>
      </p:sp>
      <p:sp>
        <p:nvSpPr>
          <p:cNvPr id="147" name="Google Shape;147;p5"/>
          <p:cNvSpPr/>
          <p:nvPr/>
        </p:nvSpPr>
        <p:spPr>
          <a:xfrm>
            <a:off x="7430145" y="4143226"/>
            <a:ext cx="3945880" cy="1695599"/>
          </a:xfrm>
          <a:prstGeom prst="roundRect">
            <a:avLst>
              <a:gd name="adj" fmla="val 580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7636520" y="4324201"/>
            <a:ext cx="3639124"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Epic chính</a:t>
            </a:r>
            <a:endParaRPr sz="1800" b="0" i="0" u="none" strike="noStrike" cap="none">
              <a:solidFill>
                <a:schemeClr val="dk1"/>
              </a:solidFill>
              <a:latin typeface="Calibri"/>
              <a:ea typeface="Calibri"/>
              <a:cs typeface="Calibri"/>
              <a:sym typeface="Calibri"/>
            </a:endParaRPr>
          </a:p>
        </p:txBody>
      </p:sp>
      <p:sp>
        <p:nvSpPr>
          <p:cNvPr id="149" name="Google Shape;149;p5"/>
          <p:cNvSpPr/>
          <p:nvPr/>
        </p:nvSpPr>
        <p:spPr>
          <a:xfrm>
            <a:off x="7636520" y="4674691"/>
            <a:ext cx="3639124" cy="772071"/>
          </a:xfrm>
          <a:prstGeom prst="rect">
            <a:avLst/>
          </a:prstGeom>
          <a:noFill/>
          <a:ln>
            <a:noFill/>
          </a:ln>
        </p:spPr>
        <p:txBody>
          <a:bodyPr spcFirstLastPara="1" wrap="square" lIns="0" tIns="0" rIns="0" bIns="0" anchor="t" anchorCtr="0">
            <a:normAutofit/>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000" b="0" i="0" u="none" strike="noStrike" cap="none">
                <a:solidFill>
                  <a:srgbClr val="3F4A57"/>
                </a:solidFill>
                <a:latin typeface="Be Vietnam Pro"/>
                <a:ea typeface="Be Vietnam Pro"/>
                <a:cs typeface="Be Vietnam Pro"/>
                <a:sym typeface="Be Vietnam Pro"/>
              </a:rPr>
              <a:t>N3-8→N3-11: Hạ tầng, Chuỗi băm, RBAC &amp; Lô hàng</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00" b="0" i="0" u="none" strike="noStrike" cap="none">
                <a:solidFill>
                  <a:srgbClr val="3F4A57"/>
                </a:solidFill>
                <a:latin typeface="Be Vietnam Pro"/>
                <a:ea typeface="Be Vietnam Pro"/>
                <a:cs typeface="Be Vietnam Pro"/>
                <a:sym typeface="Be Vietnam Pro"/>
              </a:rPr>
              <a:t>N3-12→N3-15: Phả hệ tách/gộp, Thu hồi &amp; Chuỗi lạnh</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00" b="0" i="0" u="none" strike="noStrike" cap="none">
                <a:solidFill>
                  <a:srgbClr val="3F4A57"/>
                </a:solidFill>
                <a:latin typeface="Be Vietnam Pro"/>
                <a:ea typeface="Be Vietnam Pro"/>
                <a:cs typeface="Be Vietnam Pro"/>
                <a:sym typeface="Be Vietnam Pro"/>
              </a:rPr>
              <a:t>N3-16→N3-19: Quét QR, Báo cáo PDF &amp; Bảo vệ dữ liệu</a:t>
            </a:r>
            <a:endParaRPr sz="1400" b="0" i="0" u="none" strike="noStrike" cap="none">
              <a:solidFill>
                <a:schemeClr val="dk1"/>
              </a:solidFill>
              <a:latin typeface="Calibri"/>
              <a:ea typeface="Calibri"/>
              <a:cs typeface="Calibri"/>
              <a:sym typeface="Calibri"/>
            </a:endParaRPr>
          </a:p>
        </p:txBody>
      </p:sp>
      <p:sp>
        <p:nvSpPr>
          <p:cNvPr id="150" name="Google Shape;150;p5"/>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Nguồn: Jira nhom3-k23c.atlassian.net (Key: N3 · Board 4) · chụp ngày 26/10/2026</a:t>
            </a:r>
            <a:endParaRPr sz="1200" b="0" i="0" u="none" strike="noStrike" cap="none">
              <a:solidFill>
                <a:schemeClr val="dk1"/>
              </a:solidFill>
              <a:latin typeface="Calibri"/>
              <a:ea typeface="Calibri"/>
              <a:cs typeface="Calibri"/>
              <a:sym typeface="Calibri"/>
            </a:endParaRPr>
          </a:p>
        </p:txBody>
      </p:sp>
      <p:sp>
        <p:nvSpPr>
          <p:cNvPr id="151" name="Google Shape;151;p5"/>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152" name="Google Shape;152;p5"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153" name="Google Shape;153;p5"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pic>
        <p:nvPicPr>
          <p:cNvPr id="154" name="Picture 153" descr="s5_jira_backlog.png"/>
          <p:cNvPicPr>
            <a:picLocks noChangeAspect="1"/>
          </p:cNvPicPr>
          <p:nvPr/>
        </p:nvPicPr>
        <p:blipFill>
          <a:blip r:embed="rId6"/>
          <a:stretch>
            <a:fillRect/>
          </a:stretch>
        </p:blipFill>
        <p:spPr>
          <a:xfrm>
            <a:off x="859536" y="1847088"/>
            <a:ext cx="6272784" cy="39810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58"/>
        <p:cNvGrpSpPr/>
        <p:nvPr/>
      </p:nvGrpSpPr>
      <p:grpSpPr>
        <a:xfrm>
          <a:off x="0" y="0"/>
          <a:ext cx="0" cy="0"/>
          <a:chOff x="0" y="0"/>
          <a:chExt cx="0" cy="0"/>
        </a:xfrm>
      </p:grpSpPr>
      <p:sp>
        <p:nvSpPr>
          <p:cNvPr id="159" name="Google Shape;159;p6"/>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04 — MINH CHỨNG JIRA</a:t>
            </a:r>
            <a:endParaRPr sz="1200" b="0" i="0" u="none" strike="noStrike" cap="none">
              <a:solidFill>
                <a:schemeClr val="dk1"/>
              </a:solidFill>
              <a:latin typeface="Calibri"/>
              <a:ea typeface="Calibri"/>
              <a:cs typeface="Calibri"/>
              <a:sym typeface="Calibri"/>
            </a:endParaRPr>
          </a:p>
        </p:txBody>
      </p:sp>
      <p:sp>
        <p:nvSpPr>
          <p:cNvPr id="160" name="Google Shape;160;p6"/>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Tiến độ theo sprint</a:t>
            </a:r>
            <a:endParaRPr sz="3200" b="0" i="0" u="none" strike="noStrike" cap="none">
              <a:solidFill>
                <a:schemeClr val="dk1"/>
              </a:solidFill>
              <a:latin typeface="Calibri"/>
              <a:ea typeface="Calibri"/>
              <a:cs typeface="Calibri"/>
              <a:sym typeface="Calibri"/>
            </a:endParaRPr>
          </a:p>
        </p:txBody>
      </p:sp>
      <p:sp>
        <p:nvSpPr>
          <p:cNvPr id="161" name="Google Shape;161;p6"/>
          <p:cNvSpPr/>
          <p:nvPr/>
        </p:nvSpPr>
        <p:spPr>
          <a:xfrm>
            <a:off x="819150" y="1809700"/>
            <a:ext cx="5194300" cy="1765300"/>
          </a:xfrm>
          <a:prstGeom prst="roundRect">
            <a:avLst>
              <a:gd name="adj" fmla="val 539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2" name="Google Shape;162;p6" descr="Chart"/>
          <p:cNvPicPr preferRelativeResize="0"/>
          <p:nvPr/>
        </p:nvPicPr>
        <p:blipFill rotWithShape="1">
          <a:blip r:embed="rId3">
            <a:alphaModFix/>
          </a:blip>
          <a:srcRect/>
          <a:stretch/>
        </p:blipFill>
        <p:spPr>
          <a:xfrm>
            <a:off x="3238500" y="2207220"/>
            <a:ext cx="355600" cy="355600"/>
          </a:xfrm>
          <a:prstGeom prst="rect">
            <a:avLst/>
          </a:prstGeom>
          <a:noFill/>
          <a:ln>
            <a:noFill/>
          </a:ln>
        </p:spPr>
      </p:pic>
      <p:sp>
        <p:nvSpPr>
          <p:cNvPr id="163" name="Google Shape;163;p6"/>
          <p:cNvSpPr/>
          <p:nvPr/>
        </p:nvSpPr>
        <p:spPr>
          <a:xfrm>
            <a:off x="2215557" y="2639020"/>
            <a:ext cx="2401437"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164" name="Google Shape;164;p6"/>
          <p:cNvSpPr/>
          <p:nvPr/>
        </p:nvSpPr>
        <p:spPr>
          <a:xfrm>
            <a:off x="1968857" y="2964111"/>
            <a:ext cx="2894887"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165" name="Google Shape;165;p6"/>
          <p:cNvSpPr/>
          <p:nvPr/>
        </p:nvSpPr>
        <p:spPr>
          <a:xfrm>
            <a:off x="6178550" y="1809700"/>
            <a:ext cx="5194300" cy="1765300"/>
          </a:xfrm>
          <a:prstGeom prst="roundRect">
            <a:avLst>
              <a:gd name="adj" fmla="val 539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 name="Google Shape;166;p6" descr="Activity"/>
          <p:cNvPicPr preferRelativeResize="0"/>
          <p:nvPr/>
        </p:nvPicPr>
        <p:blipFill rotWithShape="1">
          <a:blip r:embed="rId4">
            <a:alphaModFix/>
          </a:blip>
          <a:srcRect/>
          <a:stretch/>
        </p:blipFill>
        <p:spPr>
          <a:xfrm>
            <a:off x="8597900" y="2207220"/>
            <a:ext cx="355600" cy="355600"/>
          </a:xfrm>
          <a:prstGeom prst="rect">
            <a:avLst/>
          </a:prstGeom>
          <a:noFill/>
          <a:ln>
            <a:noFill/>
          </a:ln>
        </p:spPr>
      </p:pic>
      <p:sp>
        <p:nvSpPr>
          <p:cNvPr id="167" name="Google Shape;167;p6"/>
          <p:cNvSpPr/>
          <p:nvPr/>
        </p:nvSpPr>
        <p:spPr>
          <a:xfrm>
            <a:off x="7275882" y="2639020"/>
            <a:ext cx="2999586"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168" name="Google Shape;168;p6"/>
          <p:cNvSpPr/>
          <p:nvPr/>
        </p:nvSpPr>
        <p:spPr>
          <a:xfrm>
            <a:off x="7834175" y="2964111"/>
            <a:ext cx="1883051"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169" name="Google Shape;169;p6"/>
          <p:cNvSpPr/>
          <p:nvPr/>
        </p:nvSpPr>
        <p:spPr>
          <a:xfrm>
            <a:off x="812800" y="3781429"/>
            <a:ext cx="10566400" cy="2456648"/>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6"/>
          <p:cNvCxnSpPr/>
          <p:nvPr/>
        </p:nvCxnSpPr>
        <p:spPr>
          <a:xfrm>
            <a:off x="11376025" y="3835350"/>
            <a:ext cx="0" cy="1682452"/>
          </a:xfrm>
          <a:prstGeom prst="straightConnector1">
            <a:avLst/>
          </a:prstGeom>
          <a:noFill/>
          <a:ln w="9525" cap="flat" cmpd="sng">
            <a:solidFill>
              <a:srgbClr val="DDE1DC"/>
            </a:solidFill>
            <a:prstDash val="solid"/>
            <a:round/>
            <a:headEnd type="none" w="sm" len="sm"/>
            <a:tailEnd type="none" w="sm" len="sm"/>
          </a:ln>
        </p:spPr>
      </p:cxnSp>
      <p:graphicFrame>
        <p:nvGraphicFramePr>
          <p:cNvPr id="172" name="Google Shape;172;p6"/>
          <p:cNvGraphicFramePr/>
          <p:nvPr>
            <p:extLst>
              <p:ext uri="{D42A27DB-BD31-4B8C-83A1-F6EECF244321}">
                <p14:modId xmlns:p14="http://schemas.microsoft.com/office/powerpoint/2010/main" val="1483706891"/>
              </p:ext>
            </p:extLst>
          </p:nvPr>
        </p:nvGraphicFramePr>
        <p:xfrm>
          <a:off x="822325" y="3740150"/>
          <a:ext cx="10547350" cy="2466123"/>
        </p:xfrm>
        <a:graphic>
          <a:graphicData uri="http://schemas.openxmlformats.org/drawingml/2006/table">
            <a:tbl>
              <a:tblPr>
                <a:noFill/>
                <a:tableStyleId>{F3BF7263-007E-43C9-8404-5F7C5483B795}</a:tableStyleId>
              </a:tblPr>
              <a:tblGrid>
                <a:gridCol w="1476625">
                  <a:extLst>
                    <a:ext uri="{9D8B030D-6E8A-4147-A177-3AD203B41FA5}">
                      <a16:colId xmlns:a16="http://schemas.microsoft.com/office/drawing/2014/main" val="20000"/>
                    </a:ext>
                  </a:extLst>
                </a:gridCol>
                <a:gridCol w="4008000">
                  <a:extLst>
                    <a:ext uri="{9D8B030D-6E8A-4147-A177-3AD203B41FA5}">
                      <a16:colId xmlns:a16="http://schemas.microsoft.com/office/drawing/2014/main" val="20001"/>
                    </a:ext>
                  </a:extLst>
                </a:gridCol>
                <a:gridCol w="1687575">
                  <a:extLst>
                    <a:ext uri="{9D8B030D-6E8A-4147-A177-3AD203B41FA5}">
                      <a16:colId xmlns:a16="http://schemas.microsoft.com/office/drawing/2014/main" val="20002"/>
                    </a:ext>
                  </a:extLst>
                </a:gridCol>
                <a:gridCol w="1687575">
                  <a:extLst>
                    <a:ext uri="{9D8B030D-6E8A-4147-A177-3AD203B41FA5}">
                      <a16:colId xmlns:a16="http://schemas.microsoft.com/office/drawing/2014/main" val="20003"/>
                    </a:ext>
                  </a:extLst>
                </a:gridCol>
                <a:gridCol w="1687575">
                  <a:extLst>
                    <a:ext uri="{9D8B030D-6E8A-4147-A177-3AD203B41FA5}">
                      <a16:colId xmlns:a16="http://schemas.microsoft.com/office/drawing/2014/main" val="20004"/>
                    </a:ext>
                  </a:extLst>
                </a:gridCol>
              </a:tblGrid>
              <a:tr h="332675">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dirty="0">
                          <a:solidFill>
                            <a:srgbClr val="F6F7F4"/>
                          </a:solidFill>
                          <a:latin typeface="Be Vietnam Pro"/>
                          <a:ea typeface="Be Vietnam Pro"/>
                          <a:cs typeface="Be Vietnam Pro"/>
                          <a:sym typeface="Be Vietnam Pro"/>
                        </a:rPr>
                        <a:t>Sprint</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dirty="0" err="1">
                          <a:solidFill>
                            <a:srgbClr val="F6F7F4"/>
                          </a:solidFill>
                          <a:latin typeface="Be Vietnam Pro"/>
                          <a:ea typeface="Be Vietnam Pro"/>
                          <a:cs typeface="Be Vietnam Pro"/>
                          <a:sym typeface="Be Vietnam Pro"/>
                        </a:rPr>
                        <a:t>Mục</a:t>
                      </a:r>
                      <a:r>
                        <a:rPr lang="en-US" sz="1200" b="1" u="none" strike="noStrike" cap="none" dirty="0">
                          <a:solidFill>
                            <a:srgbClr val="F6F7F4"/>
                          </a:solidFill>
                          <a:latin typeface="Be Vietnam Pro"/>
                          <a:ea typeface="Be Vietnam Pro"/>
                          <a:cs typeface="Be Vietnam Pro"/>
                          <a:sym typeface="Be Vietnam Pro"/>
                        </a:rPr>
                        <a:t> </a:t>
                      </a:r>
                      <a:r>
                        <a:rPr lang="en-US" sz="1200" b="1" u="none" strike="noStrike" cap="none" dirty="0" err="1">
                          <a:solidFill>
                            <a:srgbClr val="F6F7F4"/>
                          </a:solidFill>
                          <a:latin typeface="Be Vietnam Pro"/>
                          <a:ea typeface="Be Vietnam Pro"/>
                          <a:cs typeface="Be Vietnam Pro"/>
                          <a:sym typeface="Be Vietnam Pro"/>
                        </a:rPr>
                        <a:t>tiêu</a:t>
                      </a:r>
                      <a:r>
                        <a:rPr lang="en-US" sz="1200" b="1" u="none" strike="noStrike" cap="none" dirty="0">
                          <a:solidFill>
                            <a:srgbClr val="F6F7F4"/>
                          </a:solidFill>
                          <a:latin typeface="Be Vietnam Pro"/>
                          <a:ea typeface="Be Vietnam Pro"/>
                          <a:cs typeface="Be Vietnam Pro"/>
                          <a:sym typeface="Be Vietnam Pro"/>
                        </a:rPr>
                        <a:t> sprint</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a:solidFill>
                            <a:srgbClr val="F6F7F4"/>
                          </a:solidFill>
                          <a:latin typeface="Be Vietnam Pro"/>
                          <a:ea typeface="Be Vietnam Pro"/>
                          <a:cs typeface="Be Vietnam Pro"/>
                          <a:sym typeface="Be Vietnam Pro"/>
                        </a:rPr>
                        <a:t>SP cam kết</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a:solidFill>
                            <a:srgbClr val="F6F7F4"/>
                          </a:solidFill>
                          <a:latin typeface="Be Vietnam Pro"/>
                          <a:ea typeface="Be Vietnam Pro"/>
                          <a:cs typeface="Be Vietnam Pro"/>
                          <a:sym typeface="Be Vietnam Pro"/>
                        </a:rPr>
                        <a:t>SP 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dirty="0" err="1">
                          <a:solidFill>
                            <a:srgbClr val="F6F7F4"/>
                          </a:solidFill>
                          <a:latin typeface="Be Vietnam Pro"/>
                          <a:ea typeface="Be Vietnam Pro"/>
                          <a:cs typeface="Be Vietnam Pro"/>
                          <a:sym typeface="Be Vietnam Pro"/>
                        </a:rPr>
                        <a:t>Tỉ</a:t>
                      </a:r>
                      <a:r>
                        <a:rPr lang="en-US" sz="1200" b="1" u="none" strike="noStrike" cap="none" dirty="0">
                          <a:solidFill>
                            <a:srgbClr val="F6F7F4"/>
                          </a:solidFill>
                          <a:latin typeface="Be Vietnam Pro"/>
                          <a:ea typeface="Be Vietnam Pro"/>
                          <a:cs typeface="Be Vietnam Pro"/>
                          <a:sym typeface="Be Vietnam Pro"/>
                        </a:rPr>
                        <a:t> </a:t>
                      </a:r>
                      <a:r>
                        <a:rPr lang="en-US" sz="1200" b="1" u="none" strike="noStrike" cap="none" dirty="0" err="1">
                          <a:solidFill>
                            <a:srgbClr val="F6F7F4"/>
                          </a:solidFill>
                          <a:latin typeface="Be Vietnam Pro"/>
                          <a:ea typeface="Be Vietnam Pro"/>
                          <a:cs typeface="Be Vietnam Pro"/>
                          <a:sym typeface="Be Vietnam Pro"/>
                        </a:rPr>
                        <a:t>lệ</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Sprint 1–2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err="1">
                          <a:solidFill>
                            <a:srgbClr val="12263A"/>
                          </a:solidFill>
                          <a:latin typeface="Be Vietnam Pro"/>
                          <a:ea typeface="Be Vietnam Pro"/>
                          <a:cs typeface="Be Vietnam Pro"/>
                          <a:sym typeface="Be Vietnam Pro"/>
                        </a:rPr>
                        <a:t>Nền</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tảng</a:t>
                      </a:r>
                      <a:r>
                        <a:rPr lang="en-US" sz="1050" u="none" strike="noStrike" cap="none" dirty="0">
                          <a:solidFill>
                            <a:srgbClr val="12263A"/>
                          </a:solidFill>
                          <a:latin typeface="Be Vietnam Pro"/>
                          <a:ea typeface="Be Vietnam Pro"/>
                          <a:cs typeface="Be Vietnam Pro"/>
                          <a:sym typeface="Be Vietnam Pro"/>
                        </a:rPr>
                        <a:t> (12 SP) &amp; </a:t>
                      </a:r>
                      <a:r>
                        <a:rPr lang="en-US" sz="1050" u="none" strike="noStrike" cap="none" dirty="0" err="1">
                          <a:solidFill>
                            <a:srgbClr val="12263A"/>
                          </a:solidFill>
                          <a:latin typeface="Be Vietnam Pro"/>
                          <a:ea typeface="Be Vietnam Pro"/>
                          <a:cs typeface="Be Vietnam Pro"/>
                          <a:sym typeface="Be Vietnam Pro"/>
                        </a:rPr>
                        <a:t>Bàn</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giao</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lô</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Chuỗi</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băm</a:t>
                      </a:r>
                      <a:r>
                        <a:rPr lang="en-US" sz="1050" u="none" strike="noStrike" cap="none" dirty="0">
                          <a:solidFill>
                            <a:srgbClr val="12263A"/>
                          </a:solidFill>
                          <a:latin typeface="Be Vietnam Pro"/>
                          <a:ea typeface="Be Vietnam Pro"/>
                          <a:cs typeface="Be Vietnam Pro"/>
                          <a:sym typeface="Be Vietnam Pro"/>
                        </a:rPr>
                        <a:t> SHA-256 (20 SP)</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32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32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100%</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Sprint 3–5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Tách/gộp lô (20 SP), Tìm lô phát sinh (20 SP) &amp; Thu hồi lô (20 SP)</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100%</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a:solidFill>
                            <a:srgbClr val="12263A"/>
                          </a:solidFill>
                          <a:latin typeface="Be Vietnam Pro"/>
                          <a:ea typeface="Be Vietnam Pro"/>
                          <a:cs typeface="Be Vietnam Pro"/>
                          <a:sym typeface="Be Vietnam Pro"/>
                        </a:rPr>
                        <a:t>Sprint 6–8</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err="1">
                          <a:solidFill>
                            <a:srgbClr val="12263A"/>
                          </a:solidFill>
                          <a:latin typeface="Be Vietnam Pro"/>
                          <a:ea typeface="Be Vietnam Pro"/>
                          <a:cs typeface="Be Vietnam Pro"/>
                          <a:sym typeface="Be Vietnam Pro"/>
                        </a:rPr>
                        <a:t>Giám</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sát</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chuỗi</a:t>
                      </a:r>
                      <a:r>
                        <a:rPr lang="en-US" sz="1050" u="none" strike="noStrike" cap="none" dirty="0">
                          <a:solidFill>
                            <a:srgbClr val="12263A"/>
                          </a:solidFill>
                          <a:latin typeface="Be Vietnam Pro"/>
                          <a:ea typeface="Be Vietnam Pro"/>
                          <a:cs typeface="Be Vietnam Pro"/>
                          <a:sym typeface="Be Vietnam Pro"/>
                        </a:rPr>
                        <a:t> </a:t>
                      </a:r>
                      <a:r>
                        <a:rPr lang="en-US" sz="1050" u="none" strike="noStrike" cap="none" dirty="0" err="1">
                          <a:solidFill>
                            <a:srgbClr val="12263A"/>
                          </a:solidFill>
                          <a:latin typeface="Be Vietnam Pro"/>
                          <a:ea typeface="Be Vietnam Pro"/>
                          <a:cs typeface="Be Vietnam Pro"/>
                          <a:sym typeface="Be Vietnam Pro"/>
                        </a:rPr>
                        <a:t>lạnh</a:t>
                      </a:r>
                      <a:r>
                        <a:rPr lang="en-US" sz="1050" u="none" strike="noStrike" cap="none" dirty="0">
                          <a:solidFill>
                            <a:srgbClr val="12263A"/>
                          </a:solidFill>
                          <a:latin typeface="Be Vietnam Pro"/>
                          <a:ea typeface="Be Vietnam Pro"/>
                          <a:cs typeface="Be Vietnam Pro"/>
                          <a:sym typeface="Be Vietnam Pro"/>
                        </a:rPr>
                        <a:t> (20 SP), Tra </a:t>
                      </a:r>
                      <a:r>
                        <a:rPr lang="en-US" sz="1050" u="none" strike="noStrike" cap="none" dirty="0" err="1">
                          <a:solidFill>
                            <a:srgbClr val="12263A"/>
                          </a:solidFill>
                          <a:latin typeface="Be Vietnam Pro"/>
                          <a:ea typeface="Be Vietnam Pro"/>
                          <a:cs typeface="Be Vietnam Pro"/>
                          <a:sym typeface="Be Vietnam Pro"/>
                        </a:rPr>
                        <a:t>cứu</a:t>
                      </a:r>
                      <a:r>
                        <a:rPr lang="en-US" sz="1050" u="none" strike="noStrike" cap="none" dirty="0">
                          <a:solidFill>
                            <a:srgbClr val="12263A"/>
                          </a:solidFill>
                          <a:latin typeface="Be Vietnam Pro"/>
                          <a:ea typeface="Be Vietnam Pro"/>
                          <a:cs typeface="Be Vietnam Pro"/>
                          <a:sym typeface="Be Vietnam Pro"/>
                        </a:rPr>
                        <a:t> QR (20 SP) &amp; Báo </a:t>
                      </a:r>
                      <a:r>
                        <a:rPr lang="en-US" sz="1050" u="none" strike="noStrike" cap="none" dirty="0" err="1">
                          <a:solidFill>
                            <a:srgbClr val="12263A"/>
                          </a:solidFill>
                          <a:latin typeface="Be Vietnam Pro"/>
                          <a:ea typeface="Be Vietnam Pro"/>
                          <a:cs typeface="Be Vietnam Pro"/>
                          <a:sym typeface="Be Vietnam Pro"/>
                        </a:rPr>
                        <a:t>cáo</a:t>
                      </a:r>
                      <a:r>
                        <a:rPr lang="en-US" sz="1050" u="none" strike="noStrike" cap="none" dirty="0">
                          <a:solidFill>
                            <a:srgbClr val="12263A"/>
                          </a:solidFill>
                          <a:latin typeface="Be Vietnam Pro"/>
                          <a:ea typeface="Be Vietnam Pro"/>
                          <a:cs typeface="Be Vietnam Pro"/>
                          <a:sym typeface="Be Vietnam Pro"/>
                        </a:rPr>
                        <a:t> (38 SP)</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78</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78</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a:solidFill>
                            <a:srgbClr val="12263A"/>
                          </a:solidFill>
                          <a:latin typeface="Be Vietnam Pro"/>
                          <a:ea typeface="Be Vietnam Pro"/>
                          <a:cs typeface="Be Vietnam Pro"/>
                          <a:sym typeface="Be Vietnam Pro"/>
                        </a:rPr>
                        <a:t>100%</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err="1">
                          <a:solidFill>
                            <a:srgbClr val="12263A"/>
                          </a:solidFill>
                          <a:latin typeface="Be Vietnam Pro"/>
                          <a:ea typeface="Be Vietnam Pro"/>
                          <a:cs typeface="Be Vietnam Pro"/>
                          <a:sym typeface="Be Vietnam Pro"/>
                        </a:rPr>
                        <a:t>Tổng</a:t>
                      </a:r>
                      <a:r>
                        <a:rPr lang="en-US" sz="1050" u="none" strike="noStrike" cap="none" dirty="0">
                          <a:solidFill>
                            <a:srgbClr val="12263A"/>
                          </a:solidFill>
                          <a:latin typeface="Be Vietnam Pro"/>
                          <a:ea typeface="Be Vietnam Pro"/>
                          <a:cs typeface="Be Vietnam Pro"/>
                          <a:sym typeface="Be Vietnam Pro"/>
                        </a:rPr>
                        <a:t> (S1–S8)</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chemeClr val="dk1"/>
                        </a:buClr>
                        <a:buSzPts val="1200"/>
                        <a:buFont typeface="Calibri"/>
                        <a:buNone/>
                      </a:pPr>
                      <a:r>
                        <a:rPr sz="1050" dirty="0">
                          <a:latin typeface="Be Vietnam Pro"/>
                        </a:rPr>
                        <a:t>Hoàn </a:t>
                      </a:r>
                      <a:r>
                        <a:rPr sz="1050" dirty="0" err="1">
                          <a:latin typeface="Be Vietnam Pro"/>
                        </a:rPr>
                        <a:t>tất</a:t>
                      </a:r>
                      <a:r>
                        <a:rPr sz="1050" dirty="0">
                          <a:latin typeface="Be Vietnam Pro"/>
                        </a:rPr>
                        <a:t> 160/160 issues (63 Story, 16 Task, 69 Subtask, 12 Epic)</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a:solidFill>
                            <a:srgbClr val="12263A"/>
                          </a:solidFill>
                          <a:latin typeface="Be Vietnam Pro"/>
                          <a:ea typeface="Be Vietnam Pro"/>
                          <a:cs typeface="Be Vietnam Pro"/>
                          <a:sym typeface="Be Vietnam Pro"/>
                        </a:rPr>
                        <a:t>170</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a:solidFill>
                            <a:srgbClr val="12263A"/>
                          </a:solidFill>
                          <a:latin typeface="Be Vietnam Pro"/>
                          <a:ea typeface="Be Vietnam Pro"/>
                          <a:cs typeface="Be Vietnam Pro"/>
                          <a:sym typeface="Be Vietnam Pro"/>
                        </a:rPr>
                        <a:t>170</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50" u="none" strike="noStrike" cap="none" dirty="0">
                          <a:solidFill>
                            <a:srgbClr val="12263A"/>
                          </a:solidFill>
                          <a:latin typeface="Be Vietnam Pro"/>
                          <a:ea typeface="Be Vietnam Pro"/>
                          <a:cs typeface="Be Vietnam Pro"/>
                          <a:sym typeface="Be Vietnam Pro"/>
                        </a:rPr>
                        <a:t>100%</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extLst>
                  <a:ext uri="{0D108BD9-81ED-4DB2-BD59-A6C34878D82A}">
                    <a16:rowId xmlns:a16="http://schemas.microsoft.com/office/drawing/2014/main" val="10004"/>
                  </a:ext>
                </a:extLst>
              </a:tr>
            </a:tbl>
          </a:graphicData>
        </a:graphic>
      </p:graphicFrame>
      <p:sp>
        <p:nvSpPr>
          <p:cNvPr id="173" name="Google Shape;173;p6"/>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dirty="0" err="1">
                <a:solidFill>
                  <a:srgbClr val="5A6573"/>
                </a:solidFill>
                <a:latin typeface="Be Vietnam Pro"/>
                <a:ea typeface="Be Vietnam Pro"/>
                <a:cs typeface="Be Vietnam Pro"/>
                <a:sym typeface="Be Vietnam Pro"/>
              </a:rPr>
              <a:t>Nguồn</a:t>
            </a:r>
            <a:r>
              <a:rPr lang="en-US" sz="1200" b="0" i="0" u="none" strike="noStrike" cap="none" dirty="0">
                <a:solidFill>
                  <a:srgbClr val="5A6573"/>
                </a:solidFill>
                <a:latin typeface="Be Vietnam Pro"/>
                <a:ea typeface="Be Vietnam Pro"/>
                <a:cs typeface="Be Vietnam Pro"/>
                <a:sym typeface="Be Vietnam Pro"/>
              </a:rPr>
              <a:t>: Jira Board 4 (nhom3-k23c.atlassian.net) · 8 Sprint · </a:t>
            </a:r>
            <a:r>
              <a:rPr lang="en-US" sz="1200" b="0" i="0" u="none" strike="noStrike" cap="none" dirty="0" err="1">
                <a:solidFill>
                  <a:srgbClr val="5A6573"/>
                </a:solidFill>
                <a:latin typeface="Be Vietnam Pro"/>
                <a:ea typeface="Be Vietnam Pro"/>
                <a:cs typeface="Be Vietnam Pro"/>
                <a:sym typeface="Be Vietnam Pro"/>
              </a:rPr>
              <a:t>cập</a:t>
            </a:r>
            <a:r>
              <a:rPr lang="en-US" sz="1200" b="0" i="0" u="none" strike="noStrike" cap="none" dirty="0">
                <a:solidFill>
                  <a:srgbClr val="5A6573"/>
                </a:solidFill>
                <a:latin typeface="Be Vietnam Pro"/>
                <a:ea typeface="Be Vietnam Pro"/>
                <a:cs typeface="Be Vietnam Pro"/>
                <a:sym typeface="Be Vietnam Pro"/>
              </a:rPr>
              <a:t> </a:t>
            </a:r>
            <a:r>
              <a:rPr lang="en-US" sz="1200" b="0" i="0" u="none" strike="noStrike" cap="none" dirty="0" err="1">
                <a:solidFill>
                  <a:srgbClr val="5A6573"/>
                </a:solidFill>
                <a:latin typeface="Be Vietnam Pro"/>
                <a:ea typeface="Be Vietnam Pro"/>
                <a:cs typeface="Be Vietnam Pro"/>
                <a:sym typeface="Be Vietnam Pro"/>
              </a:rPr>
              <a:t>nhật</a:t>
            </a:r>
            <a:r>
              <a:rPr lang="en-US" sz="1200" b="0" i="0" u="none" strike="noStrike" cap="none" dirty="0">
                <a:solidFill>
                  <a:srgbClr val="5A6573"/>
                </a:solidFill>
                <a:latin typeface="Be Vietnam Pro"/>
                <a:ea typeface="Be Vietnam Pro"/>
                <a:cs typeface="Be Vietnam Pro"/>
                <a:sym typeface="Be Vietnam Pro"/>
              </a:rPr>
              <a:t> </a:t>
            </a:r>
            <a:r>
              <a:rPr lang="en-US" sz="1200" b="0" i="0" u="none" strike="noStrike" cap="none" dirty="0" err="1">
                <a:solidFill>
                  <a:srgbClr val="5A6573"/>
                </a:solidFill>
                <a:latin typeface="Be Vietnam Pro"/>
                <a:ea typeface="Be Vietnam Pro"/>
                <a:cs typeface="Be Vietnam Pro"/>
                <a:sym typeface="Be Vietnam Pro"/>
              </a:rPr>
              <a:t>ngày</a:t>
            </a:r>
            <a:r>
              <a:rPr lang="en-US" sz="1200" b="0" i="0" u="none" strike="noStrike" cap="none" dirty="0">
                <a:solidFill>
                  <a:srgbClr val="5A6573"/>
                </a:solidFill>
                <a:latin typeface="Be Vietnam Pro"/>
                <a:ea typeface="Be Vietnam Pro"/>
                <a:cs typeface="Be Vietnam Pro"/>
                <a:sym typeface="Be Vietnam Pro"/>
              </a:rPr>
              <a:t> 26/10/2026</a:t>
            </a:r>
            <a:endParaRPr sz="1200" b="0" i="0" u="none" strike="noStrike" cap="none" dirty="0">
              <a:solidFill>
                <a:schemeClr val="dk1"/>
              </a:solidFill>
              <a:latin typeface="Calibri"/>
              <a:ea typeface="Calibri"/>
              <a:cs typeface="Calibri"/>
              <a:sym typeface="Calibri"/>
            </a:endParaRPr>
          </a:p>
        </p:txBody>
      </p:sp>
      <p:sp>
        <p:nvSpPr>
          <p:cNvPr id="174" name="Google Shape;174;p6"/>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175" name="Google Shape;175;p6" descr="Logo Trường Đại học Công nghệ Thông tin và Truyền thông (ICTU)"/>
          <p:cNvPicPr preferRelativeResize="0"/>
          <p:nvPr/>
        </p:nvPicPr>
        <p:blipFill rotWithShape="1">
          <a:blip r:embed="rId5">
            <a:alphaModFix/>
          </a:blip>
          <a:srcRect/>
          <a:stretch/>
        </p:blipFill>
        <p:spPr>
          <a:xfrm>
            <a:off x="4778375" y="203200"/>
            <a:ext cx="406400" cy="406400"/>
          </a:xfrm>
          <a:prstGeom prst="rect">
            <a:avLst/>
          </a:prstGeom>
          <a:noFill/>
          <a:ln>
            <a:noFill/>
          </a:ln>
        </p:spPr>
      </p:pic>
      <p:pic>
        <p:nvPicPr>
          <p:cNvPr id="176" name="Google Shape;176;p6" descr="Logo CodeGym"/>
          <p:cNvPicPr preferRelativeResize="0"/>
          <p:nvPr/>
        </p:nvPicPr>
        <p:blipFill rotWithShape="1">
          <a:blip r:embed="rId6">
            <a:alphaModFix/>
          </a:blip>
          <a:srcRect t="-50" b="-50"/>
          <a:stretch/>
        </p:blipFill>
        <p:spPr>
          <a:xfrm>
            <a:off x="5438775" y="203200"/>
            <a:ext cx="1974850" cy="406400"/>
          </a:xfrm>
          <a:prstGeom prst="rect">
            <a:avLst/>
          </a:prstGeom>
          <a:noFill/>
          <a:ln>
            <a:noFill/>
          </a:ln>
        </p:spPr>
      </p:pic>
      <p:pic>
        <p:nvPicPr>
          <p:cNvPr id="177" name="Picture 176" descr="s6_velocity.png"/>
          <p:cNvPicPr>
            <a:picLocks noChangeAspect="1"/>
          </p:cNvPicPr>
          <p:nvPr/>
        </p:nvPicPr>
        <p:blipFill>
          <a:blip r:embed="rId7"/>
          <a:stretch>
            <a:fillRect/>
          </a:stretch>
        </p:blipFill>
        <p:spPr>
          <a:xfrm>
            <a:off x="859536" y="1847088"/>
            <a:ext cx="5120640" cy="1739936"/>
          </a:xfrm>
          <a:prstGeom prst="rect">
            <a:avLst/>
          </a:prstGeom>
        </p:spPr>
      </p:pic>
      <p:pic>
        <p:nvPicPr>
          <p:cNvPr id="178" name="Picture 177" descr="s6_burndown.png"/>
          <p:cNvPicPr>
            <a:picLocks noChangeAspect="1"/>
          </p:cNvPicPr>
          <p:nvPr/>
        </p:nvPicPr>
        <p:blipFill>
          <a:blip r:embed="rId8"/>
          <a:stretch>
            <a:fillRect/>
          </a:stretch>
        </p:blipFill>
        <p:spPr>
          <a:xfrm>
            <a:off x="6217920" y="1847088"/>
            <a:ext cx="5120640" cy="17399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181"/>
        <p:cNvGrpSpPr/>
        <p:nvPr/>
      </p:nvGrpSpPr>
      <p:grpSpPr>
        <a:xfrm>
          <a:off x="0" y="0"/>
          <a:ext cx="0" cy="0"/>
          <a:chOff x="0" y="0"/>
          <a:chExt cx="0" cy="0"/>
        </a:xfrm>
      </p:grpSpPr>
      <p:sp>
        <p:nvSpPr>
          <p:cNvPr id="182" name="Google Shape;182;p7"/>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05 — MINH CHỨNG GIT</a:t>
            </a:r>
            <a:endParaRPr sz="1200" b="0" i="0" u="none" strike="noStrike" cap="none">
              <a:solidFill>
                <a:schemeClr val="dk1"/>
              </a:solidFill>
              <a:latin typeface="Calibri"/>
              <a:ea typeface="Calibri"/>
              <a:cs typeface="Calibri"/>
              <a:sym typeface="Calibri"/>
            </a:endParaRPr>
          </a:p>
        </p:txBody>
      </p:sp>
      <p:sp>
        <p:nvSpPr>
          <p:cNvPr id="183" name="Google Shape;183;p7"/>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Hoạt động phát triển trên Git</a:t>
            </a:r>
            <a:endParaRPr sz="3200" b="0" i="0" u="none" strike="noStrike" cap="none">
              <a:solidFill>
                <a:schemeClr val="dk1"/>
              </a:solidFill>
              <a:latin typeface="Calibri"/>
              <a:ea typeface="Calibri"/>
              <a:cs typeface="Calibri"/>
              <a:sym typeface="Calibri"/>
            </a:endParaRPr>
          </a:p>
        </p:txBody>
      </p:sp>
      <p:sp>
        <p:nvSpPr>
          <p:cNvPr id="184" name="Google Shape;184;p7"/>
          <p:cNvSpPr/>
          <p:nvPr/>
        </p:nvSpPr>
        <p:spPr>
          <a:xfrm>
            <a:off x="795654" y="1803350"/>
            <a:ext cx="6367146" cy="3415812"/>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5" name="Google Shape;185;p7"/>
          <p:cNvCxnSpPr/>
          <p:nvPr/>
        </p:nvCxnSpPr>
        <p:spPr>
          <a:xfrm>
            <a:off x="7159625" y="1803350"/>
            <a:ext cx="0" cy="3392424"/>
          </a:xfrm>
          <a:prstGeom prst="straightConnector1">
            <a:avLst/>
          </a:prstGeom>
          <a:noFill/>
          <a:ln w="9525" cap="flat" cmpd="sng">
            <a:solidFill>
              <a:srgbClr val="DDE1DC"/>
            </a:solidFill>
            <a:prstDash val="solid"/>
            <a:round/>
            <a:headEnd type="none" w="sm" len="sm"/>
            <a:tailEnd type="none" w="sm" len="sm"/>
          </a:ln>
        </p:spPr>
      </p:cxnSp>
      <p:graphicFrame>
        <p:nvGraphicFramePr>
          <p:cNvPr id="187" name="Google Shape;187;p7"/>
          <p:cNvGraphicFramePr/>
          <p:nvPr>
            <p:extLst>
              <p:ext uri="{D42A27DB-BD31-4B8C-83A1-F6EECF244321}">
                <p14:modId xmlns:p14="http://schemas.microsoft.com/office/powerpoint/2010/main" val="3483725602"/>
              </p:ext>
            </p:extLst>
          </p:nvPr>
        </p:nvGraphicFramePr>
        <p:xfrm>
          <a:off x="812800" y="1830782"/>
          <a:ext cx="6367146" cy="3368568"/>
        </p:xfrm>
        <a:graphic>
          <a:graphicData uri="http://schemas.openxmlformats.org/drawingml/2006/table">
            <a:tbl>
              <a:tblPr>
                <a:noFill/>
                <a:tableStyleId>{F3BF7263-007E-43C9-8404-5F7C5483B795}</a:tableStyleId>
              </a:tblPr>
              <a:tblGrid>
                <a:gridCol w="2503655">
                  <a:extLst>
                    <a:ext uri="{9D8B030D-6E8A-4147-A177-3AD203B41FA5}">
                      <a16:colId xmlns:a16="http://schemas.microsoft.com/office/drawing/2014/main" val="20000"/>
                    </a:ext>
                  </a:extLst>
                </a:gridCol>
                <a:gridCol w="635653">
                  <a:extLst>
                    <a:ext uri="{9D8B030D-6E8A-4147-A177-3AD203B41FA5}">
                      <a16:colId xmlns:a16="http://schemas.microsoft.com/office/drawing/2014/main" val="20001"/>
                    </a:ext>
                  </a:extLst>
                </a:gridCol>
                <a:gridCol w="941969">
                  <a:extLst>
                    <a:ext uri="{9D8B030D-6E8A-4147-A177-3AD203B41FA5}">
                      <a16:colId xmlns:a16="http://schemas.microsoft.com/office/drawing/2014/main" val="20002"/>
                    </a:ext>
                  </a:extLst>
                </a:gridCol>
                <a:gridCol w="970299">
                  <a:extLst>
                    <a:ext uri="{9D8B030D-6E8A-4147-A177-3AD203B41FA5}">
                      <a16:colId xmlns:a16="http://schemas.microsoft.com/office/drawing/2014/main" val="20003"/>
                    </a:ext>
                  </a:extLst>
                </a:gridCol>
                <a:gridCol w="1315570">
                  <a:extLst>
                    <a:ext uri="{9D8B030D-6E8A-4147-A177-3AD203B41FA5}">
                      <a16:colId xmlns:a16="http://schemas.microsoft.com/office/drawing/2014/main" val="20004"/>
                    </a:ext>
                  </a:extLst>
                </a:gridCol>
              </a:tblGrid>
              <a:tr h="280714">
                <a:tc>
                  <a:txBody>
                    <a:bodyPr/>
                    <a:lstStyle/>
                    <a:p>
                      <a:pPr marL="0" marR="0" lvl="0" indent="0" algn="l" rtl="0">
                        <a:lnSpc>
                          <a:spcPct val="140000"/>
                        </a:lnSpc>
                        <a:spcBef>
                          <a:spcPts val="0"/>
                        </a:spcBef>
                        <a:spcAft>
                          <a:spcPts val="0"/>
                        </a:spcAft>
                        <a:buClr>
                          <a:srgbClr val="F6F7F4"/>
                        </a:buClr>
                        <a:buSzPts val="1200"/>
                        <a:buFont typeface="Be Vietnam Pro"/>
                        <a:buNone/>
                      </a:pPr>
                      <a:r>
                        <a:rPr lang="en-US" sz="880" b="1" u="none" strike="noStrike" cap="none" dirty="0">
                          <a:solidFill>
                            <a:srgbClr val="F6F7F4"/>
                          </a:solidFill>
                          <a:latin typeface="Be Vietnam Pro"/>
                          <a:ea typeface="Be Vietnam Pro"/>
                          <a:cs typeface="Be Vietnam Pro"/>
                          <a:sym typeface="Be Vietnam Pro"/>
                        </a:rPr>
                        <a:t>Thành </a:t>
                      </a:r>
                      <a:r>
                        <a:rPr lang="en-US" sz="880" b="1" u="none" strike="noStrike" cap="none" dirty="0" err="1">
                          <a:solidFill>
                            <a:srgbClr val="F6F7F4"/>
                          </a:solidFill>
                          <a:latin typeface="Be Vietnam Pro"/>
                          <a:ea typeface="Be Vietnam Pro"/>
                          <a:cs typeface="Be Vietnam Pro"/>
                          <a:sym typeface="Be Vietnam Pro"/>
                        </a:rPr>
                        <a:t>viên</a:t>
                      </a:r>
                      <a:r>
                        <a:rPr lang="en-US" sz="880" b="1" u="none" strike="noStrike" cap="none" dirty="0">
                          <a:solidFill>
                            <a:srgbClr val="F6F7F4"/>
                          </a:solidFill>
                          <a:latin typeface="Be Vietnam Pro"/>
                          <a:ea typeface="Be Vietnam Pro"/>
                          <a:cs typeface="Be Vietnam Pro"/>
                          <a:sym typeface="Be Vietnam Pro"/>
                        </a:rPr>
                        <a:t> (GitHub)</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80" b="1" u="none" strike="noStrike" cap="none" dirty="0">
                          <a:solidFill>
                            <a:srgbClr val="F6F7F4"/>
                          </a:solidFill>
                          <a:latin typeface="Be Vietnam Pro"/>
                          <a:ea typeface="Be Vietnam Pro"/>
                          <a:cs typeface="Be Vietnam Pro"/>
                          <a:sym typeface="Be Vietnam Pro"/>
                        </a:rPr>
                        <a:t>Commit</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80" b="1" u="none" strike="noStrike" cap="none">
                          <a:solidFill>
                            <a:srgbClr val="F6F7F4"/>
                          </a:solidFill>
                          <a:latin typeface="Be Vietnam Pro"/>
                          <a:ea typeface="Be Vietnam Pro"/>
                          <a:cs typeface="Be Vietnam Pro"/>
                          <a:sym typeface="Be Vietnam Pro"/>
                        </a:rPr>
                        <a:t>PR đã merge</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80" b="1" u="none" strike="noStrike" cap="none">
                          <a:solidFill>
                            <a:srgbClr val="F6F7F4"/>
                          </a:solidFill>
                          <a:latin typeface="Be Vietnam Pro"/>
                          <a:ea typeface="Be Vietnam Pro"/>
                          <a:cs typeface="Be Vietnam Pro"/>
                          <a:sym typeface="Be Vietnam Pro"/>
                        </a:rPr>
                        <a:t>PR đã review</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80" b="1" u="none" strike="noStrike" cap="none" dirty="0" err="1">
                          <a:solidFill>
                            <a:srgbClr val="F6F7F4"/>
                          </a:solidFill>
                          <a:latin typeface="Be Vietnam Pro"/>
                          <a:ea typeface="Be Vietnam Pro"/>
                          <a:cs typeface="Be Vietnam Pro"/>
                          <a:sym typeface="Be Vietnam Pro"/>
                        </a:rPr>
                        <a:t>Dòng</a:t>
                      </a:r>
                      <a:r>
                        <a:rPr lang="en-US" sz="880" b="1" u="none" strike="noStrike" cap="none" dirty="0">
                          <a:solidFill>
                            <a:srgbClr val="F6F7F4"/>
                          </a:solidFill>
                          <a:latin typeface="Be Vietnam Pro"/>
                          <a:ea typeface="Be Vietnam Pro"/>
                          <a:cs typeface="Be Vietnam Pro"/>
                          <a:sym typeface="Be Vietnam Pro"/>
                        </a:rPr>
                        <a:t> </a:t>
                      </a:r>
                      <a:r>
                        <a:rPr lang="en-US" sz="880" b="1" u="none" strike="noStrike" cap="none" dirty="0" err="1">
                          <a:solidFill>
                            <a:srgbClr val="F6F7F4"/>
                          </a:solidFill>
                          <a:latin typeface="Be Vietnam Pro"/>
                          <a:ea typeface="Be Vietnam Pro"/>
                          <a:cs typeface="Be Vietnam Pro"/>
                          <a:sym typeface="Be Vietnam Pro"/>
                        </a:rPr>
                        <a:t>thêm</a:t>
                      </a:r>
                      <a:r>
                        <a:rPr lang="en-US" sz="880" b="1" u="none" strike="noStrike" cap="none" dirty="0">
                          <a:solidFill>
                            <a:srgbClr val="F6F7F4"/>
                          </a:solidFill>
                          <a:latin typeface="Be Vietnam Pro"/>
                          <a:ea typeface="Be Vietnam Pro"/>
                          <a:cs typeface="Be Vietnam Pro"/>
                          <a:sym typeface="Be Vietnam Pro"/>
                        </a:rPr>
                        <a:t> / </a:t>
                      </a:r>
                      <a:r>
                        <a:rPr lang="en-US" sz="880" b="1" u="none" strike="noStrike" cap="none" dirty="0" err="1">
                          <a:solidFill>
                            <a:srgbClr val="F6F7F4"/>
                          </a:solidFill>
                          <a:latin typeface="Be Vietnam Pro"/>
                          <a:ea typeface="Be Vietnam Pro"/>
                          <a:cs typeface="Be Vietnam Pro"/>
                          <a:sym typeface="Be Vietnam Pro"/>
                        </a:rPr>
                        <a:t>xoá</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280714">
                <a:tc>
                  <a:txBody>
                    <a:bodyPr/>
                    <a:lstStyle/>
                    <a:p>
                      <a:pPr marL="0" marR="0" lvl="0" indent="0" algn="l" rtl="0">
                        <a:lnSpc>
                          <a:spcPct val="10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1. Vũ Hiếu Kiên (</a:t>
                      </a:r>
                      <a:r>
                        <a:rPr lang="en-US" sz="880" u="none" strike="noStrike" cap="none" dirty="0" err="1">
                          <a:solidFill>
                            <a:srgbClr val="12263A"/>
                          </a:solidFill>
                          <a:latin typeface="Be Vietnam Pro"/>
                          <a:ea typeface="Be Vietnam Pro"/>
                          <a:cs typeface="Be Vietnam Pro"/>
                          <a:sym typeface="Be Vietnam Pro"/>
                        </a:rPr>
                        <a:t>hieu-kiien</a:t>
                      </a:r>
                      <a:r>
                        <a:rPr lang="en-US" sz="880" u="none" strike="noStrike" cap="none" dirty="0">
                          <a:solidFill>
                            <a:srgbClr val="12263A"/>
                          </a:solidFill>
                          <a:latin typeface="Be Vietnam Pro"/>
                          <a:ea typeface="Be Vietnam Pro"/>
                          <a:cs typeface="Be Vietnam Pro"/>
                          <a:sym typeface="Be Vietnam Pro"/>
                        </a:rPr>
                        <a:t>)</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118</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38</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+38.412 / -14.257</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2. Lâm Tiến </a:t>
                      </a:r>
                      <a:r>
                        <a:rPr lang="en-US" sz="880" u="none" strike="noStrike" cap="none" dirty="0" err="1">
                          <a:solidFill>
                            <a:srgbClr val="12263A"/>
                          </a:solidFill>
                          <a:latin typeface="Be Vietnam Pro"/>
                          <a:ea typeface="Be Vietnam Pro"/>
                          <a:cs typeface="Be Vietnam Pro"/>
                          <a:sym typeface="Be Vietnam Pro"/>
                        </a:rPr>
                        <a:t>Khởi</a:t>
                      </a:r>
                      <a:r>
                        <a:rPr lang="en-US" sz="880" u="none" strike="noStrike" cap="none" dirty="0">
                          <a:solidFill>
                            <a:srgbClr val="12263A"/>
                          </a:solidFill>
                          <a:latin typeface="Be Vietnam Pro"/>
                          <a:ea typeface="Be Vietnam Pro"/>
                          <a:cs typeface="Be Vietnam Pro"/>
                          <a:sym typeface="Be Vietnam Pro"/>
                        </a:rPr>
                        <a:t> (dtc245200210)</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14</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6</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8</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+13.182 / -168</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3. Nguyễn Ngọc Linh (NgocLinh11)</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4</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+2.448 / -190</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4. Đinh Bách Hợp (minesan2297)</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7</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7</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6</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+6.774 / -180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4"/>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5. Nguyễn Thành Long (cautim38)</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7</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4</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5</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+2.083 / -49</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5"/>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6. Nguyễn Mạnh Kiên (dtc245200598)</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3</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+1.895 / -37</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6"/>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7. Thân Tuấn Linh (dtc245200390)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4</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+2.350 / -652</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7"/>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8. Đồng Quốc Khánh (dtc245200637)</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+5.001 / -292</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8"/>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9. Triệu Văn Nam (dtc245200652)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+2.116 / -12</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9"/>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10. Hoàng Trung Kiên (trkien412)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1</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+516 / -19</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10"/>
                  </a:ext>
                </a:extLst>
              </a:tr>
              <a:tr h="28071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err="1">
                          <a:solidFill>
                            <a:srgbClr val="12263A"/>
                          </a:solidFill>
                          <a:latin typeface="Be Vietnam Pro"/>
                          <a:ea typeface="Be Vietnam Pro"/>
                          <a:cs typeface="Be Vietnam Pro"/>
                          <a:sym typeface="Be Vietnam Pro"/>
                        </a:rPr>
                        <a:t>Tổng</a:t>
                      </a:r>
                      <a:r>
                        <a:rPr lang="en-US" sz="880" u="none" strike="noStrike" cap="none" dirty="0">
                          <a:solidFill>
                            <a:srgbClr val="12263A"/>
                          </a:solidFill>
                          <a:latin typeface="Be Vietnam Pro"/>
                          <a:ea typeface="Be Vietnam Pro"/>
                          <a:cs typeface="Be Vietnam Pro"/>
                          <a:sym typeface="Be Vietnam Pro"/>
                        </a:rPr>
                        <a:t> (+54 commit TK </a:t>
                      </a:r>
                      <a:r>
                        <a:rPr lang="en-US" sz="880" u="none" strike="noStrike" cap="none" dirty="0" err="1">
                          <a:solidFill>
                            <a:srgbClr val="12263A"/>
                          </a:solidFill>
                          <a:latin typeface="Be Vietnam Pro"/>
                          <a:ea typeface="Be Vietnam Pro"/>
                          <a:cs typeface="Be Vietnam Pro"/>
                          <a:sym typeface="Be Vietnam Pro"/>
                        </a:rPr>
                        <a:t>nhóm</a:t>
                      </a:r>
                      <a:r>
                        <a:rPr lang="en-US" sz="880" u="none" strike="noStrike" cap="none" dirty="0">
                          <a:solidFill>
                            <a:srgbClr val="12263A"/>
                          </a:solidFill>
                          <a:latin typeface="Be Vietnam Pro"/>
                          <a:ea typeface="Be Vietnam Pro"/>
                          <a:cs typeface="Be Vietnam Pro"/>
                          <a:sym typeface="Be Vietnam Pro"/>
                        </a:rPr>
                        <a:t>)</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227</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58</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a:solidFill>
                            <a:srgbClr val="12263A"/>
                          </a:solidFill>
                          <a:latin typeface="Be Vietnam Pro"/>
                          <a:ea typeface="Be Vietnam Pro"/>
                          <a:cs typeface="Be Vietnam Pro"/>
                          <a:sym typeface="Be Vietnam Pro"/>
                        </a:rPr>
                        <a:t>72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80" u="none" strike="noStrike" cap="none" dirty="0">
                          <a:solidFill>
                            <a:srgbClr val="12263A"/>
                          </a:solidFill>
                          <a:latin typeface="Be Vietnam Pro"/>
                          <a:ea typeface="Be Vietnam Pro"/>
                          <a:cs typeface="Be Vietnam Pro"/>
                          <a:sym typeface="Be Vietnam Pro"/>
                        </a:rPr>
                        <a:t>+92.668 / -20.482</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BDBFBB"/>
                      </a:solidFill>
                      <a:prstDash val="solid"/>
                      <a:round/>
                      <a:headEnd type="none" w="sm" len="sm"/>
                      <a:tailEnd type="none" w="sm" len="sm"/>
                    </a:lnL>
                    <a:lnR w="12700" cap="flat" cmpd="sng">
                      <a:solidFill>
                        <a:srgbClr val="BDBFBB"/>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BDBFBB"/>
                      </a:solidFill>
                      <a:prstDash val="solid"/>
                      <a:round/>
                      <a:headEnd type="none" w="sm" len="sm"/>
                      <a:tailEnd type="none" w="sm" len="sm"/>
                    </a:lnB>
                    <a:solidFill>
                      <a:srgbClr val="EDEFEA"/>
                    </a:solidFill>
                  </a:tcPr>
                </a:tc>
                <a:extLst>
                  <a:ext uri="{0D108BD9-81ED-4DB2-BD59-A6C34878D82A}">
                    <a16:rowId xmlns:a16="http://schemas.microsoft.com/office/drawing/2014/main" val="10011"/>
                  </a:ext>
                </a:extLst>
              </a:tr>
            </a:tbl>
          </a:graphicData>
        </a:graphic>
      </p:graphicFrame>
      <p:sp>
        <p:nvSpPr>
          <p:cNvPr id="188" name="Google Shape;188;p7"/>
          <p:cNvSpPr/>
          <p:nvPr/>
        </p:nvSpPr>
        <p:spPr>
          <a:xfrm>
            <a:off x="815975" y="5321808"/>
            <a:ext cx="6343650" cy="640080"/>
          </a:xfrm>
          <a:prstGeom prst="roundRect">
            <a:avLst>
              <a:gd name="adj" fmla="val 689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1022350" y="5376672"/>
            <a:ext cx="6108827" cy="29969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2263A"/>
              </a:buClr>
              <a:buSzPts val="1800"/>
              <a:buFont typeface="Be Vietnam Pro"/>
              <a:buNone/>
            </a:pPr>
            <a:r>
              <a:rPr lang="en-US" sz="950" b="1" i="0" u="none" strike="noStrike" cap="none">
                <a:solidFill>
                  <a:srgbClr val="12263A"/>
                </a:solidFill>
                <a:latin typeface="Be Vietnam Pro"/>
                <a:ea typeface="Be Vietnam Pro"/>
                <a:cs typeface="Be Vietnam Pro"/>
                <a:sym typeface="Be Vietnam Pro"/>
              </a:rPr>
              <a:t>Cách lấy số liệu trực tiếp từ Git &amp; GitHub Insights:</a:t>
            </a:r>
            <a:endParaRPr sz="1800" b="0" i="0" u="none" strike="noStrike" cap="none">
              <a:solidFill>
                <a:schemeClr val="dk1"/>
              </a:solidFill>
              <a:latin typeface="Calibri"/>
              <a:ea typeface="Calibri"/>
              <a:cs typeface="Calibri"/>
              <a:sym typeface="Calibri"/>
            </a:endParaRPr>
          </a:p>
        </p:txBody>
      </p:sp>
      <p:sp>
        <p:nvSpPr>
          <p:cNvPr id="190" name="Google Shape;190;p7"/>
          <p:cNvSpPr/>
          <p:nvPr/>
        </p:nvSpPr>
        <p:spPr>
          <a:xfrm>
            <a:off x="1022350" y="5632704"/>
            <a:ext cx="6108827" cy="45204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2556C4"/>
              </a:buClr>
              <a:buSzPts val="1200"/>
              <a:buFont typeface="JetBrains Mono"/>
              <a:buNone/>
            </a:pPr>
            <a:r>
              <a:rPr lang="en-US" sz="900" b="0" i="0" u="none" strike="noStrike" cap="none">
                <a:solidFill>
                  <a:srgbClr val="2556C4"/>
                </a:solidFill>
                <a:latin typeface="Be Vietnam Pro"/>
                <a:ea typeface="JetBrains Mono"/>
                <a:cs typeface="JetBrains Mono"/>
                <a:sym typeface="JetBrains Mono"/>
              </a:rPr>
              <a:t>git shortlog -sn HEAD  |  git log HEAD --author="&lt;tên&gt;" --numstat</a:t>
            </a:r>
            <a:endParaRPr sz="1200" b="0" i="0" u="none" strike="noStrike" cap="none">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2556C4"/>
              </a:buClr>
              <a:buSzPts val="1200"/>
              <a:buFont typeface="JetBrains Mono"/>
              <a:buNone/>
            </a:pPr>
            <a:endParaRPr sz="1200" b="0" i="0" u="none" strike="noStrike" cap="none">
              <a:solidFill>
                <a:schemeClr val="dk1"/>
              </a:solidFill>
              <a:latin typeface="Calibri"/>
              <a:ea typeface="Calibri"/>
              <a:cs typeface="Calibri"/>
              <a:sym typeface="Calibri"/>
            </a:endParaRPr>
          </a:p>
        </p:txBody>
      </p:sp>
      <p:sp>
        <p:nvSpPr>
          <p:cNvPr id="191" name="Google Shape;191;p7"/>
          <p:cNvSpPr/>
          <p:nvPr/>
        </p:nvSpPr>
        <p:spPr>
          <a:xfrm>
            <a:off x="1022350" y="5833872"/>
            <a:ext cx="610882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192" name="Google Shape;192;p7"/>
          <p:cNvSpPr/>
          <p:nvPr/>
        </p:nvSpPr>
        <p:spPr>
          <a:xfrm>
            <a:off x="7423150" y="1809700"/>
            <a:ext cx="3949700" cy="4025950"/>
          </a:xfrm>
          <a:prstGeom prst="roundRect">
            <a:avLst>
              <a:gd name="adj" fmla="val 2412"/>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3" name="Google Shape;193;p7" descr="Code"/>
          <p:cNvPicPr preferRelativeResize="0"/>
          <p:nvPr/>
        </p:nvPicPr>
        <p:blipFill rotWithShape="1">
          <a:blip r:embed="rId3">
            <a:alphaModFix/>
          </a:blip>
          <a:srcRect/>
          <a:stretch/>
        </p:blipFill>
        <p:spPr>
          <a:xfrm>
            <a:off x="9194800" y="3187700"/>
            <a:ext cx="406400" cy="406400"/>
          </a:xfrm>
          <a:prstGeom prst="rect">
            <a:avLst/>
          </a:prstGeom>
          <a:noFill/>
          <a:ln>
            <a:noFill/>
          </a:ln>
        </p:spPr>
      </p:pic>
      <p:sp>
        <p:nvSpPr>
          <p:cNvPr id="194" name="Google Shape;194;p7"/>
          <p:cNvSpPr/>
          <p:nvPr/>
        </p:nvSpPr>
        <p:spPr>
          <a:xfrm>
            <a:off x="7579741" y="3670300"/>
            <a:ext cx="3636518" cy="523180"/>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195" name="Google Shape;195;p7"/>
          <p:cNvSpPr/>
          <p:nvPr/>
        </p:nvSpPr>
        <p:spPr>
          <a:xfrm>
            <a:off x="7799359" y="4244280"/>
            <a:ext cx="3197231"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196" name="Google Shape;196;p7"/>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Repository: github.com/nhom-3-cnttk23c/truy-xuat-nguon-goc-chuoi-lanh-nong-san · 26/10/2026</a:t>
            </a:r>
            <a:endParaRPr sz="1200" b="0" i="0" u="none" strike="noStrike" cap="none">
              <a:solidFill>
                <a:schemeClr val="dk1"/>
              </a:solidFill>
              <a:latin typeface="Calibri"/>
              <a:ea typeface="Calibri"/>
              <a:cs typeface="Calibri"/>
              <a:sym typeface="Calibri"/>
            </a:endParaRPr>
          </a:p>
        </p:txBody>
      </p:sp>
      <p:sp>
        <p:nvSpPr>
          <p:cNvPr id="197" name="Google Shape;197;p7"/>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198" name="Google Shape;198;p7"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199" name="Google Shape;199;p7"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pic>
        <p:nvPicPr>
          <p:cNvPr id="200" name="Picture 199" descr="s7_git_contributors.png"/>
          <p:cNvPicPr>
            <a:picLocks noChangeAspect="1"/>
          </p:cNvPicPr>
          <p:nvPr/>
        </p:nvPicPr>
        <p:blipFill>
          <a:blip r:embed="rId6"/>
          <a:stretch>
            <a:fillRect/>
          </a:stretch>
        </p:blipFill>
        <p:spPr>
          <a:xfrm>
            <a:off x="7461504" y="1847088"/>
            <a:ext cx="3877056" cy="39208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04"/>
        <p:cNvGrpSpPr/>
        <p:nvPr/>
      </p:nvGrpSpPr>
      <p:grpSpPr>
        <a:xfrm>
          <a:off x="0" y="0"/>
          <a:ext cx="0" cy="0"/>
          <a:chOff x="0" y="0"/>
          <a:chExt cx="0" cy="0"/>
        </a:xfrm>
      </p:grpSpPr>
      <p:sp>
        <p:nvSpPr>
          <p:cNvPr id="205" name="Google Shape;205;p8"/>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06 — MINH CHỨNG GIT</a:t>
            </a:r>
            <a:endParaRPr sz="1200" b="0" i="0" u="none" strike="noStrike" cap="none">
              <a:solidFill>
                <a:schemeClr val="dk1"/>
              </a:solidFill>
              <a:latin typeface="Calibri"/>
              <a:ea typeface="Calibri"/>
              <a:cs typeface="Calibri"/>
              <a:sym typeface="Calibri"/>
            </a:endParaRPr>
          </a:p>
        </p:txBody>
      </p:sp>
      <p:sp>
        <p:nvSpPr>
          <p:cNvPr id="206" name="Google Shape;206;p8"/>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Quy trình Git &amp; Pull Request tiêu biểu</a:t>
            </a:r>
            <a:endParaRPr sz="3200" b="0" i="0" u="none" strike="noStrike" cap="none">
              <a:solidFill>
                <a:schemeClr val="dk1"/>
              </a:solidFill>
              <a:latin typeface="Calibri"/>
              <a:ea typeface="Calibri"/>
              <a:cs typeface="Calibri"/>
              <a:sym typeface="Calibri"/>
            </a:endParaRPr>
          </a:p>
        </p:txBody>
      </p:sp>
      <p:sp>
        <p:nvSpPr>
          <p:cNvPr id="207" name="Google Shape;207;p8"/>
          <p:cNvSpPr/>
          <p:nvPr/>
        </p:nvSpPr>
        <p:spPr>
          <a:xfrm>
            <a:off x="812800" y="1803350"/>
            <a:ext cx="5363210"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Mô hình nhánh</a:t>
            </a:r>
            <a:endParaRPr sz="1800" b="0" i="0" u="none" strike="noStrike" cap="none">
              <a:solidFill>
                <a:schemeClr val="dk1"/>
              </a:solidFill>
              <a:latin typeface="Calibri"/>
              <a:ea typeface="Calibri"/>
              <a:cs typeface="Calibri"/>
              <a:sym typeface="Calibri"/>
            </a:endParaRPr>
          </a:p>
        </p:txBody>
      </p:sp>
      <p:sp>
        <p:nvSpPr>
          <p:cNvPr id="208" name="Google Shape;208;p8"/>
          <p:cNvSpPr/>
          <p:nvPr/>
        </p:nvSpPr>
        <p:spPr>
          <a:xfrm>
            <a:off x="812800" y="2230041"/>
            <a:ext cx="1127770" cy="365720"/>
          </a:xfrm>
          <a:prstGeom prst="roundRect">
            <a:avLst>
              <a:gd name="adj" fmla="val 48616"/>
            </a:avLst>
          </a:prstGeom>
          <a:solidFill>
            <a:srgbClr val="255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8"/>
          <p:cNvSpPr/>
          <p:nvPr/>
        </p:nvSpPr>
        <p:spPr>
          <a:xfrm>
            <a:off x="965200" y="2306241"/>
            <a:ext cx="87377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F6F7F4"/>
              </a:buClr>
              <a:buSzPts val="1200"/>
              <a:buFont typeface="JetBrains Mono"/>
              <a:buNone/>
            </a:pPr>
            <a:r>
              <a:rPr lang="en-US" sz="1200" b="0" i="0" u="none" strike="noStrike" cap="none">
                <a:solidFill>
                  <a:srgbClr val="F6F7F4"/>
                </a:solidFill>
                <a:latin typeface="JetBrains Mono"/>
                <a:ea typeface="JetBrains Mono"/>
                <a:cs typeface="JetBrains Mono"/>
                <a:sym typeface="JetBrains Mono"/>
              </a:rPr>
              <a:t>feature/*</a:t>
            </a:r>
            <a:endParaRPr sz="1200" b="0" i="0" u="none" strike="noStrike" cap="none">
              <a:solidFill>
                <a:schemeClr val="dk1"/>
              </a:solidFill>
              <a:latin typeface="Calibri"/>
              <a:ea typeface="Calibri"/>
              <a:cs typeface="Calibri"/>
              <a:sym typeface="Calibri"/>
            </a:endParaRPr>
          </a:p>
        </p:txBody>
      </p:sp>
      <p:pic>
        <p:nvPicPr>
          <p:cNvPr id="210" name="Google Shape;210;p8" descr="arrow-right"/>
          <p:cNvPicPr preferRelativeResize="0"/>
          <p:nvPr/>
        </p:nvPicPr>
        <p:blipFill rotWithShape="1">
          <a:blip r:embed="rId3">
            <a:alphaModFix/>
          </a:blip>
          <a:srcRect/>
          <a:stretch/>
        </p:blipFill>
        <p:spPr>
          <a:xfrm>
            <a:off x="2042170" y="2324001"/>
            <a:ext cx="355600" cy="177800"/>
          </a:xfrm>
          <a:prstGeom prst="rect">
            <a:avLst/>
          </a:prstGeom>
          <a:noFill/>
          <a:ln>
            <a:noFill/>
          </a:ln>
        </p:spPr>
      </p:pic>
      <p:sp>
        <p:nvSpPr>
          <p:cNvPr id="211" name="Google Shape;211;p8"/>
          <p:cNvSpPr/>
          <p:nvPr/>
        </p:nvSpPr>
        <p:spPr>
          <a:xfrm>
            <a:off x="2499370" y="2230041"/>
            <a:ext cx="944910" cy="365720"/>
          </a:xfrm>
          <a:prstGeom prst="roundRect">
            <a:avLst>
              <a:gd name="adj" fmla="val 48616"/>
            </a:avLst>
          </a:prstGeom>
          <a:solidFill>
            <a:srgbClr val="122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8"/>
          <p:cNvSpPr/>
          <p:nvPr/>
        </p:nvSpPr>
        <p:spPr>
          <a:xfrm>
            <a:off x="2651770" y="2306241"/>
            <a:ext cx="690910" cy="23872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F6F7F4"/>
              </a:buClr>
              <a:buSzPts val="1200"/>
              <a:buFont typeface="JetBrains Mono"/>
              <a:buNone/>
            </a:pPr>
            <a:r>
              <a:rPr lang="en-US" sz="1200" b="0" i="0" u="none" strike="noStrike" cap="none">
                <a:solidFill>
                  <a:srgbClr val="F6F7F4"/>
                </a:solidFill>
                <a:latin typeface="JetBrains Mono"/>
                <a:ea typeface="JetBrains Mono"/>
                <a:cs typeface="JetBrains Mono"/>
                <a:sym typeface="JetBrains Mono"/>
              </a:rPr>
              <a:t>develops</a:t>
            </a:r>
            <a:endParaRPr sz="1200" b="0" i="0" u="none" strike="noStrike" cap="none">
              <a:solidFill>
                <a:schemeClr val="dk1"/>
              </a:solidFill>
              <a:latin typeface="Calibri"/>
              <a:ea typeface="Calibri"/>
              <a:cs typeface="Calibri"/>
              <a:sym typeface="Calibri"/>
            </a:endParaRPr>
          </a:p>
        </p:txBody>
      </p:sp>
      <p:pic>
        <p:nvPicPr>
          <p:cNvPr id="213" name="Google Shape;213;p8" descr="arrow-right"/>
          <p:cNvPicPr preferRelativeResize="0"/>
          <p:nvPr/>
        </p:nvPicPr>
        <p:blipFill rotWithShape="1">
          <a:blip r:embed="rId3">
            <a:alphaModFix/>
          </a:blip>
          <a:srcRect/>
          <a:stretch/>
        </p:blipFill>
        <p:spPr>
          <a:xfrm>
            <a:off x="3545880" y="2324001"/>
            <a:ext cx="355600" cy="177800"/>
          </a:xfrm>
          <a:prstGeom prst="rect">
            <a:avLst/>
          </a:prstGeom>
          <a:noFill/>
          <a:ln>
            <a:noFill/>
          </a:ln>
        </p:spPr>
      </p:pic>
      <p:sp>
        <p:nvSpPr>
          <p:cNvPr id="214" name="Google Shape;214;p8"/>
          <p:cNvSpPr/>
          <p:nvPr/>
        </p:nvSpPr>
        <p:spPr>
          <a:xfrm>
            <a:off x="4003080" y="2230041"/>
            <a:ext cx="670570" cy="365720"/>
          </a:xfrm>
          <a:prstGeom prst="roundRect">
            <a:avLst>
              <a:gd name="adj" fmla="val 48616"/>
            </a:avLst>
          </a:prstGeom>
          <a:solidFill>
            <a:srgbClr val="F28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4155480" y="2306241"/>
            <a:ext cx="41657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2263A"/>
              </a:buClr>
              <a:buSzPts val="1200"/>
              <a:buFont typeface="JetBrains Mono"/>
              <a:buNone/>
            </a:pPr>
            <a:r>
              <a:rPr lang="en-US" sz="1200" b="0" i="0" u="none" strike="noStrike" cap="none">
                <a:solidFill>
                  <a:srgbClr val="12263A"/>
                </a:solidFill>
                <a:latin typeface="JetBrains Mono"/>
                <a:ea typeface="JetBrains Mono"/>
                <a:cs typeface="JetBrains Mono"/>
                <a:sym typeface="JetBrains Mono"/>
              </a:rPr>
              <a:t>main</a:t>
            </a:r>
            <a:endParaRPr sz="1200" b="0" i="0" u="none" strike="noStrike" cap="none">
              <a:solidFill>
                <a:schemeClr val="dk1"/>
              </a:solidFill>
              <a:latin typeface="Calibri"/>
              <a:ea typeface="Calibri"/>
              <a:cs typeface="Calibri"/>
              <a:sym typeface="Calibri"/>
            </a:endParaRPr>
          </a:p>
        </p:txBody>
      </p:sp>
      <p:sp>
        <p:nvSpPr>
          <p:cNvPr id="216" name="Google Shape;216;p8"/>
          <p:cNvSpPr/>
          <p:nvPr/>
        </p:nvSpPr>
        <p:spPr>
          <a:xfrm>
            <a:off x="812800" y="2748161"/>
            <a:ext cx="536321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Merge vào develop qua PR; main chỉ nhận bản phát hành</a:t>
            </a:r>
            <a:endParaRPr sz="1200" b="0" i="0" u="none" strike="noStrike" cap="none">
              <a:solidFill>
                <a:schemeClr val="dk1"/>
              </a:solidFill>
              <a:latin typeface="Calibri"/>
              <a:ea typeface="Calibri"/>
              <a:cs typeface="Calibri"/>
              <a:sym typeface="Calibri"/>
            </a:endParaRPr>
          </a:p>
        </p:txBody>
      </p:sp>
      <p:sp>
        <p:nvSpPr>
          <p:cNvPr id="217" name="Google Shape;217;p8"/>
          <p:cNvSpPr/>
          <p:nvPr/>
        </p:nvSpPr>
        <p:spPr>
          <a:xfrm>
            <a:off x="815975" y="3117056"/>
            <a:ext cx="5200650" cy="2721769"/>
          </a:xfrm>
          <a:prstGeom prst="roundRect">
            <a:avLst>
              <a:gd name="adj" fmla="val 361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a:off x="1022350" y="3298031"/>
            <a:ext cx="493153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Quy tắc nhóm áp dụng</a:t>
            </a:r>
            <a:endParaRPr sz="1800" b="0" i="0" u="none" strike="noStrike" cap="none">
              <a:solidFill>
                <a:schemeClr val="dk1"/>
              </a:solidFill>
              <a:latin typeface="Calibri"/>
              <a:ea typeface="Calibri"/>
              <a:cs typeface="Calibri"/>
              <a:sym typeface="Calibri"/>
            </a:endParaRPr>
          </a:p>
        </p:txBody>
      </p:sp>
      <p:sp>
        <p:nvSpPr>
          <p:cNvPr id="219" name="Google Shape;219;p8"/>
          <p:cNvSpPr/>
          <p:nvPr/>
        </p:nvSpPr>
        <p:spPr>
          <a:xfrm>
            <a:off x="1022350" y="3648521"/>
            <a:ext cx="4931537" cy="1020961"/>
          </a:xfrm>
          <a:prstGeom prst="rect">
            <a:avLst/>
          </a:prstGeom>
          <a:noFill/>
          <a:ln>
            <a:noFill/>
          </a:ln>
        </p:spPr>
        <p:txBody>
          <a:bodyPr spcFirstLastPara="1" wrap="square" lIns="0" tIns="0" rIns="0" bIns="0" anchor="t" anchorCtr="0">
            <a:normAutofit/>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Tên nhánh: feature/N3-[mã-ticket]-[mô-tả]</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Commit: quy ước feat:, fix:, refactor:, test:</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PR có ≥ 1 người review trước khi merge</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GitHub Actions CI: ruff, eslint, pytest, build</a:t>
            </a:r>
            <a:endParaRPr sz="1400" b="0" i="0" u="none" strike="noStrike" cap="none">
              <a:solidFill>
                <a:schemeClr val="dk1"/>
              </a:solidFill>
              <a:latin typeface="Calibri"/>
              <a:ea typeface="Calibri"/>
              <a:cs typeface="Calibri"/>
              <a:sym typeface="Calibri"/>
            </a:endParaRPr>
          </a:p>
        </p:txBody>
      </p:sp>
      <p:sp>
        <p:nvSpPr>
          <p:cNvPr id="220" name="Google Shape;220;p8"/>
          <p:cNvSpPr/>
          <p:nvPr/>
        </p:nvSpPr>
        <p:spPr>
          <a:xfrm>
            <a:off x="6280150" y="1809700"/>
            <a:ext cx="5092700" cy="3711029"/>
          </a:xfrm>
          <a:prstGeom prst="roundRect">
            <a:avLst>
              <a:gd name="adj" fmla="val 2567"/>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1" name="Google Shape;221;p8" descr="Chat"/>
          <p:cNvPicPr preferRelativeResize="0"/>
          <p:nvPr/>
        </p:nvPicPr>
        <p:blipFill rotWithShape="1">
          <a:blip r:embed="rId4">
            <a:alphaModFix/>
          </a:blip>
          <a:srcRect/>
          <a:stretch/>
        </p:blipFill>
        <p:spPr>
          <a:xfrm>
            <a:off x="8623300" y="3154710"/>
            <a:ext cx="406400" cy="406400"/>
          </a:xfrm>
          <a:prstGeom prst="rect">
            <a:avLst/>
          </a:prstGeom>
          <a:noFill/>
          <a:ln>
            <a:noFill/>
          </a:ln>
        </p:spPr>
      </p:pic>
      <p:sp>
        <p:nvSpPr>
          <p:cNvPr id="222" name="Google Shape;222;p8"/>
          <p:cNvSpPr/>
          <p:nvPr/>
        </p:nvSpPr>
        <p:spPr>
          <a:xfrm>
            <a:off x="7034710" y="3637310"/>
            <a:ext cx="3583581"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223" name="Google Shape;223;p8"/>
          <p:cNvSpPr/>
          <p:nvPr/>
        </p:nvSpPr>
        <p:spPr>
          <a:xfrm>
            <a:off x="6962458" y="3962400"/>
            <a:ext cx="3728085"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224" name="Google Shape;224;p8"/>
          <p:cNvSpPr/>
          <p:nvPr/>
        </p:nvSpPr>
        <p:spPr>
          <a:xfrm>
            <a:off x="6273800" y="5628680"/>
            <a:ext cx="5120640" cy="2387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3F4A57"/>
              </a:buClr>
              <a:buSzPts val="1200"/>
              <a:buFont typeface="Be Vietnam Pro"/>
              <a:buNone/>
            </a:pPr>
            <a:r>
              <a:rPr lang="en-US" sz="1000" b="0" i="0" u="none" strike="noStrike" cap="none">
                <a:solidFill>
                  <a:srgbClr val="3F4A57"/>
                </a:solidFill>
                <a:latin typeface="Be Vietnam Pro"/>
                <a:ea typeface="Be Vietnam Pro"/>
                <a:cs typeface="Be Vietnam Pro"/>
                <a:sym typeface="Be Vietnam Pro"/>
              </a:rPr>
              <a:t>Ảnh chụp thực tế danh sách Pull Request &amp; kiểm tra CI trên GitHub của nhóm</a:t>
            </a:r>
            <a:endParaRPr sz="1200" b="0" i="0" u="none" strike="noStrike" cap="none">
              <a:solidFill>
                <a:schemeClr val="dk1"/>
              </a:solidFill>
              <a:latin typeface="Calibri"/>
              <a:ea typeface="Calibri"/>
              <a:cs typeface="Calibri"/>
              <a:sym typeface="Calibri"/>
            </a:endParaRPr>
          </a:p>
        </p:txBody>
      </p:sp>
      <p:sp>
        <p:nvSpPr>
          <p:cNvPr id="225" name="Google Shape;225;p8"/>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226" name="Google Shape;226;p8"/>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227" name="Google Shape;227;p8" descr="Logo Trường Đại học Công nghệ Thông tin và Truyền thông (ICTU)"/>
          <p:cNvPicPr preferRelativeResize="0"/>
          <p:nvPr/>
        </p:nvPicPr>
        <p:blipFill rotWithShape="1">
          <a:blip r:embed="rId5">
            <a:alphaModFix/>
          </a:blip>
          <a:srcRect/>
          <a:stretch/>
        </p:blipFill>
        <p:spPr>
          <a:xfrm>
            <a:off x="4778375" y="203200"/>
            <a:ext cx="406400" cy="406400"/>
          </a:xfrm>
          <a:prstGeom prst="rect">
            <a:avLst/>
          </a:prstGeom>
          <a:noFill/>
          <a:ln>
            <a:noFill/>
          </a:ln>
        </p:spPr>
      </p:pic>
      <p:pic>
        <p:nvPicPr>
          <p:cNvPr id="228" name="Google Shape;228;p8" descr="Logo CodeGym"/>
          <p:cNvPicPr preferRelativeResize="0"/>
          <p:nvPr/>
        </p:nvPicPr>
        <p:blipFill rotWithShape="1">
          <a:blip r:embed="rId6">
            <a:alphaModFix/>
          </a:blip>
          <a:srcRect t="-50" b="-50"/>
          <a:stretch/>
        </p:blipFill>
        <p:spPr>
          <a:xfrm>
            <a:off x="5438775" y="203200"/>
            <a:ext cx="1974850" cy="406400"/>
          </a:xfrm>
          <a:prstGeom prst="rect">
            <a:avLst/>
          </a:prstGeom>
          <a:noFill/>
          <a:ln>
            <a:noFill/>
          </a:ln>
        </p:spPr>
      </p:pic>
      <p:pic>
        <p:nvPicPr>
          <p:cNvPr id="229" name="Picture 228" descr="s8_pr_review.png"/>
          <p:cNvPicPr>
            <a:picLocks noChangeAspect="1"/>
          </p:cNvPicPr>
          <p:nvPr/>
        </p:nvPicPr>
        <p:blipFill>
          <a:blip r:embed="rId7"/>
          <a:stretch>
            <a:fillRect/>
          </a:stretch>
        </p:blipFill>
        <p:spPr>
          <a:xfrm>
            <a:off x="6318504" y="1847088"/>
            <a:ext cx="5020056" cy="3668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33"/>
        <p:cNvGrpSpPr/>
        <p:nvPr/>
      </p:nvGrpSpPr>
      <p:grpSpPr>
        <a:xfrm>
          <a:off x="0" y="0"/>
          <a:ext cx="0" cy="0"/>
          <a:chOff x="0" y="0"/>
          <a:chExt cx="0" cy="0"/>
        </a:xfrm>
      </p:grpSpPr>
      <p:sp>
        <p:nvSpPr>
          <p:cNvPr id="234" name="Google Shape;234;p9"/>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07 — KẾT QUẢ SẢN PHẨM</a:t>
            </a:r>
            <a:endParaRPr sz="1200" b="0" i="0" u="none" strike="noStrike" cap="none">
              <a:solidFill>
                <a:schemeClr val="dk1"/>
              </a:solidFill>
              <a:latin typeface="Calibri"/>
              <a:ea typeface="Calibri"/>
              <a:cs typeface="Calibri"/>
              <a:sym typeface="Calibri"/>
            </a:endParaRPr>
          </a:p>
        </p:txBody>
      </p:sp>
      <p:sp>
        <p:nvSpPr>
          <p:cNvPr id="235" name="Google Shape;235;p9"/>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Sản phẩm đã hoàn thành</a:t>
            </a:r>
            <a:endParaRPr sz="3200" b="0" i="0" u="none" strike="noStrike" cap="none">
              <a:solidFill>
                <a:schemeClr val="dk1"/>
              </a:solidFill>
              <a:latin typeface="Calibri"/>
              <a:ea typeface="Calibri"/>
              <a:cs typeface="Calibri"/>
              <a:sym typeface="Calibri"/>
            </a:endParaRPr>
          </a:p>
        </p:txBody>
      </p:sp>
      <p:sp>
        <p:nvSpPr>
          <p:cNvPr id="236" name="Google Shape;236;p9"/>
          <p:cNvSpPr/>
          <p:nvPr/>
        </p:nvSpPr>
        <p:spPr>
          <a:xfrm>
            <a:off x="819150" y="1809700"/>
            <a:ext cx="623570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7" name="Google Shape;237;p9" descr="Play"/>
          <p:cNvPicPr preferRelativeResize="0"/>
          <p:nvPr/>
        </p:nvPicPr>
        <p:blipFill rotWithShape="1">
          <a:blip r:embed="rId3">
            <a:alphaModFix/>
          </a:blip>
          <a:srcRect/>
          <a:stretch/>
        </p:blipFill>
        <p:spPr>
          <a:xfrm>
            <a:off x="3733800" y="3312170"/>
            <a:ext cx="406400" cy="406400"/>
          </a:xfrm>
          <a:prstGeom prst="rect">
            <a:avLst/>
          </a:prstGeom>
          <a:noFill/>
          <a:ln>
            <a:noFill/>
          </a:ln>
        </p:spPr>
      </p:pic>
      <p:sp>
        <p:nvSpPr>
          <p:cNvPr id="238" name="Google Shape;238;p9"/>
          <p:cNvSpPr/>
          <p:nvPr/>
        </p:nvSpPr>
        <p:spPr>
          <a:xfrm>
            <a:off x="2178065" y="3794770"/>
            <a:ext cx="3517869"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239" name="Google Shape;239;p9"/>
          <p:cNvSpPr/>
          <p:nvPr/>
        </p:nvSpPr>
        <p:spPr>
          <a:xfrm>
            <a:off x="2557976" y="4119860"/>
            <a:ext cx="2758047" cy="238720"/>
          </a:xfrm>
          <a:prstGeom prst="rect">
            <a:avLst/>
          </a:prstGeom>
          <a:noFill/>
          <a:ln>
            <a:noFill/>
          </a:ln>
        </p:spPr>
        <p:txBody>
          <a:bodyPr spcFirstLastPara="1" wrap="square" lIns="0" tIns="0" rIns="0" bIns="0" anchor="t" anchorCtr="0">
            <a:normAutofit lnSpcReduction="10000"/>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240" name="Google Shape;240;p9"/>
          <p:cNvSpPr/>
          <p:nvPr/>
        </p:nvSpPr>
        <p:spPr>
          <a:xfrm>
            <a:off x="7318375" y="1806525"/>
            <a:ext cx="4057650" cy="1708001"/>
          </a:xfrm>
          <a:prstGeom prst="roundRect">
            <a:avLst>
              <a:gd name="adj" fmla="val 5763"/>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p:cNvSpPr/>
          <p:nvPr/>
        </p:nvSpPr>
        <p:spPr>
          <a:xfrm>
            <a:off x="7524750" y="1987500"/>
            <a:ext cx="375424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dirty="0" err="1">
                <a:solidFill>
                  <a:srgbClr val="12263A"/>
                </a:solidFill>
                <a:latin typeface="Be Vietnam Pro"/>
                <a:ea typeface="Be Vietnam Pro"/>
                <a:cs typeface="Be Vietnam Pro"/>
                <a:sym typeface="Be Vietnam Pro"/>
              </a:rPr>
              <a:t>Tính</a:t>
            </a:r>
            <a:r>
              <a:rPr lang="en-US" sz="1800" b="1" i="0" u="none" strike="noStrike" cap="none" dirty="0">
                <a:solidFill>
                  <a:srgbClr val="12263A"/>
                </a:solidFill>
                <a:latin typeface="Be Vietnam Pro"/>
                <a:ea typeface="Be Vietnam Pro"/>
                <a:cs typeface="Be Vietnam Pro"/>
                <a:sym typeface="Be Vietnam Pro"/>
              </a:rPr>
              <a:t> </a:t>
            </a:r>
            <a:r>
              <a:rPr lang="en-US" sz="1800" b="1" i="0" u="none" strike="noStrike" cap="none" dirty="0" err="1">
                <a:solidFill>
                  <a:srgbClr val="12263A"/>
                </a:solidFill>
                <a:latin typeface="Be Vietnam Pro"/>
                <a:ea typeface="Be Vietnam Pro"/>
                <a:cs typeface="Be Vietnam Pro"/>
                <a:sym typeface="Be Vietnam Pro"/>
              </a:rPr>
              <a:t>năng</a:t>
            </a:r>
            <a:r>
              <a:rPr lang="en-US" sz="1800" b="1" i="0" u="none" strike="noStrike" cap="none" dirty="0">
                <a:solidFill>
                  <a:srgbClr val="12263A"/>
                </a:solidFill>
                <a:latin typeface="Be Vietnam Pro"/>
                <a:ea typeface="Be Vietnam Pro"/>
                <a:cs typeface="Be Vietnam Pro"/>
                <a:sym typeface="Be Vietnam Pro"/>
              </a:rPr>
              <a:t> </a:t>
            </a:r>
            <a:r>
              <a:rPr lang="en-US" sz="1800" b="1" i="0" u="none" strike="noStrike" cap="none" dirty="0" err="1">
                <a:solidFill>
                  <a:srgbClr val="12263A"/>
                </a:solidFill>
                <a:latin typeface="Be Vietnam Pro"/>
                <a:ea typeface="Be Vietnam Pro"/>
                <a:cs typeface="Be Vietnam Pro"/>
                <a:sym typeface="Be Vietnam Pro"/>
              </a:rPr>
              <a:t>cốt</a:t>
            </a:r>
            <a:r>
              <a:rPr lang="en-US" sz="1800" b="1" i="0" u="none" strike="noStrike" cap="none" dirty="0">
                <a:solidFill>
                  <a:srgbClr val="12263A"/>
                </a:solidFill>
                <a:latin typeface="Be Vietnam Pro"/>
                <a:ea typeface="Be Vietnam Pro"/>
                <a:cs typeface="Be Vietnam Pro"/>
                <a:sym typeface="Be Vietnam Pro"/>
              </a:rPr>
              <a:t> </a:t>
            </a:r>
            <a:r>
              <a:rPr lang="en-US" sz="1800" b="1" i="0" u="none" strike="noStrike" cap="none" dirty="0" err="1">
                <a:solidFill>
                  <a:srgbClr val="12263A"/>
                </a:solidFill>
                <a:latin typeface="Be Vietnam Pro"/>
                <a:ea typeface="Be Vietnam Pro"/>
                <a:cs typeface="Be Vietnam Pro"/>
                <a:sym typeface="Be Vietnam Pro"/>
              </a:rPr>
              <a:t>lõi</a:t>
            </a:r>
            <a:endParaRPr sz="1800" b="0" i="0" u="none" strike="noStrike" cap="none" dirty="0">
              <a:solidFill>
                <a:schemeClr val="dk1"/>
              </a:solidFill>
              <a:latin typeface="Calibri"/>
              <a:ea typeface="Calibri"/>
              <a:cs typeface="Calibri"/>
              <a:sym typeface="Calibri"/>
            </a:endParaRPr>
          </a:p>
        </p:txBody>
      </p:sp>
      <p:sp>
        <p:nvSpPr>
          <p:cNvPr id="242" name="Google Shape;242;p9"/>
          <p:cNvSpPr/>
          <p:nvPr/>
        </p:nvSpPr>
        <p:spPr>
          <a:xfrm>
            <a:off x="7524750" y="2337991"/>
            <a:ext cx="3754247" cy="1020961"/>
          </a:xfrm>
          <a:prstGeom prst="rect">
            <a:avLst/>
          </a:prstGeom>
          <a:noFill/>
          <a:ln>
            <a:noFill/>
          </a:ln>
        </p:spPr>
        <p:txBody>
          <a:bodyPr spcFirstLastPara="1" wrap="square" lIns="0" tIns="0" rIns="0" bIns="0" anchor="t" anchorCtr="0">
            <a:normAutofit fontScale="92500" lnSpcReduction="1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050" i="0" u="none" strike="noStrike" cap="none" dirty="0" err="1">
                <a:solidFill>
                  <a:srgbClr val="3F4A57"/>
                </a:solidFill>
                <a:latin typeface="Be Vietnam Pro"/>
                <a:ea typeface="Be Vietnam Pro"/>
                <a:cs typeface="Be Vietnam Pro"/>
                <a:sym typeface="Be Vietnam Pro"/>
              </a:rPr>
              <a:t>Vùng</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trồng</a:t>
            </a:r>
            <a:r>
              <a:rPr lang="en-US" sz="1050" i="0" u="none" strike="noStrike" cap="none" dirty="0">
                <a:solidFill>
                  <a:srgbClr val="3F4A57"/>
                </a:solidFill>
                <a:latin typeface="Be Vietnam Pro"/>
                <a:ea typeface="Be Vietnam Pro"/>
                <a:cs typeface="Be Vietnam Pro"/>
                <a:sym typeface="Be Vietnam Pro"/>
              </a:rPr>
              <a:t> GPS, </a:t>
            </a:r>
            <a:r>
              <a:rPr lang="en-US" sz="1050" i="0" u="none" strike="noStrike" cap="none" dirty="0" err="1">
                <a:solidFill>
                  <a:srgbClr val="3F4A57"/>
                </a:solidFill>
                <a:latin typeface="Be Vietnam Pro"/>
                <a:ea typeface="Be Vietnam Pro"/>
                <a:cs typeface="Be Vietnam Pro"/>
                <a:sym typeface="Be Vietnam Pro"/>
              </a:rPr>
              <a:t>lô</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thu</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hoạch</a:t>
            </a:r>
            <a:r>
              <a:rPr lang="en-US" sz="1050" i="0" u="none" strike="noStrike" cap="none" dirty="0">
                <a:solidFill>
                  <a:srgbClr val="3F4A57"/>
                </a:solidFill>
                <a:latin typeface="Be Vietnam Pro"/>
                <a:ea typeface="Be Vietnam Pro"/>
                <a:cs typeface="Be Vietnam Pro"/>
                <a:sym typeface="Be Vietnam Pro"/>
              </a:rPr>
              <a:t> Base32, </a:t>
            </a:r>
            <a:r>
              <a:rPr lang="en-US" sz="1050" i="0" u="none" strike="noStrike" cap="none" dirty="0" err="1">
                <a:solidFill>
                  <a:srgbClr val="3F4A57"/>
                </a:solidFill>
                <a:latin typeface="Be Vietnam Pro"/>
                <a:ea typeface="Be Vietnam Pro"/>
                <a:cs typeface="Be Vietnam Pro"/>
                <a:sym typeface="Be Vietnam Pro"/>
              </a:rPr>
              <a:t>vật</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tư</a:t>
            </a:r>
            <a:r>
              <a:rPr lang="en-US" sz="1050" i="0" u="none" strike="noStrike" cap="none" dirty="0">
                <a:solidFill>
                  <a:srgbClr val="3F4A57"/>
                </a:solidFill>
                <a:latin typeface="Be Vietnam Pro"/>
                <a:ea typeface="Be Vietnam Pro"/>
                <a:cs typeface="Be Vietnam Pro"/>
                <a:sym typeface="Be Vietnam Pro"/>
              </a:rPr>
              <a:t> &amp; </a:t>
            </a:r>
            <a:r>
              <a:rPr lang="en-US" sz="1050" i="0" u="none" strike="noStrike" cap="none" dirty="0" err="1">
                <a:solidFill>
                  <a:srgbClr val="3F4A57"/>
                </a:solidFill>
                <a:latin typeface="Be Vietnam Pro"/>
                <a:ea typeface="Be Vietnam Pro"/>
                <a:cs typeface="Be Vietnam Pro"/>
                <a:sym typeface="Be Vietnam Pro"/>
              </a:rPr>
              <a:t>sơ</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chế</a:t>
            </a:r>
            <a:r>
              <a:rPr lang="en-US" sz="1050" i="0" u="none" strike="noStrike" cap="none" dirty="0">
                <a:solidFill>
                  <a:srgbClr val="3F4A57"/>
                </a:solidFill>
                <a:latin typeface="Be Vietnam Pro"/>
                <a:ea typeface="Be Vietnam Pro"/>
                <a:cs typeface="Be Vietnam Pro"/>
                <a:sym typeface="Be Vietnam Pro"/>
              </a:rPr>
              <a:t>.</a:t>
            </a:r>
            <a:endParaRPr sz="1400" i="0" u="none" strike="noStrike" cap="none" dirty="0">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i="0" u="none" strike="noStrike" cap="none" dirty="0" err="1">
                <a:solidFill>
                  <a:srgbClr val="3F4A57"/>
                </a:solidFill>
                <a:latin typeface="Be Vietnam Pro"/>
                <a:ea typeface="Be Vietnam Pro"/>
                <a:cs typeface="Be Vietnam Pro"/>
                <a:sym typeface="Be Vietnam Pro"/>
              </a:rPr>
              <a:t>Phả</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hệ</a:t>
            </a:r>
            <a:r>
              <a:rPr lang="en-US" sz="1050" i="0" u="none" strike="noStrike" cap="none" dirty="0">
                <a:solidFill>
                  <a:srgbClr val="3F4A57"/>
                </a:solidFill>
                <a:latin typeface="Be Vietnam Pro"/>
                <a:ea typeface="Be Vietnam Pro"/>
                <a:cs typeface="Be Vietnam Pro"/>
                <a:sym typeface="Be Vietnam Pro"/>
              </a:rPr>
              <a:t> 2 </a:t>
            </a:r>
            <a:r>
              <a:rPr lang="en-US" sz="1050" i="0" u="none" strike="noStrike" cap="none" dirty="0" err="1">
                <a:solidFill>
                  <a:srgbClr val="3F4A57"/>
                </a:solidFill>
                <a:latin typeface="Be Vietnam Pro"/>
                <a:ea typeface="Be Vietnam Pro"/>
                <a:cs typeface="Be Vietnam Pro"/>
                <a:sym typeface="Be Vietnam Pro"/>
              </a:rPr>
              <a:t>chiều</a:t>
            </a:r>
            <a:r>
              <a:rPr lang="en-US" sz="1050" i="0" u="none" strike="noStrike" cap="none" dirty="0">
                <a:solidFill>
                  <a:srgbClr val="3F4A57"/>
                </a:solidFill>
                <a:latin typeface="Be Vietnam Pro"/>
                <a:ea typeface="Be Vietnam Pro"/>
                <a:cs typeface="Be Vietnam Pro"/>
                <a:sym typeface="Be Vietnam Pro"/>
              </a:rPr>
              <a:t> (React Flow DAG) &amp; </a:t>
            </a:r>
            <a:r>
              <a:rPr lang="en-US" sz="1050" i="0" u="none" strike="noStrike" cap="none" dirty="0" err="1">
                <a:solidFill>
                  <a:srgbClr val="3F4A57"/>
                </a:solidFill>
                <a:latin typeface="Be Vietnam Pro"/>
                <a:ea typeface="Be Vietnam Pro"/>
                <a:cs typeface="Be Vietnam Pro"/>
                <a:sym typeface="Be Vietnam Pro"/>
              </a:rPr>
              <a:t>bàn</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giao</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liên</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tổ</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chức</a:t>
            </a:r>
            <a:r>
              <a:rPr lang="en-US" sz="1050" i="0" u="none" strike="noStrike" cap="none" dirty="0">
                <a:solidFill>
                  <a:srgbClr val="3F4A57"/>
                </a:solidFill>
                <a:latin typeface="Be Vietnam Pro"/>
                <a:ea typeface="Be Vietnam Pro"/>
                <a:cs typeface="Be Vietnam Pro"/>
                <a:sym typeface="Be Vietnam Pro"/>
              </a:rPr>
              <a:t>.</a:t>
            </a:r>
            <a:endParaRPr sz="1400" i="0" u="none" strike="noStrike" cap="none" dirty="0">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i="0" u="none" strike="noStrike" cap="none" dirty="0" err="1">
                <a:solidFill>
                  <a:srgbClr val="3F4A57"/>
                </a:solidFill>
                <a:latin typeface="Be Vietnam Pro"/>
                <a:ea typeface="Be Vietnam Pro"/>
                <a:cs typeface="Be Vietnam Pro"/>
                <a:sym typeface="Be Vietnam Pro"/>
              </a:rPr>
              <a:t>Giám</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sát</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nhiệt</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độ</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chuỗi</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lạnh</a:t>
            </a:r>
            <a:r>
              <a:rPr lang="en-US" sz="1050" i="0" u="none" strike="noStrike" cap="none" dirty="0">
                <a:solidFill>
                  <a:srgbClr val="3F4A57"/>
                </a:solidFill>
                <a:latin typeface="Be Vietnam Pro"/>
                <a:ea typeface="Be Vietnam Pro"/>
                <a:cs typeface="Be Vietnam Pro"/>
                <a:sym typeface="Be Vietnam Pro"/>
              </a:rPr>
              <a:t> &amp; </a:t>
            </a:r>
            <a:r>
              <a:rPr lang="en-US" sz="1050" i="0" u="none" strike="noStrike" cap="none" dirty="0" err="1">
                <a:solidFill>
                  <a:srgbClr val="3F4A57"/>
                </a:solidFill>
                <a:latin typeface="Be Vietnam Pro"/>
                <a:ea typeface="Be Vietnam Pro"/>
                <a:cs typeface="Be Vietnam Pro"/>
                <a:sym typeface="Be Vietnam Pro"/>
              </a:rPr>
              <a:t>thu</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hồi</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khẩn</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cấp</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xuôi</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dòng</a:t>
            </a:r>
            <a:r>
              <a:rPr lang="en-US" sz="1050" i="0" u="none" strike="noStrike" cap="none" dirty="0">
                <a:solidFill>
                  <a:srgbClr val="3F4A57"/>
                </a:solidFill>
                <a:latin typeface="Be Vietnam Pro"/>
                <a:ea typeface="Be Vietnam Pro"/>
                <a:cs typeface="Be Vietnam Pro"/>
                <a:sym typeface="Be Vietnam Pro"/>
              </a:rPr>
              <a:t>.</a:t>
            </a:r>
            <a:endParaRPr sz="1400" i="0" u="none" strike="noStrike" cap="none" dirty="0">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050" i="0" u="none" strike="noStrike" cap="none" dirty="0" err="1">
                <a:solidFill>
                  <a:srgbClr val="3F4A57"/>
                </a:solidFill>
                <a:latin typeface="Be Vietnam Pro"/>
                <a:ea typeface="Be Vietnam Pro"/>
                <a:cs typeface="Be Vietnam Pro"/>
                <a:sym typeface="Be Vietnam Pro"/>
              </a:rPr>
              <a:t>Chuỗi</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băm</a:t>
            </a:r>
            <a:r>
              <a:rPr lang="en-US" sz="1050" i="0" u="none" strike="noStrike" cap="none" dirty="0">
                <a:solidFill>
                  <a:srgbClr val="3F4A57"/>
                </a:solidFill>
                <a:latin typeface="Be Vietnam Pro"/>
                <a:ea typeface="Be Vietnam Pro"/>
                <a:cs typeface="Be Vietnam Pro"/>
                <a:sym typeface="Be Vietnam Pro"/>
              </a:rPr>
              <a:t> SHA-256, </a:t>
            </a:r>
            <a:r>
              <a:rPr lang="en-US" sz="1050" i="0" u="none" strike="noStrike" cap="none" dirty="0" err="1">
                <a:solidFill>
                  <a:srgbClr val="3F4A57"/>
                </a:solidFill>
                <a:latin typeface="Be Vietnam Pro"/>
                <a:ea typeface="Be Vietnam Pro"/>
                <a:cs typeface="Be Vietnam Pro"/>
                <a:sym typeface="Be Vietnam Pro"/>
              </a:rPr>
              <a:t>tra</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cứu</a:t>
            </a:r>
            <a:r>
              <a:rPr lang="en-US" sz="1050" i="0" u="none" strike="noStrike" cap="none" dirty="0">
                <a:solidFill>
                  <a:srgbClr val="3F4A57"/>
                </a:solidFill>
                <a:latin typeface="Be Vietnam Pro"/>
                <a:ea typeface="Be Vietnam Pro"/>
                <a:cs typeface="Be Vietnam Pro"/>
                <a:sym typeface="Be Vietnam Pro"/>
              </a:rPr>
              <a:t> QR </a:t>
            </a:r>
            <a:r>
              <a:rPr lang="en-US" sz="1050" i="0" u="none" strike="noStrike" cap="none" dirty="0" err="1">
                <a:solidFill>
                  <a:srgbClr val="3F4A57"/>
                </a:solidFill>
                <a:latin typeface="Be Vietnam Pro"/>
                <a:ea typeface="Be Vietnam Pro"/>
                <a:cs typeface="Be Vietnam Pro"/>
                <a:sym typeface="Be Vietnam Pro"/>
              </a:rPr>
              <a:t>bản</a:t>
            </a:r>
            <a:r>
              <a:rPr lang="en-US" sz="1050" i="0" u="none" strike="noStrike" cap="none" dirty="0">
                <a:solidFill>
                  <a:srgbClr val="3F4A57"/>
                </a:solidFill>
                <a:latin typeface="Be Vietnam Pro"/>
                <a:ea typeface="Be Vietnam Pro"/>
                <a:cs typeface="Be Vietnam Pro"/>
                <a:sym typeface="Be Vietnam Pro"/>
              </a:rPr>
              <a:t> </a:t>
            </a:r>
            <a:r>
              <a:rPr lang="en-US" sz="1050" i="0" u="none" strike="noStrike" cap="none" dirty="0" err="1">
                <a:solidFill>
                  <a:srgbClr val="3F4A57"/>
                </a:solidFill>
                <a:latin typeface="Be Vietnam Pro"/>
                <a:ea typeface="Be Vietnam Pro"/>
                <a:cs typeface="Be Vietnam Pro"/>
                <a:sym typeface="Be Vietnam Pro"/>
              </a:rPr>
              <a:t>đồ</a:t>
            </a:r>
            <a:r>
              <a:rPr lang="en-US" sz="1050" i="0" u="none" strike="noStrike" cap="none" dirty="0">
                <a:solidFill>
                  <a:srgbClr val="3F4A57"/>
                </a:solidFill>
                <a:latin typeface="Be Vietnam Pro"/>
                <a:ea typeface="Be Vietnam Pro"/>
                <a:cs typeface="Be Vietnam Pro"/>
                <a:sym typeface="Be Vietnam Pro"/>
              </a:rPr>
              <a:t> &amp; </a:t>
            </a:r>
            <a:r>
              <a:rPr lang="en-US" sz="1050" i="0" u="none" strike="noStrike" cap="none" dirty="0" err="1">
                <a:solidFill>
                  <a:srgbClr val="3F4A57"/>
                </a:solidFill>
                <a:latin typeface="Be Vietnam Pro"/>
                <a:ea typeface="Be Vietnam Pro"/>
                <a:cs typeface="Be Vietnam Pro"/>
                <a:sym typeface="Be Vietnam Pro"/>
              </a:rPr>
              <a:t>xuất</a:t>
            </a:r>
            <a:r>
              <a:rPr lang="en-US" sz="1050" i="0" u="none" strike="noStrike" cap="none" dirty="0">
                <a:solidFill>
                  <a:srgbClr val="3F4A57"/>
                </a:solidFill>
                <a:latin typeface="Be Vietnam Pro"/>
                <a:ea typeface="Be Vietnam Pro"/>
                <a:cs typeface="Be Vietnam Pro"/>
                <a:sym typeface="Be Vietnam Pro"/>
              </a:rPr>
              <a:t> PDF A4.</a:t>
            </a:r>
            <a:endParaRPr sz="1400" i="0" u="none" strike="noStrike" cap="none" dirty="0">
              <a:solidFill>
                <a:schemeClr val="dk1"/>
              </a:solidFill>
              <a:latin typeface="Calibri"/>
              <a:ea typeface="Calibri"/>
              <a:cs typeface="Calibri"/>
              <a:sym typeface="Calibri"/>
            </a:endParaRPr>
          </a:p>
        </p:txBody>
      </p:sp>
      <p:sp>
        <p:nvSpPr>
          <p:cNvPr id="243" name="Google Shape;243;p9"/>
          <p:cNvSpPr/>
          <p:nvPr/>
        </p:nvSpPr>
        <p:spPr>
          <a:xfrm>
            <a:off x="7318375" y="3673277"/>
            <a:ext cx="4057650" cy="2165548"/>
          </a:xfrm>
          <a:prstGeom prst="roundRect">
            <a:avLst>
              <a:gd name="adj" fmla="val 454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9"/>
          <p:cNvSpPr/>
          <p:nvPr/>
        </p:nvSpPr>
        <p:spPr>
          <a:xfrm>
            <a:off x="7524750" y="3854252"/>
            <a:ext cx="375424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Truy cập sản phẩm</a:t>
            </a:r>
            <a:endParaRPr sz="1800" b="0" i="0" u="none" strike="noStrike" cap="none">
              <a:solidFill>
                <a:schemeClr val="dk1"/>
              </a:solidFill>
              <a:latin typeface="Calibri"/>
              <a:ea typeface="Calibri"/>
              <a:cs typeface="Calibri"/>
              <a:sym typeface="Calibri"/>
            </a:endParaRPr>
          </a:p>
        </p:txBody>
      </p:sp>
      <p:sp>
        <p:nvSpPr>
          <p:cNvPr id="245" name="Google Shape;245;p9"/>
          <p:cNvSpPr/>
          <p:nvPr/>
        </p:nvSpPr>
        <p:spPr>
          <a:xfrm>
            <a:off x="7524750" y="4204742"/>
            <a:ext cx="3754247" cy="126985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a:solidFill>
                  <a:srgbClr val="3F4A57"/>
                </a:solidFill>
                <a:latin typeface="Be Vietnam Pro"/>
                <a:ea typeface="Be Vietnam Pro"/>
                <a:cs typeface="Be Vietnam Pro"/>
                <a:sym typeface="Be Vietnam Pro"/>
              </a:rPr>
              <a:t>Web: https://ttcs-frontend-staging.onrender.com</a:t>
            </a:r>
            <a:endParaRPr sz="1400" b="0" i="0" u="none" strike="noStrike" cap="none" dirty="0">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a:solidFill>
                  <a:srgbClr val="3F4A57"/>
                </a:solidFill>
                <a:latin typeface="Be Vietnam Pro"/>
                <a:ea typeface="Be Vietnam Pro"/>
                <a:cs typeface="Be Vietnam Pro"/>
                <a:sym typeface="Be Vietnam Pro"/>
              </a:rPr>
              <a:t>API: https://ttcs-backend-staging.onrender.com/docs</a:t>
            </a:r>
            <a:endParaRPr sz="1400" b="0" i="0" u="none" strike="noStrike" cap="none" dirty="0">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a:solidFill>
                  <a:srgbClr val="3F4A57"/>
                </a:solidFill>
                <a:latin typeface="Be Vietnam Pro"/>
                <a:ea typeface="Be Vietnam Pro"/>
                <a:cs typeface="Be Vietnam Pro"/>
                <a:sym typeface="Be Vietnam Pro"/>
              </a:rPr>
              <a:t>Demo: 6 </a:t>
            </a:r>
            <a:r>
              <a:rPr lang="en-US" sz="1050" b="1" i="0" u="none" strike="noStrike" cap="none" dirty="0" err="1">
                <a:solidFill>
                  <a:srgbClr val="3F4A57"/>
                </a:solidFill>
                <a:latin typeface="Be Vietnam Pro"/>
                <a:ea typeface="Be Vietnam Pro"/>
                <a:cs typeface="Be Vietnam Pro"/>
                <a:sym typeface="Be Vietnam Pro"/>
              </a:rPr>
              <a:t>tài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khoản</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vai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trò</a:t>
            </a:r>
            <a:r>
              <a:rPr lang="en-US" sz="1050" b="1" i="0" u="none" strike="noStrike" cap="none" dirty="0">
                <a:solidFill>
                  <a:srgbClr val="3F4A57"/>
                </a:solidFill>
                <a:latin typeface="Be Vietnam Pro"/>
                <a:ea typeface="Be Vietnam Pro"/>
                <a:cs typeface="Be Vietnam Pro"/>
                <a:sym typeface="Be Vietnam Pro"/>
              </a:rPr>
              <a:t> + 4 </a:t>
            </a:r>
            <a:r>
              <a:rPr lang="en-US" sz="1050" b="1" i="0" u="none" strike="noStrike" cap="none" dirty="0" err="1">
                <a:solidFill>
                  <a:srgbClr val="3F4A57"/>
                </a:solidFill>
                <a:latin typeface="Be Vietnam Pro"/>
                <a:ea typeface="Be Vietnam Pro"/>
                <a:cs typeface="Be Vietnam Pro"/>
                <a:sym typeface="Be Vietnam Pro"/>
              </a:rPr>
              <a:t>mã</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lô</a:t>
            </a:r>
            <a:r>
              <a:rPr lang="en-US" sz="1050" b="1" i="0" u="none" strike="noStrike" cap="none" dirty="0">
                <a:solidFill>
                  <a:srgbClr val="3F4A57"/>
                </a:solidFill>
                <a:latin typeface="Be Vietnam Pro"/>
                <a:ea typeface="Be Vietnam Pro"/>
                <a:cs typeface="Be Vietnam Pro"/>
                <a:sym typeface="Be Vietnam Pro"/>
              </a:rPr>
              <a:t> QR </a:t>
            </a:r>
            <a:r>
              <a:rPr lang="en-US" sz="1050" b="1" i="0" u="none" strike="noStrike" cap="none" dirty="0" err="1">
                <a:solidFill>
                  <a:srgbClr val="3F4A57"/>
                </a:solidFill>
                <a:latin typeface="Be Vietnam Pro"/>
                <a:ea typeface="Be Vietnam Pro"/>
                <a:cs typeface="Be Vietnam Pro"/>
                <a:sym typeface="Be Vietnam Pro"/>
              </a:rPr>
              <a:t>công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khai</a:t>
            </a:r>
            <a:endParaRPr sz="1400" b="0" i="0" u="none" strike="noStrike" cap="none" dirty="0">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err="1">
                <a:solidFill>
                  <a:srgbClr val="3F4A57"/>
                </a:solidFill>
                <a:latin typeface="Be Vietnam Pro"/>
                <a:ea typeface="Be Vietnam Pro"/>
                <a:cs typeface="Be Vietnam Pro"/>
                <a:sym typeface="Be Vietnam Pro"/>
              </a:rPr>
              <a:t>Trạng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thái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Đã</a:t>
            </a:r>
            <a:r>
              <a:rPr lang="en-US" sz="1050" b="1" i="0" u="none" strike="noStrike" cap="none" dirty="0">
                <a:solidFill>
                  <a:srgbClr val="3F4A57"/>
                </a:solidFill>
                <a:latin typeface="Be Vietnam Pro"/>
                <a:ea typeface="Be Vietnam Pro"/>
                <a:cs typeface="Be Vietnam Pro"/>
                <a:sym typeface="Be Vietnam Pro"/>
              </a:rPr>
              <a:t> deploy </a:t>
            </a:r>
            <a:r>
              <a:rPr lang="en-US" sz="1050" b="1" i="0" u="none" strike="noStrike" cap="none" dirty="0" err="1">
                <a:solidFill>
                  <a:srgbClr val="3F4A57"/>
                </a:solidFill>
                <a:latin typeface="Be Vietnam Pro"/>
                <a:ea typeface="Be Vietnam Pro"/>
                <a:cs typeface="Be Vietnam Pro"/>
                <a:sym typeface="Be Vietnam Pro"/>
              </a:rPr>
              <a:t>chạy</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thật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trên</a:t>
            </a:r>
            <a:r>
              <a:rPr lang="en-US" sz="1050" b="1" i="0" u="none" strike="noStrike" cap="none" dirty="0">
                <a:solidFill>
                  <a:srgbClr val="3F4A57"/>
                </a:solidFill>
                <a:latin typeface="Be Vietnam Pro"/>
                <a:ea typeface="Be Vietnam Pro"/>
                <a:cs typeface="Be Vietnam Pro"/>
                <a:sym typeface="Be Vietnam Pro"/>
              </a:rPr>
              <a:t> Render Cloud</a:t>
            </a:r>
            <a:endParaRPr sz="1400" b="0" i="0" u="none" strike="noStrike" cap="none" dirty="0">
              <a:solidFill>
                <a:schemeClr val="dk1"/>
              </a:solidFill>
              <a:latin typeface="Calibri"/>
              <a:ea typeface="Calibri"/>
              <a:cs typeface="Calibri"/>
              <a:sym typeface="Calibri"/>
            </a:endParaRPr>
          </a:p>
        </p:txBody>
      </p:sp>
      <p:sp>
        <p:nvSpPr>
          <p:cNvPr id="246" name="Google Shape;246;p9"/>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247" name="Google Shape;247;p9"/>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248" name="Google Shape;248;p9"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249" name="Google Shape;249;p9"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pic>
        <p:nvPicPr>
          <p:cNvPr id="250" name="Picture 249" descr="staging_verified_grower_dashboard.png"/>
          <p:cNvPicPr>
            <a:picLocks noChangeAspect="1"/>
          </p:cNvPicPr>
          <p:nvPr/>
        </p:nvPicPr>
        <p:blipFill>
          <a:blip r:embed="rId6"/>
          <a:stretch>
            <a:fillRect/>
          </a:stretch>
        </p:blipFill>
        <p:spPr>
          <a:xfrm>
            <a:off x="859536" y="1865376"/>
            <a:ext cx="6199632" cy="3874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54"/>
        <p:cNvGrpSpPr/>
        <p:nvPr/>
      </p:nvGrpSpPr>
      <p:grpSpPr>
        <a:xfrm>
          <a:off x="0" y="0"/>
          <a:ext cx="0" cy="0"/>
          <a:chOff x="0" y="0"/>
          <a:chExt cx="0" cy="0"/>
        </a:xfrm>
      </p:grpSpPr>
      <p:sp>
        <p:nvSpPr>
          <p:cNvPr id="255" name="Google Shape;255;p10"/>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08 — KỸ THUẬT</a:t>
            </a:r>
            <a:endParaRPr sz="1200" b="0" i="0" u="none" strike="noStrike" cap="none">
              <a:solidFill>
                <a:schemeClr val="dk1"/>
              </a:solidFill>
              <a:latin typeface="Calibri"/>
              <a:ea typeface="Calibri"/>
              <a:cs typeface="Calibri"/>
              <a:sym typeface="Calibri"/>
            </a:endParaRPr>
          </a:p>
        </p:txBody>
      </p:sp>
      <p:sp>
        <p:nvSpPr>
          <p:cNvPr id="256" name="Google Shape;256;p10"/>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Kiến trúc &amp; công nghệ</a:t>
            </a:r>
            <a:endParaRPr sz="3200" b="0" i="0" u="none" strike="noStrike" cap="none">
              <a:solidFill>
                <a:schemeClr val="dk1"/>
              </a:solidFill>
              <a:latin typeface="Calibri"/>
              <a:ea typeface="Calibri"/>
              <a:cs typeface="Calibri"/>
              <a:sym typeface="Calibri"/>
            </a:endParaRPr>
          </a:p>
        </p:txBody>
      </p:sp>
      <p:sp>
        <p:nvSpPr>
          <p:cNvPr id="257" name="Google Shape;257;p10"/>
          <p:cNvSpPr/>
          <p:nvPr/>
        </p:nvSpPr>
        <p:spPr>
          <a:xfrm>
            <a:off x="819150" y="1809700"/>
            <a:ext cx="572770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10" descr="Settings"/>
          <p:cNvPicPr preferRelativeResize="0"/>
          <p:nvPr/>
        </p:nvPicPr>
        <p:blipFill rotWithShape="1">
          <a:blip r:embed="rId3">
            <a:alphaModFix/>
          </a:blip>
          <a:srcRect/>
          <a:stretch/>
        </p:blipFill>
        <p:spPr>
          <a:xfrm>
            <a:off x="3479800" y="3205510"/>
            <a:ext cx="406400" cy="406400"/>
          </a:xfrm>
          <a:prstGeom prst="rect">
            <a:avLst/>
          </a:prstGeom>
          <a:noFill/>
          <a:ln>
            <a:noFill/>
          </a:ln>
        </p:spPr>
      </p:pic>
      <p:sp>
        <p:nvSpPr>
          <p:cNvPr id="259" name="Google Shape;259;p10"/>
          <p:cNvSpPr/>
          <p:nvPr/>
        </p:nvSpPr>
        <p:spPr>
          <a:xfrm>
            <a:off x="2486395" y="3688110"/>
            <a:ext cx="2393210"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260" name="Google Shape;260;p10"/>
          <p:cNvSpPr/>
          <p:nvPr/>
        </p:nvSpPr>
        <p:spPr>
          <a:xfrm>
            <a:off x="2368513" y="4013200"/>
            <a:ext cx="2628974" cy="452041"/>
          </a:xfrm>
          <a:prstGeom prst="rect">
            <a:avLst/>
          </a:prstGeom>
          <a:noFill/>
          <a:ln>
            <a:noFill/>
          </a:ln>
        </p:spPr>
        <p:txBody>
          <a:bodyPr spcFirstLastPara="1" wrap="square" lIns="0" tIns="0" rIns="0" bIns="0" anchor="t" anchorCtr="0">
            <a:normAutofit/>
          </a:bodyPr>
          <a:lstStyle/>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a:p>
            <a:pPr marL="0" marR="0" lvl="0" indent="0" algn="ctr" rtl="0">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261" name="Google Shape;261;p10"/>
          <p:cNvSpPr/>
          <p:nvPr/>
        </p:nvSpPr>
        <p:spPr>
          <a:xfrm>
            <a:off x="6807200" y="1803350"/>
            <a:ext cx="470916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LẬP TRÌNH WEB</a:t>
            </a:r>
            <a:endParaRPr sz="1200" b="0" i="0" u="none" strike="noStrike" cap="none">
              <a:solidFill>
                <a:schemeClr val="dk1"/>
              </a:solidFill>
              <a:latin typeface="Calibri"/>
              <a:ea typeface="Calibri"/>
              <a:cs typeface="Calibri"/>
              <a:sym typeface="Calibri"/>
            </a:endParaRPr>
          </a:p>
        </p:txBody>
      </p:sp>
      <p:sp>
        <p:nvSpPr>
          <p:cNvPr id="262" name="Google Shape;262;p10"/>
          <p:cNvSpPr/>
          <p:nvPr/>
        </p:nvSpPr>
        <p:spPr>
          <a:xfrm>
            <a:off x="6807200" y="2092871"/>
            <a:ext cx="4572000" cy="2217707"/>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3" name="Google Shape;263;p10"/>
          <p:cNvCxnSpPr/>
          <p:nvPr/>
        </p:nvCxnSpPr>
        <p:spPr>
          <a:xfrm>
            <a:off x="11376025" y="2092871"/>
            <a:ext cx="0" cy="1349772"/>
          </a:xfrm>
          <a:prstGeom prst="straightConnector1">
            <a:avLst/>
          </a:prstGeom>
          <a:noFill/>
          <a:ln w="9525" cap="flat" cmpd="sng">
            <a:solidFill>
              <a:srgbClr val="DDE1DC"/>
            </a:solidFill>
            <a:prstDash val="solid"/>
            <a:round/>
            <a:headEnd type="none" w="sm" len="sm"/>
            <a:tailEnd type="none" w="sm" len="sm"/>
          </a:ln>
        </p:spPr>
      </p:cxnSp>
      <p:graphicFrame>
        <p:nvGraphicFramePr>
          <p:cNvPr id="265" name="Google Shape;265;p10"/>
          <p:cNvGraphicFramePr/>
          <p:nvPr>
            <p:extLst>
              <p:ext uri="{D42A27DB-BD31-4B8C-83A1-F6EECF244321}">
                <p14:modId xmlns:p14="http://schemas.microsoft.com/office/powerpoint/2010/main" val="3529154550"/>
              </p:ext>
            </p:extLst>
          </p:nvPr>
        </p:nvGraphicFramePr>
        <p:xfrm>
          <a:off x="6807200" y="2079940"/>
          <a:ext cx="4552950" cy="2210136"/>
        </p:xfrm>
        <a:graphic>
          <a:graphicData uri="http://schemas.openxmlformats.org/drawingml/2006/table">
            <a:tbl>
              <a:tblPr>
                <a:noFill/>
                <a:tableStyleId>{F3BF7263-007E-43C9-8404-5F7C5483B795}</a:tableStyleId>
              </a:tblPr>
              <a:tblGrid>
                <a:gridCol w="1821175">
                  <a:extLst>
                    <a:ext uri="{9D8B030D-6E8A-4147-A177-3AD203B41FA5}">
                      <a16:colId xmlns:a16="http://schemas.microsoft.com/office/drawing/2014/main" val="20000"/>
                    </a:ext>
                  </a:extLst>
                </a:gridCol>
                <a:gridCol w="2731775">
                  <a:extLst>
                    <a:ext uri="{9D8B030D-6E8A-4147-A177-3AD203B41FA5}">
                      <a16:colId xmlns:a16="http://schemas.microsoft.com/office/drawing/2014/main" val="20001"/>
                    </a:ext>
                  </a:extLst>
                </a:gridCol>
              </a:tblGrid>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Frontend</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React 19, TypeScript, Vite, React Flow (DAG), Leaflet</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0"/>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Backend</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Python 3.12, FastAPI, SQLAlchemy 2.0, Alembic, ReportLab</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Database</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PostgreSQL 16 (Row-Level Security, Trigger </a:t>
                      </a:r>
                      <a:r>
                        <a:rPr lang="en-US" sz="1100" u="none" strike="noStrike" cap="none" dirty="0" err="1">
                          <a:solidFill>
                            <a:srgbClr val="12263A"/>
                          </a:solidFill>
                          <a:latin typeface="Be Vietnam Pro"/>
                          <a:ea typeface="Be Vietnam Pro"/>
                          <a:cs typeface="Be Vietnam Pro"/>
                          <a:sym typeface="Be Vietnam Pro"/>
                        </a:rPr>
                        <a:t>bất</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biến</a:t>
                      </a:r>
                      <a:r>
                        <a:rPr lang="en-US" sz="1100" u="none" strike="noStrike" cap="none" dirty="0">
                          <a:solidFill>
                            <a:srgbClr val="12263A"/>
                          </a:solidFill>
                          <a:latin typeface="Be Vietnam Pro"/>
                          <a:ea typeface="Be Vietnam Pro"/>
                          <a:cs typeface="Be Vietnam Pro"/>
                          <a:sym typeface="Be Vietnam Pro"/>
                        </a:rPr>
                        <a:t>)</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err="1">
                          <a:solidFill>
                            <a:srgbClr val="12263A"/>
                          </a:solidFill>
                          <a:latin typeface="Be Vietnam Pro"/>
                          <a:ea typeface="Be Vietnam Pro"/>
                          <a:cs typeface="Be Vietnam Pro"/>
                          <a:sym typeface="Be Vietnam Pro"/>
                        </a:rPr>
                        <a:t>Triển</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khai</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Docker Compose, GitHub Actions CI/CD, Render &amp; Neon DB</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66" name="Google Shape;266;p10"/>
          <p:cNvSpPr/>
          <p:nvPr/>
        </p:nvSpPr>
        <p:spPr>
          <a:xfrm>
            <a:off x="6807200" y="3595043"/>
            <a:ext cx="470916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endParaRPr sz="1200" b="0" i="0" u="none" strike="noStrike" cap="none">
              <a:solidFill>
                <a:schemeClr val="dk1"/>
              </a:solidFill>
              <a:latin typeface="Calibri"/>
              <a:ea typeface="Calibri"/>
              <a:cs typeface="Calibri"/>
              <a:sym typeface="Calibri"/>
            </a:endParaRPr>
          </a:p>
        </p:txBody>
      </p:sp>
      <p:sp>
        <p:nvSpPr>
          <p:cNvPr id="267" name="Google Shape;267;p10"/>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268" name="Google Shape;268;p10"/>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269" name="Google Shape;269;p10"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270" name="Google Shape;270;p10"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pic>
        <p:nvPicPr>
          <p:cNvPr id="271" name="Picture 270" descr="s10_architecture.png"/>
          <p:cNvPicPr>
            <a:picLocks noChangeAspect="1"/>
          </p:cNvPicPr>
          <p:nvPr/>
        </p:nvPicPr>
        <p:blipFill>
          <a:blip r:embed="rId6"/>
          <a:stretch>
            <a:fillRect/>
          </a:stretch>
        </p:blipFill>
        <p:spPr>
          <a:xfrm>
            <a:off x="859536" y="1847088"/>
            <a:ext cx="5650992" cy="39719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75"/>
        <p:cNvGrpSpPr/>
        <p:nvPr/>
      </p:nvGrpSpPr>
      <p:grpSpPr>
        <a:xfrm>
          <a:off x="0" y="0"/>
          <a:ext cx="0" cy="0"/>
          <a:chOff x="0" y="0"/>
          <a:chExt cx="0" cy="0"/>
        </a:xfrm>
      </p:grpSpPr>
      <p:sp>
        <p:nvSpPr>
          <p:cNvPr id="276" name="Google Shape;276;p11"/>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09 — KẾT QUẢ SẢN PHẨM</a:t>
            </a:r>
            <a:endParaRPr sz="1200" b="0" i="0" u="none" strike="noStrike" cap="none">
              <a:solidFill>
                <a:schemeClr val="dk1"/>
              </a:solidFill>
              <a:latin typeface="Calibri"/>
              <a:ea typeface="Calibri"/>
              <a:cs typeface="Calibri"/>
              <a:sym typeface="Calibri"/>
            </a:endParaRPr>
          </a:p>
        </p:txBody>
      </p:sp>
      <p:sp>
        <p:nvSpPr>
          <p:cNvPr id="277" name="Google Shape;277;p11"/>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Mục tiêu đầu kỳ ↔ Kết quả thực tế</a:t>
            </a:r>
            <a:endParaRPr sz="3200" b="0" i="0" u="none" strike="noStrike" cap="none">
              <a:solidFill>
                <a:schemeClr val="dk1"/>
              </a:solidFill>
              <a:latin typeface="Calibri"/>
              <a:ea typeface="Calibri"/>
              <a:cs typeface="Calibri"/>
              <a:sym typeface="Calibri"/>
            </a:endParaRPr>
          </a:p>
        </p:txBody>
      </p:sp>
      <p:sp>
        <p:nvSpPr>
          <p:cNvPr id="278" name="Google Shape;278;p11"/>
          <p:cNvSpPr/>
          <p:nvPr/>
        </p:nvSpPr>
        <p:spPr>
          <a:xfrm>
            <a:off x="812800" y="1803350"/>
            <a:ext cx="10566400" cy="2951568"/>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9" name="Google Shape;279;p11"/>
          <p:cNvCxnSpPr/>
          <p:nvPr/>
        </p:nvCxnSpPr>
        <p:spPr>
          <a:xfrm>
            <a:off x="11376025" y="1803350"/>
            <a:ext cx="0" cy="2015133"/>
          </a:xfrm>
          <a:prstGeom prst="straightConnector1">
            <a:avLst/>
          </a:prstGeom>
          <a:noFill/>
          <a:ln w="9525" cap="flat" cmpd="sng">
            <a:solidFill>
              <a:srgbClr val="DDE1DC"/>
            </a:solidFill>
            <a:prstDash val="solid"/>
            <a:round/>
            <a:headEnd type="none" w="sm" len="sm"/>
            <a:tailEnd type="none" w="sm" len="sm"/>
          </a:ln>
        </p:spPr>
      </p:cxnSp>
      <p:graphicFrame>
        <p:nvGraphicFramePr>
          <p:cNvPr id="281" name="Google Shape;281;p11"/>
          <p:cNvGraphicFramePr/>
          <p:nvPr>
            <p:extLst>
              <p:ext uri="{D42A27DB-BD31-4B8C-83A1-F6EECF244321}">
                <p14:modId xmlns:p14="http://schemas.microsoft.com/office/powerpoint/2010/main" val="581094698"/>
              </p:ext>
            </p:extLst>
          </p:nvPr>
        </p:nvGraphicFramePr>
        <p:xfrm>
          <a:off x="825476" y="1832744"/>
          <a:ext cx="10547375" cy="2892780"/>
        </p:xfrm>
        <a:graphic>
          <a:graphicData uri="http://schemas.openxmlformats.org/drawingml/2006/table">
            <a:tbl>
              <a:tblPr>
                <a:noFill/>
                <a:tableStyleId>{F3BF7263-007E-43C9-8404-5F7C5483B795}</a:tableStyleId>
              </a:tblPr>
              <a:tblGrid>
                <a:gridCol w="632850">
                  <a:extLst>
                    <a:ext uri="{9D8B030D-6E8A-4147-A177-3AD203B41FA5}">
                      <a16:colId xmlns:a16="http://schemas.microsoft.com/office/drawing/2014/main" val="20000"/>
                    </a:ext>
                  </a:extLst>
                </a:gridCol>
                <a:gridCol w="2320425">
                  <a:extLst>
                    <a:ext uri="{9D8B030D-6E8A-4147-A177-3AD203B41FA5}">
                      <a16:colId xmlns:a16="http://schemas.microsoft.com/office/drawing/2014/main" val="20001"/>
                    </a:ext>
                  </a:extLst>
                </a:gridCol>
                <a:gridCol w="2531375">
                  <a:extLst>
                    <a:ext uri="{9D8B030D-6E8A-4147-A177-3AD203B41FA5}">
                      <a16:colId xmlns:a16="http://schemas.microsoft.com/office/drawing/2014/main" val="20002"/>
                    </a:ext>
                  </a:extLst>
                </a:gridCol>
                <a:gridCol w="2531375">
                  <a:extLst>
                    <a:ext uri="{9D8B030D-6E8A-4147-A177-3AD203B41FA5}">
                      <a16:colId xmlns:a16="http://schemas.microsoft.com/office/drawing/2014/main" val="20003"/>
                    </a:ext>
                  </a:extLst>
                </a:gridCol>
                <a:gridCol w="1265675">
                  <a:extLst>
                    <a:ext uri="{9D8B030D-6E8A-4147-A177-3AD203B41FA5}">
                      <a16:colId xmlns:a16="http://schemas.microsoft.com/office/drawing/2014/main" val="20004"/>
                    </a:ext>
                  </a:extLst>
                </a:gridCol>
                <a:gridCol w="1265675">
                  <a:extLst>
                    <a:ext uri="{9D8B030D-6E8A-4147-A177-3AD203B41FA5}">
                      <a16:colId xmlns:a16="http://schemas.microsoft.com/office/drawing/2014/main" val="20005"/>
                    </a:ext>
                  </a:extLst>
                </a:gridCol>
              </a:tblGrid>
              <a:tr h="332675">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a:solidFill>
                            <a:srgbClr val="F6F7F4"/>
                          </a:solidFill>
                          <a:latin typeface="Be Vietnam Pro"/>
                          <a:ea typeface="Be Vietnam Pro"/>
                          <a:cs typeface="Be Vietnam Pro"/>
                          <a:sym typeface="Be Vietnam Pro"/>
                        </a:rPr>
                        <a:t>STT</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a:solidFill>
                            <a:srgbClr val="F6F7F4"/>
                          </a:solidFill>
                          <a:latin typeface="Be Vietnam Pro"/>
                          <a:ea typeface="Be Vietnam Pro"/>
                          <a:cs typeface="Be Vietnam Pro"/>
                          <a:sym typeface="Be Vietnam Pro"/>
                        </a:rPr>
                        <a:t>Tính năng / Hạng mục</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a:solidFill>
                            <a:srgbClr val="F6F7F4"/>
                          </a:solidFill>
                          <a:latin typeface="Be Vietnam Pro"/>
                          <a:ea typeface="Be Vietnam Pro"/>
                          <a:cs typeface="Be Vietnam Pro"/>
                          <a:sym typeface="Be Vietnam Pro"/>
                        </a:rPr>
                        <a:t>Mục tiêu đầu kỳ</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dirty="0" err="1">
                          <a:solidFill>
                            <a:srgbClr val="F6F7F4"/>
                          </a:solidFill>
                          <a:latin typeface="Be Vietnam Pro"/>
                          <a:ea typeface="Be Vietnam Pro"/>
                          <a:cs typeface="Be Vietnam Pro"/>
                          <a:sym typeface="Be Vietnam Pro"/>
                        </a:rPr>
                        <a:t>Kết</a:t>
                      </a:r>
                      <a:r>
                        <a:rPr lang="en-US" sz="1000" b="1" u="none" strike="noStrike" cap="none" dirty="0">
                          <a:solidFill>
                            <a:srgbClr val="F6F7F4"/>
                          </a:solidFill>
                          <a:latin typeface="Be Vietnam Pro"/>
                          <a:ea typeface="Be Vietnam Pro"/>
                          <a:cs typeface="Be Vietnam Pro"/>
                          <a:sym typeface="Be Vietnam Pro"/>
                        </a:rPr>
                        <a:t> </a:t>
                      </a:r>
                      <a:r>
                        <a:rPr lang="en-US" sz="1000" b="1" u="none" strike="noStrike" cap="none" dirty="0" err="1">
                          <a:solidFill>
                            <a:srgbClr val="F6F7F4"/>
                          </a:solidFill>
                          <a:latin typeface="Be Vietnam Pro"/>
                          <a:ea typeface="Be Vietnam Pro"/>
                          <a:cs typeface="Be Vietnam Pro"/>
                          <a:sym typeface="Be Vietnam Pro"/>
                        </a:rPr>
                        <a:t>quả</a:t>
                      </a:r>
                      <a:r>
                        <a:rPr lang="en-US" sz="1000" b="1" u="none" strike="noStrike" cap="none" dirty="0">
                          <a:solidFill>
                            <a:srgbClr val="F6F7F4"/>
                          </a:solidFill>
                          <a:latin typeface="Be Vietnam Pro"/>
                          <a:ea typeface="Be Vietnam Pro"/>
                          <a:cs typeface="Be Vietnam Pro"/>
                          <a:sym typeface="Be Vietnam Pro"/>
                        </a:rPr>
                        <a:t> </a:t>
                      </a:r>
                      <a:r>
                        <a:rPr lang="en-US" sz="1000" b="1" u="none" strike="noStrike" cap="none" dirty="0" err="1">
                          <a:solidFill>
                            <a:srgbClr val="F6F7F4"/>
                          </a:solidFill>
                          <a:latin typeface="Be Vietnam Pro"/>
                          <a:ea typeface="Be Vietnam Pro"/>
                          <a:cs typeface="Be Vietnam Pro"/>
                          <a:sym typeface="Be Vietnam Pro"/>
                        </a:rPr>
                        <a:t>thực</a:t>
                      </a:r>
                      <a:r>
                        <a:rPr lang="en-US" sz="1000" b="1" u="none" strike="noStrike" cap="none" dirty="0">
                          <a:solidFill>
                            <a:srgbClr val="F6F7F4"/>
                          </a:solidFill>
                          <a:latin typeface="Be Vietnam Pro"/>
                          <a:ea typeface="Be Vietnam Pro"/>
                          <a:cs typeface="Be Vietnam Pro"/>
                          <a:sym typeface="Be Vietnam Pro"/>
                        </a:rPr>
                        <a:t> </a:t>
                      </a:r>
                      <a:r>
                        <a:rPr lang="en-US" sz="1000" b="1" u="none" strike="noStrike" cap="none" dirty="0" err="1">
                          <a:solidFill>
                            <a:srgbClr val="F6F7F4"/>
                          </a:solidFill>
                          <a:latin typeface="Be Vietnam Pro"/>
                          <a:ea typeface="Be Vietnam Pro"/>
                          <a:cs typeface="Be Vietnam Pro"/>
                          <a:sym typeface="Be Vietnam Pro"/>
                        </a:rPr>
                        <a:t>tế</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a:solidFill>
                            <a:srgbClr val="F6F7F4"/>
                          </a:solidFill>
                          <a:latin typeface="Be Vietnam Pro"/>
                          <a:ea typeface="Be Vietnam Pro"/>
                          <a:cs typeface="Be Vietnam Pro"/>
                          <a:sym typeface="Be Vietnam Pro"/>
                        </a:rPr>
                        <a:t>Trạng thái</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000" b="1" u="none" strike="noStrike" cap="none">
                          <a:solidFill>
                            <a:srgbClr val="F6F7F4"/>
                          </a:solidFill>
                          <a:latin typeface="Be Vietnam Pro"/>
                          <a:ea typeface="Be Vietnam Pro"/>
                          <a:cs typeface="Be Vietnam Pro"/>
                          <a:sym typeface="Be Vietnam Pro"/>
                        </a:rPr>
                        <a:t>Minh chứng</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1</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Phân quyền &amp; Cô lập dữ liệu</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RBAC 6 vai trò + PostgreSQL RLS</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Hoàn thiện JWT, CSRF, RLS &amp; ẩn danh PII</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2556C4"/>
                        </a:buClr>
                        <a:buSzPts val="1200"/>
                        <a:buFont typeface="Be Vietnam Pro"/>
                        <a:buNone/>
                      </a:pPr>
                      <a:r>
                        <a:rPr lang="en-US" sz="1000" b="1" u="none" strike="noStrike" cap="none">
                          <a:solidFill>
                            <a:srgbClr val="1D4ED8"/>
                          </a:solidFill>
                          <a:latin typeface="Be Vietnam Pro"/>
                          <a:ea typeface="Be Vietnam Pro"/>
                          <a:cs typeface="Be Vietnam Pro"/>
                          <a:sym typeface="Be Vietnam Pro"/>
                        </a:rPr>
                        <a:t>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N3-1 → N3-22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Lô hàng, Bàn giao &amp; Phả hệ</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Tách/gộp lô &amp; truy vết 2 chiều</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Đồ thị DAG trực quan, khóa dòng chống tranh chấp</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A35200"/>
                        </a:buClr>
                        <a:buSzPts val="1200"/>
                        <a:buFont typeface="Be Vietnam Pro"/>
                        <a:buNone/>
                      </a:pPr>
                      <a:r>
                        <a:rPr lang="en-US" sz="1000" b="1" u="none" strike="noStrike" cap="none">
                          <a:solidFill>
                            <a:srgbClr val="1D4ED8"/>
                          </a:solidFill>
                          <a:latin typeface="Be Vietnam Pro"/>
                          <a:ea typeface="Be Vietnam Pro"/>
                          <a:cs typeface="Be Vietnam Pro"/>
                          <a:sym typeface="Be Vietnam Pro"/>
                        </a:rPr>
                        <a:t>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N3-32 → N3-47</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Chuỗi lạnh &amp; Cảm biến</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Nhận điểm đo &amp; phát hiện vi phạm</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API X-Sensor-Key, biểu đồ ngưỡng &amp; nén theo giờ</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5A6573"/>
                        </a:buClr>
                        <a:buSzPts val="1200"/>
                        <a:buFont typeface="Be Vietnam Pro"/>
                        <a:buNone/>
                      </a:pPr>
                      <a:r>
                        <a:rPr lang="en-US" sz="1000" b="1" u="none" strike="noStrike" cap="none">
                          <a:solidFill>
                            <a:srgbClr val="1D4ED8"/>
                          </a:solidFill>
                          <a:latin typeface="Be Vietnam Pro"/>
                          <a:ea typeface="Be Vietnam Pro"/>
                          <a:cs typeface="Be Vietnam Pro"/>
                          <a:sym typeface="Be Vietnam Pro"/>
                        </a:rPr>
                        <a:t>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N3-58 → N3-64</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4</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Thu hồi khẩn cấp xuôi dòng</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Cảnh báo &amp; xác nhận đa tổ chức</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Tự động tìm lô con/cháu &amp; xác nhận bất biến</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b="1" u="none" strike="noStrike" cap="none">
                          <a:solidFill>
                            <a:srgbClr val="1D4ED8"/>
                          </a:solidFill>
                          <a:latin typeface="Be Vietnam Pro"/>
                          <a:ea typeface="Be Vietnam Pro"/>
                          <a:cs typeface="Be Vietnam Pro"/>
                          <a:sym typeface="Be Vietnam Pro"/>
                        </a:rPr>
                        <a:t>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N3-49 → N3-55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4"/>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Chuỗi băm, QR &amp; Báo cáo PDF</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a:solidFill>
                            <a:srgbClr val="12263A"/>
                          </a:solidFill>
                          <a:latin typeface="Be Vietnam Pro"/>
                          <a:ea typeface="Be Vietnam Pro"/>
                          <a:cs typeface="Be Vietnam Pro"/>
                          <a:sym typeface="Be Vietnam Pro"/>
                        </a:rPr>
                        <a:t>SHA-256 RFC 8785, QR &amp; PDF A4</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dirty="0" err="1">
                          <a:solidFill>
                            <a:srgbClr val="12263A"/>
                          </a:solidFill>
                          <a:latin typeface="Be Vietnam Pro"/>
                          <a:ea typeface="Be Vietnam Pro"/>
                          <a:cs typeface="Be Vietnam Pro"/>
                          <a:sym typeface="Be Vietnam Pro"/>
                        </a:rPr>
                        <a:t>Quét</a:t>
                      </a:r>
                      <a:r>
                        <a:rPr lang="en-US" sz="1000" u="none" strike="noStrike" cap="none" dirty="0">
                          <a:solidFill>
                            <a:srgbClr val="12263A"/>
                          </a:solidFill>
                          <a:latin typeface="Be Vietnam Pro"/>
                          <a:ea typeface="Be Vietnam Pro"/>
                          <a:cs typeface="Be Vietnam Pro"/>
                          <a:sym typeface="Be Vietnam Pro"/>
                        </a:rPr>
                        <a:t> </a:t>
                      </a:r>
                      <a:r>
                        <a:rPr lang="en-US" sz="1000" u="none" strike="noStrike" cap="none" dirty="0" err="1">
                          <a:solidFill>
                            <a:srgbClr val="12263A"/>
                          </a:solidFill>
                          <a:latin typeface="Be Vietnam Pro"/>
                          <a:ea typeface="Be Vietnam Pro"/>
                          <a:cs typeface="Be Vietnam Pro"/>
                          <a:sym typeface="Be Vietnam Pro"/>
                        </a:rPr>
                        <a:t>toàn</a:t>
                      </a:r>
                      <a:r>
                        <a:rPr lang="en-US" sz="1000" u="none" strike="noStrike" cap="none" dirty="0">
                          <a:solidFill>
                            <a:srgbClr val="12263A"/>
                          </a:solidFill>
                          <a:latin typeface="Be Vietnam Pro"/>
                          <a:ea typeface="Be Vietnam Pro"/>
                          <a:cs typeface="Be Vietnam Pro"/>
                          <a:sym typeface="Be Vietnam Pro"/>
                        </a:rPr>
                        <a:t> </a:t>
                      </a:r>
                      <a:r>
                        <a:rPr lang="en-US" sz="1000" u="none" strike="noStrike" cap="none" dirty="0" err="1">
                          <a:solidFill>
                            <a:srgbClr val="12263A"/>
                          </a:solidFill>
                          <a:latin typeface="Be Vietnam Pro"/>
                          <a:ea typeface="Be Vietnam Pro"/>
                          <a:cs typeface="Be Vietnam Pro"/>
                          <a:sym typeface="Be Vietnam Pro"/>
                        </a:rPr>
                        <a:t>vẹn</a:t>
                      </a:r>
                      <a:r>
                        <a:rPr lang="en-US" sz="1000" u="none" strike="noStrike" cap="none" dirty="0">
                          <a:solidFill>
                            <a:srgbClr val="12263A"/>
                          </a:solidFill>
                          <a:latin typeface="Be Vietnam Pro"/>
                          <a:ea typeface="Be Vietnam Pro"/>
                          <a:cs typeface="Be Vietnam Pro"/>
                          <a:sym typeface="Be Vietnam Pro"/>
                        </a:rPr>
                        <a:t> </a:t>
                      </a:r>
                      <a:r>
                        <a:rPr lang="en-US" sz="1000" u="none" strike="noStrike" cap="none" dirty="0" err="1">
                          <a:solidFill>
                            <a:srgbClr val="12263A"/>
                          </a:solidFill>
                          <a:latin typeface="Be Vietnam Pro"/>
                          <a:ea typeface="Be Vietnam Pro"/>
                          <a:cs typeface="Be Vietnam Pro"/>
                          <a:sym typeface="Be Vietnam Pro"/>
                        </a:rPr>
                        <a:t>định</a:t>
                      </a:r>
                      <a:r>
                        <a:rPr lang="en-US" sz="1000" u="none" strike="noStrike" cap="none" dirty="0">
                          <a:solidFill>
                            <a:srgbClr val="12263A"/>
                          </a:solidFill>
                          <a:latin typeface="Be Vietnam Pro"/>
                          <a:ea typeface="Be Vietnam Pro"/>
                          <a:cs typeface="Be Vietnam Pro"/>
                          <a:sym typeface="Be Vietnam Pro"/>
                        </a:rPr>
                        <a:t> </a:t>
                      </a:r>
                      <a:r>
                        <a:rPr lang="en-US" sz="1000" u="none" strike="noStrike" cap="none" dirty="0" err="1">
                          <a:solidFill>
                            <a:srgbClr val="12263A"/>
                          </a:solidFill>
                          <a:latin typeface="Be Vietnam Pro"/>
                          <a:ea typeface="Be Vietnam Pro"/>
                          <a:cs typeface="Be Vietnam Pro"/>
                          <a:sym typeface="Be Vietnam Pro"/>
                        </a:rPr>
                        <a:t>kỳ</a:t>
                      </a:r>
                      <a:r>
                        <a:rPr lang="en-US" sz="1000" u="none" strike="noStrike" cap="none" dirty="0">
                          <a:solidFill>
                            <a:srgbClr val="12263A"/>
                          </a:solidFill>
                          <a:latin typeface="Be Vietnam Pro"/>
                          <a:ea typeface="Be Vietnam Pro"/>
                          <a:cs typeface="Be Vietnam Pro"/>
                          <a:sym typeface="Be Vietnam Pro"/>
                        </a:rPr>
                        <a:t>, QR 30×30mm, PDF A4</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b="1" u="none" strike="noStrike" cap="none">
                          <a:solidFill>
                            <a:srgbClr val="1D4ED8"/>
                          </a:solidFill>
                          <a:latin typeface="Be Vietnam Pro"/>
                          <a:ea typeface="Be Vietnam Pro"/>
                          <a:cs typeface="Be Vietnam Pro"/>
                          <a:sym typeface="Be Vietnam Pro"/>
                        </a:rPr>
                        <a:t>Hoàn thành</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000" u="none" strike="noStrike" cap="none" dirty="0">
                          <a:solidFill>
                            <a:srgbClr val="12263A"/>
                          </a:solidFill>
                          <a:latin typeface="Be Vietnam Pro"/>
                          <a:ea typeface="Be Vietnam Pro"/>
                          <a:cs typeface="Be Vietnam Pro"/>
                          <a:sym typeface="Be Vietnam Pro"/>
                        </a:rPr>
                        <a:t>N3-4, N3-65, N3-72</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82" name="Google Shape;282;p11"/>
          <p:cNvSpPr/>
          <p:nvPr/>
        </p:nvSpPr>
        <p:spPr>
          <a:xfrm>
            <a:off x="815975" y="5166360"/>
            <a:ext cx="5074920" cy="458440"/>
          </a:xfrm>
          <a:prstGeom prst="roundRect">
            <a:avLst>
              <a:gd name="adj" fmla="val 15929"/>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p:nvPr/>
        </p:nvSpPr>
        <p:spPr>
          <a:xfrm>
            <a:off x="996950" y="5266944"/>
            <a:ext cx="4846320"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2263A"/>
              </a:buClr>
              <a:buSzPts val="1400"/>
              <a:buFont typeface="Be Vietnam Pro"/>
              <a:buNone/>
            </a:pPr>
            <a:r>
              <a:rPr lang="en-US" sz="1100" b="1" i="0" u="none" strike="noStrike" cap="none">
                <a:solidFill>
                  <a:srgbClr val="12263A"/>
                </a:solidFill>
                <a:latin typeface="Be Vietnam Pro"/>
                <a:ea typeface="Be Vietnam Pro"/>
                <a:cs typeface="Be Vietnam Pro"/>
                <a:sym typeface="Be Vietnam Pro"/>
              </a:rPr>
              <a:t>Hoàn thành phạm vi: 63/63 Story · 170/170 SP · 100%</a:t>
            </a:r>
            <a:endParaRPr sz="1400" b="0" i="0" u="none" strike="noStrike" cap="none">
              <a:solidFill>
                <a:schemeClr val="dk1"/>
              </a:solidFill>
              <a:latin typeface="Calibri"/>
              <a:ea typeface="Calibri"/>
              <a:cs typeface="Calibri"/>
              <a:sym typeface="Calibri"/>
            </a:endParaRPr>
          </a:p>
        </p:txBody>
      </p:sp>
      <p:sp>
        <p:nvSpPr>
          <p:cNvPr id="284" name="Google Shape;284;p11"/>
          <p:cNvSpPr/>
          <p:nvPr/>
        </p:nvSpPr>
        <p:spPr>
          <a:xfrm>
            <a:off x="6080760" y="5285232"/>
            <a:ext cx="3421703"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Trạng thái: Hoàn thành · Một phần · Chưa làm</a:t>
            </a:r>
            <a:endParaRPr sz="1200" b="0" i="0" u="none" strike="noStrike" cap="none">
              <a:solidFill>
                <a:schemeClr val="dk1"/>
              </a:solidFill>
              <a:latin typeface="Calibri"/>
              <a:ea typeface="Calibri"/>
              <a:cs typeface="Calibri"/>
              <a:sym typeface="Calibri"/>
            </a:endParaRPr>
          </a:p>
        </p:txBody>
      </p:sp>
      <p:sp>
        <p:nvSpPr>
          <p:cNvPr id="285" name="Google Shape;285;p11"/>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286" name="Google Shape;286;p11"/>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287" name="Google Shape;287;p11"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288" name="Google Shape;288;p11"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293"/>
        <p:cNvGrpSpPr/>
        <p:nvPr/>
      </p:nvGrpSpPr>
      <p:grpSpPr>
        <a:xfrm>
          <a:off x="0" y="0"/>
          <a:ext cx="0" cy="0"/>
          <a:chOff x="0" y="0"/>
          <a:chExt cx="0" cy="0"/>
        </a:xfrm>
      </p:grpSpPr>
      <p:sp>
        <p:nvSpPr>
          <p:cNvPr id="294" name="Google Shape;294;p12"/>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10 — KẾT QUẢ SẢN PHẨM</a:t>
            </a:r>
            <a:endParaRPr sz="1200" b="0" i="0" u="none" strike="noStrike" cap="none">
              <a:solidFill>
                <a:schemeClr val="dk1"/>
              </a:solidFill>
              <a:latin typeface="Calibri"/>
              <a:ea typeface="Calibri"/>
              <a:cs typeface="Calibri"/>
              <a:sym typeface="Calibri"/>
            </a:endParaRPr>
          </a:p>
        </p:txBody>
      </p:sp>
      <p:sp>
        <p:nvSpPr>
          <p:cNvPr id="295" name="Google Shape;295;p12"/>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Chỉ số chất lượng &amp; hiệu năng</a:t>
            </a:r>
            <a:endParaRPr sz="3200" b="0" i="0" u="none" strike="noStrike" cap="none">
              <a:solidFill>
                <a:schemeClr val="dk1"/>
              </a:solidFill>
              <a:latin typeface="Calibri"/>
              <a:ea typeface="Calibri"/>
              <a:cs typeface="Calibri"/>
              <a:sym typeface="Calibri"/>
            </a:endParaRPr>
          </a:p>
        </p:txBody>
      </p:sp>
      <p:sp>
        <p:nvSpPr>
          <p:cNvPr id="296" name="Google Shape;296;p12"/>
          <p:cNvSpPr/>
          <p:nvPr/>
        </p:nvSpPr>
        <p:spPr>
          <a:xfrm>
            <a:off x="812800" y="1803350"/>
            <a:ext cx="2527300" cy="1054050"/>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7" name="Google Shape;297;p12"/>
          <p:cNvCxnSpPr/>
          <p:nvPr/>
        </p:nvCxnSpPr>
        <p:spPr>
          <a:xfrm>
            <a:off x="812800" y="1822400"/>
            <a:ext cx="2527300" cy="0"/>
          </a:xfrm>
          <a:prstGeom prst="straightConnector1">
            <a:avLst/>
          </a:prstGeom>
          <a:noFill/>
          <a:ln w="38100" cap="flat" cmpd="sng">
            <a:solidFill>
              <a:srgbClr val="F28C28"/>
            </a:solidFill>
            <a:prstDash val="solid"/>
            <a:round/>
            <a:headEnd type="none" w="sm" len="sm"/>
            <a:tailEnd type="none" w="sm" len="sm"/>
          </a:ln>
        </p:spPr>
      </p:cxnSp>
      <p:sp>
        <p:nvSpPr>
          <p:cNvPr id="298" name="Google Shape;298;p12"/>
          <p:cNvSpPr/>
          <p:nvPr/>
        </p:nvSpPr>
        <p:spPr>
          <a:xfrm>
            <a:off x="990600" y="1993850"/>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Story point Done</a:t>
            </a:r>
            <a:endParaRPr sz="1200" b="0" i="0" u="none" strike="noStrike" cap="none">
              <a:solidFill>
                <a:schemeClr val="dk1"/>
              </a:solidFill>
              <a:latin typeface="Calibri"/>
              <a:ea typeface="Calibri"/>
              <a:cs typeface="Calibri"/>
              <a:sym typeface="Calibri"/>
            </a:endParaRPr>
          </a:p>
        </p:txBody>
      </p:sp>
      <p:sp>
        <p:nvSpPr>
          <p:cNvPr id="299" name="Google Shape;299;p12"/>
          <p:cNvSpPr/>
          <p:nvPr/>
        </p:nvSpPr>
        <p:spPr>
          <a:xfrm>
            <a:off x="990600" y="2257971"/>
            <a:ext cx="223685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170/170</a:t>
            </a:r>
            <a:endParaRPr sz="3200" b="0" i="0" u="none" strike="noStrike" cap="none">
              <a:solidFill>
                <a:schemeClr val="dk1"/>
              </a:solidFill>
              <a:latin typeface="Calibri"/>
              <a:ea typeface="Calibri"/>
              <a:cs typeface="Calibri"/>
              <a:sym typeface="Calibri"/>
            </a:endParaRPr>
          </a:p>
        </p:txBody>
      </p:sp>
      <p:sp>
        <p:nvSpPr>
          <p:cNvPr id="300" name="Google Shape;300;p12"/>
          <p:cNvSpPr/>
          <p:nvPr/>
        </p:nvSpPr>
        <p:spPr>
          <a:xfrm>
            <a:off x="3492500" y="1803350"/>
            <a:ext cx="2527300" cy="1054050"/>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1" name="Google Shape;301;p12"/>
          <p:cNvCxnSpPr/>
          <p:nvPr/>
        </p:nvCxnSpPr>
        <p:spPr>
          <a:xfrm>
            <a:off x="3492500" y="1822400"/>
            <a:ext cx="2527300" cy="0"/>
          </a:xfrm>
          <a:prstGeom prst="straightConnector1">
            <a:avLst/>
          </a:prstGeom>
          <a:noFill/>
          <a:ln w="38100" cap="flat" cmpd="sng">
            <a:solidFill>
              <a:srgbClr val="F28C28"/>
            </a:solidFill>
            <a:prstDash val="solid"/>
            <a:round/>
            <a:headEnd type="none" w="sm" len="sm"/>
            <a:tailEnd type="none" w="sm" len="sm"/>
          </a:ln>
        </p:spPr>
      </p:cxnSp>
      <p:sp>
        <p:nvSpPr>
          <p:cNvPr id="302" name="Google Shape;302;p12"/>
          <p:cNvSpPr/>
          <p:nvPr/>
        </p:nvSpPr>
        <p:spPr>
          <a:xfrm>
            <a:off x="3670300" y="1993850"/>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Bug đã xử lý</a:t>
            </a:r>
            <a:endParaRPr sz="1200" b="0" i="0" u="none" strike="noStrike" cap="none">
              <a:solidFill>
                <a:schemeClr val="dk1"/>
              </a:solidFill>
              <a:latin typeface="Calibri"/>
              <a:ea typeface="Calibri"/>
              <a:cs typeface="Calibri"/>
              <a:sym typeface="Calibri"/>
            </a:endParaRPr>
          </a:p>
        </p:txBody>
      </p:sp>
      <p:sp>
        <p:nvSpPr>
          <p:cNvPr id="303" name="Google Shape;303;p12"/>
          <p:cNvSpPr/>
          <p:nvPr/>
        </p:nvSpPr>
        <p:spPr>
          <a:xfrm>
            <a:off x="3670300" y="2257971"/>
            <a:ext cx="223685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45+</a:t>
            </a:r>
            <a:endParaRPr sz="3200" b="0" i="0" u="none" strike="noStrike" cap="none">
              <a:solidFill>
                <a:schemeClr val="dk1"/>
              </a:solidFill>
              <a:latin typeface="Calibri"/>
              <a:ea typeface="Calibri"/>
              <a:cs typeface="Calibri"/>
              <a:sym typeface="Calibri"/>
            </a:endParaRPr>
          </a:p>
        </p:txBody>
      </p:sp>
      <p:sp>
        <p:nvSpPr>
          <p:cNvPr id="304" name="Google Shape;304;p12"/>
          <p:cNvSpPr/>
          <p:nvPr/>
        </p:nvSpPr>
        <p:spPr>
          <a:xfrm>
            <a:off x="6172200" y="1803350"/>
            <a:ext cx="2527300" cy="1054050"/>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5" name="Google Shape;305;p12"/>
          <p:cNvCxnSpPr/>
          <p:nvPr/>
        </p:nvCxnSpPr>
        <p:spPr>
          <a:xfrm>
            <a:off x="6172200" y="1822400"/>
            <a:ext cx="2527300" cy="0"/>
          </a:xfrm>
          <a:prstGeom prst="straightConnector1">
            <a:avLst/>
          </a:prstGeom>
          <a:noFill/>
          <a:ln w="38100" cap="flat" cmpd="sng">
            <a:solidFill>
              <a:srgbClr val="F28C28"/>
            </a:solidFill>
            <a:prstDash val="solid"/>
            <a:round/>
            <a:headEnd type="none" w="sm" len="sm"/>
            <a:tailEnd type="none" w="sm" len="sm"/>
          </a:ln>
        </p:spPr>
      </p:cxnSp>
      <p:sp>
        <p:nvSpPr>
          <p:cNvPr id="306" name="Google Shape;306;p12"/>
          <p:cNvSpPr/>
          <p:nvPr/>
        </p:nvSpPr>
        <p:spPr>
          <a:xfrm>
            <a:off x="6350000" y="1993850"/>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Test case đạt</a:t>
            </a:r>
            <a:endParaRPr sz="1200" b="0" i="0" u="none" strike="noStrike" cap="none">
              <a:solidFill>
                <a:schemeClr val="dk1"/>
              </a:solidFill>
              <a:latin typeface="Calibri"/>
              <a:ea typeface="Calibri"/>
              <a:cs typeface="Calibri"/>
              <a:sym typeface="Calibri"/>
            </a:endParaRPr>
          </a:p>
        </p:txBody>
      </p:sp>
      <p:sp>
        <p:nvSpPr>
          <p:cNvPr id="307" name="Google Shape;307;p12"/>
          <p:cNvSpPr/>
          <p:nvPr/>
        </p:nvSpPr>
        <p:spPr>
          <a:xfrm>
            <a:off x="6350000" y="2257971"/>
            <a:ext cx="223685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100%</a:t>
            </a:r>
            <a:endParaRPr sz="3200" b="0" i="0" u="none" strike="noStrike" cap="none">
              <a:solidFill>
                <a:schemeClr val="dk1"/>
              </a:solidFill>
              <a:latin typeface="Calibri"/>
              <a:ea typeface="Calibri"/>
              <a:cs typeface="Calibri"/>
              <a:sym typeface="Calibri"/>
            </a:endParaRPr>
          </a:p>
        </p:txBody>
      </p:sp>
      <p:sp>
        <p:nvSpPr>
          <p:cNvPr id="308" name="Google Shape;308;p12"/>
          <p:cNvSpPr/>
          <p:nvPr/>
        </p:nvSpPr>
        <p:spPr>
          <a:xfrm>
            <a:off x="8851900" y="1803350"/>
            <a:ext cx="2527300" cy="1054050"/>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9" name="Google Shape;309;p12"/>
          <p:cNvCxnSpPr/>
          <p:nvPr/>
        </p:nvCxnSpPr>
        <p:spPr>
          <a:xfrm>
            <a:off x="8851900" y="1822400"/>
            <a:ext cx="2527300" cy="0"/>
          </a:xfrm>
          <a:prstGeom prst="straightConnector1">
            <a:avLst/>
          </a:prstGeom>
          <a:noFill/>
          <a:ln w="38100" cap="flat" cmpd="sng">
            <a:solidFill>
              <a:srgbClr val="F28C28"/>
            </a:solidFill>
            <a:prstDash val="solid"/>
            <a:round/>
            <a:headEnd type="none" w="sm" len="sm"/>
            <a:tailEnd type="none" w="sm" len="sm"/>
          </a:ln>
        </p:spPr>
      </p:cxnSp>
      <p:sp>
        <p:nvSpPr>
          <p:cNvPr id="310" name="Google Shape;310;p12"/>
          <p:cNvSpPr/>
          <p:nvPr/>
        </p:nvSpPr>
        <p:spPr>
          <a:xfrm>
            <a:off x="9029700" y="1993850"/>
            <a:ext cx="223685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Phân quyền kiểm thử</a:t>
            </a:r>
            <a:endParaRPr sz="1200" b="0" i="0" u="none" strike="noStrike" cap="none">
              <a:solidFill>
                <a:schemeClr val="dk1"/>
              </a:solidFill>
              <a:latin typeface="Calibri"/>
              <a:ea typeface="Calibri"/>
              <a:cs typeface="Calibri"/>
              <a:sym typeface="Calibri"/>
            </a:endParaRPr>
          </a:p>
        </p:txBody>
      </p:sp>
      <p:sp>
        <p:nvSpPr>
          <p:cNvPr id="311" name="Google Shape;311;p12"/>
          <p:cNvSpPr/>
          <p:nvPr/>
        </p:nvSpPr>
        <p:spPr>
          <a:xfrm>
            <a:off x="9029700" y="2257971"/>
            <a:ext cx="223685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6 vai trò</a:t>
            </a:r>
            <a:endParaRPr sz="3200" b="0" i="0" u="none" strike="noStrike" cap="none">
              <a:solidFill>
                <a:schemeClr val="dk1"/>
              </a:solidFill>
              <a:latin typeface="Calibri"/>
              <a:ea typeface="Calibri"/>
              <a:cs typeface="Calibri"/>
              <a:sym typeface="Calibri"/>
            </a:endParaRPr>
          </a:p>
        </p:txBody>
      </p:sp>
      <p:sp>
        <p:nvSpPr>
          <p:cNvPr id="312" name="Google Shape;312;p12"/>
          <p:cNvSpPr/>
          <p:nvPr/>
        </p:nvSpPr>
        <p:spPr>
          <a:xfrm>
            <a:off x="812800" y="3111400"/>
            <a:ext cx="10566400" cy="1998851"/>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3" name="Google Shape;313;p12"/>
          <p:cNvCxnSpPr>
            <a:cxnSpLocks/>
          </p:cNvCxnSpPr>
          <p:nvPr/>
        </p:nvCxnSpPr>
        <p:spPr>
          <a:xfrm>
            <a:off x="11376025" y="3111401"/>
            <a:ext cx="0" cy="1349772"/>
          </a:xfrm>
          <a:prstGeom prst="straightConnector1">
            <a:avLst/>
          </a:prstGeom>
          <a:noFill/>
          <a:ln w="9525" cap="flat" cmpd="sng">
            <a:solidFill>
              <a:srgbClr val="DDE1DC"/>
            </a:solidFill>
            <a:prstDash val="solid"/>
            <a:round/>
            <a:headEnd type="none" w="sm" len="sm"/>
            <a:tailEnd type="none" w="sm" len="sm"/>
          </a:ln>
        </p:spPr>
      </p:cxnSp>
      <p:graphicFrame>
        <p:nvGraphicFramePr>
          <p:cNvPr id="315" name="Google Shape;315;p12"/>
          <p:cNvGraphicFramePr/>
          <p:nvPr>
            <p:extLst>
              <p:ext uri="{D42A27DB-BD31-4B8C-83A1-F6EECF244321}">
                <p14:modId xmlns:p14="http://schemas.microsoft.com/office/powerpoint/2010/main" val="862489638"/>
              </p:ext>
            </p:extLst>
          </p:nvPr>
        </p:nvGraphicFramePr>
        <p:xfrm>
          <a:off x="825526" y="3119974"/>
          <a:ext cx="10547325" cy="1990277"/>
        </p:xfrm>
        <a:graphic>
          <a:graphicData uri="http://schemas.openxmlformats.org/drawingml/2006/table">
            <a:tbl>
              <a:tblPr>
                <a:noFill/>
                <a:tableStyleId>{F3BF7263-007E-43C9-8404-5F7C5483B795}</a:tableStyleId>
              </a:tblPr>
              <a:tblGrid>
                <a:gridCol w="1898525">
                  <a:extLst>
                    <a:ext uri="{9D8B030D-6E8A-4147-A177-3AD203B41FA5}">
                      <a16:colId xmlns:a16="http://schemas.microsoft.com/office/drawing/2014/main" val="20000"/>
                    </a:ext>
                  </a:extLst>
                </a:gridCol>
                <a:gridCol w="2953250">
                  <a:extLst>
                    <a:ext uri="{9D8B030D-6E8A-4147-A177-3AD203B41FA5}">
                      <a16:colId xmlns:a16="http://schemas.microsoft.com/office/drawing/2014/main" val="20001"/>
                    </a:ext>
                  </a:extLst>
                </a:gridCol>
                <a:gridCol w="2953250">
                  <a:extLst>
                    <a:ext uri="{9D8B030D-6E8A-4147-A177-3AD203B41FA5}">
                      <a16:colId xmlns:a16="http://schemas.microsoft.com/office/drawing/2014/main" val="20002"/>
                    </a:ext>
                  </a:extLst>
                </a:gridCol>
                <a:gridCol w="2742300">
                  <a:extLst>
                    <a:ext uri="{9D8B030D-6E8A-4147-A177-3AD203B41FA5}">
                      <a16:colId xmlns:a16="http://schemas.microsoft.com/office/drawing/2014/main" val="20003"/>
                    </a:ext>
                  </a:extLst>
                </a:gridCol>
              </a:tblGrid>
              <a:tr h="332675">
                <a:tc>
                  <a:txBody>
                    <a:bodyPr/>
                    <a:lstStyle/>
                    <a:p>
                      <a:pPr marL="0" marR="0" lvl="0" indent="0" algn="l" rtl="0">
                        <a:lnSpc>
                          <a:spcPct val="140000"/>
                        </a:lnSpc>
                        <a:spcBef>
                          <a:spcPts val="0"/>
                        </a:spcBef>
                        <a:spcAft>
                          <a:spcPts val="0"/>
                        </a:spcAft>
                        <a:buClr>
                          <a:srgbClr val="F6F7F4"/>
                        </a:buClr>
                        <a:buSzPts val="1200"/>
                        <a:buFont typeface="Be Vietnam Pro"/>
                        <a:buNone/>
                      </a:pPr>
                      <a:r>
                        <a:rPr lang="en-US" sz="1100" b="1" u="none" strike="noStrike" cap="none">
                          <a:solidFill>
                            <a:srgbClr val="F6F7F4"/>
                          </a:solidFill>
                          <a:latin typeface="Be Vietnam Pro"/>
                          <a:ea typeface="Be Vietnam Pro"/>
                          <a:cs typeface="Be Vietnam Pro"/>
                          <a:sym typeface="Be Vietnam Pro"/>
                        </a:rPr>
                        <a:t>Nhóm chỉ số</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100" b="1" u="none" strike="noStrike" cap="none">
                          <a:solidFill>
                            <a:srgbClr val="F6F7F4"/>
                          </a:solidFill>
                          <a:latin typeface="Be Vietnam Pro"/>
                          <a:ea typeface="Be Vietnam Pro"/>
                          <a:cs typeface="Be Vietnam Pro"/>
                          <a:sym typeface="Be Vietnam Pro"/>
                        </a:rPr>
                        <a:t>Web / App — đo gì</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100" b="1" u="none" strike="noStrike" cap="none" dirty="0" err="1">
                          <a:solidFill>
                            <a:srgbClr val="F6F7F4"/>
                          </a:solidFill>
                          <a:latin typeface="Be Vietnam Pro"/>
                          <a:ea typeface="Be Vietnam Pro"/>
                          <a:cs typeface="Be Vietnam Pro"/>
                          <a:sym typeface="Be Vietnam Pro"/>
                        </a:rPr>
                        <a:t>Kiểm</a:t>
                      </a:r>
                      <a:r>
                        <a:rPr lang="en-US" sz="1100" b="1" u="none" strike="noStrike" cap="none" dirty="0">
                          <a:solidFill>
                            <a:srgbClr val="F6F7F4"/>
                          </a:solidFill>
                          <a:latin typeface="Be Vietnam Pro"/>
                          <a:ea typeface="Be Vietnam Pro"/>
                          <a:cs typeface="Be Vietnam Pro"/>
                          <a:sym typeface="Be Vietnam Pro"/>
                        </a:rPr>
                        <a:t> </a:t>
                      </a:r>
                      <a:r>
                        <a:rPr lang="en-US" sz="1100" b="1" u="none" strike="noStrike" cap="none" dirty="0" err="1">
                          <a:solidFill>
                            <a:srgbClr val="F6F7F4"/>
                          </a:solidFill>
                          <a:latin typeface="Be Vietnam Pro"/>
                          <a:ea typeface="Be Vietnam Pro"/>
                          <a:cs typeface="Be Vietnam Pro"/>
                          <a:sym typeface="Be Vietnam Pro"/>
                        </a:rPr>
                        <a:t>định</a:t>
                      </a:r>
                      <a:r>
                        <a:rPr lang="en-US" sz="1100" b="1" u="none" strike="noStrike" cap="none" dirty="0">
                          <a:solidFill>
                            <a:srgbClr val="F6F7F4"/>
                          </a:solidFill>
                          <a:latin typeface="Be Vietnam Pro"/>
                          <a:ea typeface="Be Vietnam Pro"/>
                          <a:cs typeface="Be Vietnam Pro"/>
                          <a:sym typeface="Be Vietnam Pro"/>
                        </a:rPr>
                        <a:t> </a:t>
                      </a:r>
                      <a:r>
                        <a:rPr lang="en-US" sz="1100" b="1" u="none" strike="noStrike" cap="none" dirty="0" err="1">
                          <a:solidFill>
                            <a:srgbClr val="F6F7F4"/>
                          </a:solidFill>
                          <a:latin typeface="Be Vietnam Pro"/>
                          <a:ea typeface="Be Vietnam Pro"/>
                          <a:cs typeface="Be Vietnam Pro"/>
                          <a:sym typeface="Be Vietnam Pro"/>
                        </a:rPr>
                        <a:t>chuyên</a:t>
                      </a:r>
                      <a:r>
                        <a:rPr lang="en-US" sz="1100" b="1" u="none" strike="noStrike" cap="none" dirty="0">
                          <a:solidFill>
                            <a:srgbClr val="F6F7F4"/>
                          </a:solidFill>
                          <a:latin typeface="Be Vietnam Pro"/>
                          <a:ea typeface="Be Vietnam Pro"/>
                          <a:cs typeface="Be Vietnam Pro"/>
                          <a:sym typeface="Be Vietnam Pro"/>
                        </a:rPr>
                        <a:t> </a:t>
                      </a:r>
                      <a:r>
                        <a:rPr lang="en-US" sz="1100" b="1" u="none" strike="noStrike" cap="none" dirty="0" err="1">
                          <a:solidFill>
                            <a:srgbClr val="F6F7F4"/>
                          </a:solidFill>
                          <a:latin typeface="Be Vietnam Pro"/>
                          <a:ea typeface="Be Vietnam Pro"/>
                          <a:cs typeface="Be Vietnam Pro"/>
                          <a:sym typeface="Be Vietnam Pro"/>
                        </a:rPr>
                        <a:t>sâu</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100" b="1" u="none" strike="noStrike" cap="none">
                          <a:solidFill>
                            <a:srgbClr val="F6F7F4"/>
                          </a:solidFill>
                          <a:latin typeface="Be Vietnam Pro"/>
                          <a:ea typeface="Be Vietnam Pro"/>
                          <a:cs typeface="Be Vietnam Pro"/>
                          <a:sym typeface="Be Vietnam Pro"/>
                        </a:rPr>
                        <a:t>Số thực tế của nhóm</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err="1">
                          <a:solidFill>
                            <a:srgbClr val="12263A"/>
                          </a:solidFill>
                          <a:latin typeface="Be Vietnam Pro"/>
                          <a:ea typeface="Be Vietnam Pro"/>
                          <a:cs typeface="Be Vietnam Pro"/>
                          <a:sym typeface="Be Vietnam Pro"/>
                        </a:rPr>
                        <a:t>Chất</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lượng</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lgn="ctr">
                      <a:solidFill>
                        <a:srgbClr val="CACAC8"/>
                      </a:solidFill>
                      <a:prstDash val="solid"/>
                      <a:round/>
                      <a:headEnd type="none" w="sm" len="sm"/>
                      <a:tailEnd type="none" w="sm" len="sm"/>
                    </a:lnR>
                    <a:lnT w="12700" cap="flat" cmpd="sng" algn="ctr">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Bug đã xử lý, test coverage</a:t>
                      </a:r>
                      <a:endParaRPr sz="1200" u="none" strike="noStrike" cap="none">
                        <a:latin typeface="Be Vietnam Pro"/>
                        <a:ea typeface="Be Vietnam Pro"/>
                        <a:cs typeface="Be Vietnam Pro"/>
                        <a:sym typeface="Be Vietnam Pro"/>
                      </a:endParaRPr>
                    </a:p>
                  </a:txBody>
                  <a:tcPr marL="53350" marR="53350" marT="53350" marB="53350">
                    <a:lnL w="12700" cap="flat" cmpd="sng" algn="ctr">
                      <a:solidFill>
                        <a:srgbClr val="CACAC8"/>
                      </a:solidFill>
                      <a:prstDash val="solid"/>
                      <a:round/>
                      <a:headEnd type="none" w="sm" len="sm"/>
                      <a:tailEnd type="none" w="sm" len="sm"/>
                    </a:lnL>
                    <a:lnR w="12700" cap="flat" cmpd="sng" algn="ctr">
                      <a:solidFill>
                        <a:srgbClr val="CACAC8"/>
                      </a:solidFill>
                      <a:prstDash val="solid"/>
                      <a:round/>
                      <a:headEnd type="none" w="sm" len="sm"/>
                      <a:tailEnd type="none" w="sm" len="sm"/>
                    </a:lnR>
                    <a:lnT w="12700" cap="flat" cmpd="sng" algn="ctr">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Toàn vẹn chuỗi băm SHA-256</a:t>
                      </a:r>
                      <a:endParaRPr sz="1200" u="none" strike="noStrike" cap="none">
                        <a:latin typeface="Be Vietnam Pro"/>
                        <a:ea typeface="Be Vietnam Pro"/>
                        <a:cs typeface="Be Vietnam Pro"/>
                        <a:sym typeface="Be Vietnam Pro"/>
                      </a:endParaRPr>
                    </a:p>
                  </a:txBody>
                  <a:tcPr marL="53350" marR="53350" marT="53350" marB="53350">
                    <a:lnL w="12700" cap="flat" cmpd="sng" algn="ctr">
                      <a:solidFill>
                        <a:srgbClr val="CACAC8"/>
                      </a:solidFill>
                      <a:prstDash val="solid"/>
                      <a:round/>
                      <a:headEnd type="none" w="sm" len="sm"/>
                      <a:tailEnd type="none" w="sm" len="sm"/>
                    </a:lnL>
                    <a:lnR w="12700" cap="flat" cmpd="sng" algn="ctr">
                      <a:solidFill>
                        <a:srgbClr val="CACAC8"/>
                      </a:solidFill>
                      <a:prstDash val="solid"/>
                      <a:round/>
                      <a:headEnd type="none" w="sm" len="sm"/>
                      <a:tailEnd type="none" w="sm" len="sm"/>
                    </a:lnR>
                    <a:lnT w="12700" cap="flat" cmpd="sng" algn="ctr">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73/73 test FE, 100% Pytest BE, 0 broken_lots</a:t>
                      </a:r>
                      <a:endParaRPr sz="1200" u="none" strike="noStrike" cap="none">
                        <a:latin typeface="Be Vietnam Pro"/>
                        <a:ea typeface="Be Vietnam Pro"/>
                        <a:cs typeface="Be Vietnam Pro"/>
                        <a:sym typeface="Be Vietnam Pro"/>
                      </a:endParaRPr>
                    </a:p>
                  </a:txBody>
                  <a:tcPr marL="53350" marR="53350" marT="53350" marB="53350">
                    <a:lnL w="12700" cap="flat" cmpd="sng" algn="ctr">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Hiệu năng</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err="1">
                          <a:solidFill>
                            <a:srgbClr val="12263A"/>
                          </a:solidFill>
                          <a:latin typeface="Be Vietnam Pro"/>
                          <a:ea typeface="Be Vietnam Pro"/>
                          <a:cs typeface="Be Vietnam Pro"/>
                          <a:sym typeface="Be Vietnam Pro"/>
                        </a:rPr>
                        <a:t>Thời</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gian</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tải</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trang</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phản</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hồi</a:t>
                      </a:r>
                      <a:r>
                        <a:rPr lang="en-US" sz="1100" u="none" strike="noStrike" cap="none" dirty="0">
                          <a:solidFill>
                            <a:srgbClr val="12263A"/>
                          </a:solidFill>
                          <a:latin typeface="Be Vietnam Pro"/>
                          <a:ea typeface="Be Vietnam Pro"/>
                          <a:cs typeface="Be Vietnam Pro"/>
                          <a:sym typeface="Be Vietnam Pro"/>
                        </a:rPr>
                        <a:t> API</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Truy vấn 5.000 lô &amp; 1.000 nút DAG</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Danh sách 5.000 lô ~76ms, phả hệ 1.000 nút ~0,8s</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332675">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Hoàn thiện</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Đã deploy, số vai trò kiểm thử</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Diễn tập sao lưu &amp; khôi phục DB</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Live </a:t>
                      </a:r>
                      <a:r>
                        <a:rPr lang="en-US" sz="1100" u="none" strike="noStrike" cap="none" dirty="0" err="1">
                          <a:solidFill>
                            <a:srgbClr val="12263A"/>
                          </a:solidFill>
                          <a:latin typeface="Be Vietnam Pro"/>
                          <a:ea typeface="Be Vietnam Pro"/>
                          <a:cs typeface="Be Vietnam Pro"/>
                          <a:sym typeface="Be Vietnam Pro"/>
                        </a:rPr>
                        <a:t>trên</a:t>
                      </a:r>
                      <a:r>
                        <a:rPr lang="en-US" sz="1100" u="none" strike="noStrike" cap="none" dirty="0">
                          <a:solidFill>
                            <a:srgbClr val="12263A"/>
                          </a:solidFill>
                          <a:latin typeface="Be Vietnam Pro"/>
                          <a:ea typeface="Be Vietnam Pro"/>
                          <a:cs typeface="Be Vietnam Pro"/>
                          <a:sym typeface="Be Vietnam Pro"/>
                        </a:rPr>
                        <a:t> Render Staging, </a:t>
                      </a:r>
                      <a:r>
                        <a:rPr lang="en-US" sz="1100" u="none" strike="noStrike" cap="none" dirty="0" err="1">
                          <a:solidFill>
                            <a:srgbClr val="12263A"/>
                          </a:solidFill>
                          <a:latin typeface="Be Vietnam Pro"/>
                          <a:ea typeface="Be Vietnam Pro"/>
                          <a:cs typeface="Be Vietnam Pro"/>
                          <a:sym typeface="Be Vietnam Pro"/>
                        </a:rPr>
                        <a:t>khôi</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phục</a:t>
                      </a:r>
                      <a:r>
                        <a:rPr lang="en-US" sz="1100" u="none" strike="noStrike" cap="none" dirty="0">
                          <a:solidFill>
                            <a:srgbClr val="12263A"/>
                          </a:solidFill>
                          <a:latin typeface="Be Vietnam Pro"/>
                          <a:ea typeface="Be Vietnam Pro"/>
                          <a:cs typeface="Be Vietnam Pro"/>
                          <a:sym typeface="Be Vietnam Pro"/>
                        </a:rPr>
                        <a:t> DB ~2,2 </a:t>
                      </a:r>
                      <a:r>
                        <a:rPr lang="en-US" sz="1100" u="none" strike="noStrike" cap="none" dirty="0" err="1">
                          <a:solidFill>
                            <a:srgbClr val="12263A"/>
                          </a:solidFill>
                          <a:latin typeface="Be Vietnam Pro"/>
                          <a:ea typeface="Be Vietnam Pro"/>
                          <a:cs typeface="Be Vietnam Pro"/>
                          <a:sym typeface="Be Vietnam Pro"/>
                        </a:rPr>
                        <a:t>giây</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6" name="Google Shape;316;p12"/>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Nguồn: Báo cáo nghiệm thu docs/ACCEPTANCE.md · Pytest &amp; Playwright E2E</a:t>
            </a:r>
            <a:endParaRPr sz="1200" b="0" i="0" u="none" strike="noStrike" cap="none">
              <a:solidFill>
                <a:schemeClr val="dk1"/>
              </a:solidFill>
              <a:latin typeface="Calibri"/>
              <a:ea typeface="Calibri"/>
              <a:cs typeface="Calibri"/>
              <a:sym typeface="Calibri"/>
            </a:endParaRPr>
          </a:p>
        </p:txBody>
      </p:sp>
      <p:sp>
        <p:nvSpPr>
          <p:cNvPr id="317" name="Google Shape;317;p12"/>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318" name="Google Shape;318;p12"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319" name="Google Shape;319;p12"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324"/>
        <p:cNvGrpSpPr/>
        <p:nvPr/>
      </p:nvGrpSpPr>
      <p:grpSpPr>
        <a:xfrm>
          <a:off x="0" y="0"/>
          <a:ext cx="0" cy="0"/>
          <a:chOff x="0" y="0"/>
          <a:chExt cx="0" cy="0"/>
        </a:xfrm>
      </p:grpSpPr>
      <p:sp>
        <p:nvSpPr>
          <p:cNvPr id="325" name="Google Shape;325;p13"/>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A · 11 — ĐÓNG GÓP</a:t>
            </a:r>
            <a:endParaRPr sz="1200" b="0" i="0" u="none" strike="noStrike" cap="none">
              <a:solidFill>
                <a:schemeClr val="dk1"/>
              </a:solidFill>
              <a:latin typeface="Calibri"/>
              <a:ea typeface="Calibri"/>
              <a:cs typeface="Calibri"/>
              <a:sym typeface="Calibri"/>
            </a:endParaRPr>
          </a:p>
        </p:txBody>
      </p:sp>
      <p:sp>
        <p:nvSpPr>
          <p:cNvPr id="326" name="Google Shape;326;p13"/>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Tỉ lệ đóng góp của thành viên</a:t>
            </a:r>
            <a:endParaRPr sz="3200" b="0" i="0" u="none" strike="noStrike" cap="none">
              <a:solidFill>
                <a:schemeClr val="dk1"/>
              </a:solidFill>
              <a:latin typeface="Calibri"/>
              <a:ea typeface="Calibri"/>
              <a:cs typeface="Calibri"/>
              <a:sym typeface="Calibri"/>
            </a:endParaRPr>
          </a:p>
        </p:txBody>
      </p:sp>
      <p:sp>
        <p:nvSpPr>
          <p:cNvPr id="327" name="Google Shape;327;p13"/>
          <p:cNvSpPr/>
          <p:nvPr/>
        </p:nvSpPr>
        <p:spPr>
          <a:xfrm>
            <a:off x="812800" y="1803350"/>
            <a:ext cx="10566400" cy="2578608"/>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8" name="Google Shape;328;p13"/>
          <p:cNvCxnSpPr/>
          <p:nvPr/>
        </p:nvCxnSpPr>
        <p:spPr>
          <a:xfrm>
            <a:off x="11376025" y="1803350"/>
            <a:ext cx="0" cy="2578608"/>
          </a:xfrm>
          <a:prstGeom prst="straightConnector1">
            <a:avLst/>
          </a:prstGeom>
          <a:noFill/>
          <a:ln w="9525" cap="flat" cmpd="sng">
            <a:solidFill>
              <a:srgbClr val="DDE1DC"/>
            </a:solidFill>
            <a:prstDash val="solid"/>
            <a:round/>
            <a:headEnd type="none" w="sm" len="sm"/>
            <a:tailEnd type="none" w="sm" len="sm"/>
          </a:ln>
        </p:spPr>
      </p:cxnSp>
      <p:cxnSp>
        <p:nvCxnSpPr>
          <p:cNvPr id="329" name="Google Shape;329;p13"/>
          <p:cNvCxnSpPr/>
          <p:nvPr/>
        </p:nvCxnSpPr>
        <p:spPr>
          <a:xfrm>
            <a:off x="812800" y="4379976"/>
            <a:ext cx="10566400" cy="0"/>
          </a:xfrm>
          <a:prstGeom prst="straightConnector1">
            <a:avLst/>
          </a:prstGeom>
          <a:noFill/>
          <a:ln w="9525" cap="flat" cmpd="sng">
            <a:solidFill>
              <a:srgbClr val="DDE1DC"/>
            </a:solidFill>
            <a:prstDash val="solid"/>
            <a:round/>
            <a:headEnd type="none" w="sm" len="sm"/>
            <a:tailEnd type="none" w="sm" len="sm"/>
          </a:ln>
        </p:spPr>
      </p:cxnSp>
      <p:graphicFrame>
        <p:nvGraphicFramePr>
          <p:cNvPr id="330" name="Google Shape;330;p13"/>
          <p:cNvGraphicFramePr/>
          <p:nvPr>
            <p:extLst>
              <p:ext uri="{D42A27DB-BD31-4B8C-83A1-F6EECF244321}">
                <p14:modId xmlns:p14="http://schemas.microsoft.com/office/powerpoint/2010/main" val="2662084874"/>
              </p:ext>
            </p:extLst>
          </p:nvPr>
        </p:nvGraphicFramePr>
        <p:xfrm>
          <a:off x="825500" y="1816050"/>
          <a:ext cx="10561320" cy="2563924"/>
        </p:xfrm>
        <a:graphic>
          <a:graphicData uri="http://schemas.openxmlformats.org/drawingml/2006/table">
            <a:tbl>
              <a:tblPr>
                <a:noFill/>
                <a:tableStyleId>{F3BF7263-007E-43C9-8404-5F7C5483B795}</a:tableStyleId>
              </a:tblPr>
              <a:tblGrid>
                <a:gridCol w="3246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33084">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Thành viên (10 thành viên Nhóm 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Story point (40%)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PR &amp; code (30%)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Đánh giá chéo (20%)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Mentor (10%)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850" b="1" u="none" strike="noStrike" cap="none">
                          <a:solidFill>
                            <a:srgbClr val="F6F7F4"/>
                          </a:solidFill>
                          <a:latin typeface="Be Vietnam Pro"/>
                          <a:ea typeface="Be Vietnam Pro"/>
                          <a:cs typeface="Be Vietnam Pro"/>
                          <a:sym typeface="Be Vietnam Pro"/>
                        </a:rPr>
                        <a:t>Tổng (100%)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 Vũ Hiếu Kiên (Trưởng nhóm · 53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29,0%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32,0%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29,0%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 Đinh Bách Hợp (Backend · 36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20,0%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13,0%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16,2%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3. Lâm Tiến Khởi (Full-stack · 27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13,0%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14,1%</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4. Nguyễn Thành Long (BE/FE · 12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7,6%</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4"/>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 Nguyễn Ngọc Linh (FE/QA · 11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7,4%</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5"/>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 Đồng Quốc Khánh (Backend · 10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6"/>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7. Triệu Văn Nam (Backend · 8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5,3%</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7"/>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8. Nguyễn Mạnh Kiên (DevOps · CI/Backup)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5,2%</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8"/>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9. Thân Tuấn Linh (Backend/RLS · 8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4,5%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5,1%</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9"/>
                  </a:ext>
                </a:extLst>
              </a:tr>
              <a:tr h="233084">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10. Hoàng Trung Kiên (Frontend · 5 SP)</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3,0%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4,0%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6,0%</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a:solidFill>
                            <a:srgbClr val="12263A"/>
                          </a:solidFill>
                          <a:latin typeface="Be Vietnam Pro"/>
                          <a:ea typeface="Be Vietnam Pro"/>
                          <a:cs typeface="Be Vietnam Pro"/>
                          <a:sym typeface="Be Vietnam Pro"/>
                        </a:rPr>
                        <a:t>4,5%</a:t>
                      </a:r>
                      <a:endParaRPr sz="1200" u="none" strike="noStrike" cap="none">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850" u="none" strike="noStrike" cap="none" dirty="0">
                          <a:solidFill>
                            <a:srgbClr val="12263A"/>
                          </a:solidFill>
                          <a:latin typeface="Be Vietnam Pro"/>
                          <a:ea typeface="Be Vietnam Pro"/>
                          <a:cs typeface="Be Vietnam Pro"/>
                          <a:sym typeface="Be Vietnam Pro"/>
                        </a:rPr>
                        <a:t>4,1%</a:t>
                      </a:r>
                      <a:endParaRPr sz="1200" u="none" strike="noStrike" cap="none" dirty="0">
                        <a:latin typeface="Be Vietnam Pro"/>
                        <a:ea typeface="Be Vietnam Pro"/>
                        <a:cs typeface="Be Vietnam Pro"/>
                        <a:sym typeface="Be Vietnam Pro"/>
                      </a:endParaRPr>
                    </a:p>
                  </a:txBody>
                  <a:tcPr marL="50800" marR="50800" marT="19050" marB="190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lgn="ctr">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331" name="Google Shape;331;p13"/>
          <p:cNvSpPr/>
          <p:nvPr/>
        </p:nvSpPr>
        <p:spPr>
          <a:xfrm>
            <a:off x="812800" y="466344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1" i="0" u="none" strike="noStrike" cap="none">
                <a:solidFill>
                  <a:srgbClr val="5A6573"/>
                </a:solidFill>
                <a:latin typeface="Be Vietnam Pro"/>
                <a:ea typeface="Be Vietnam Pro"/>
                <a:cs typeface="Be Vietnam Pro"/>
                <a:sym typeface="Be Vietnam Pro"/>
              </a:rPr>
              <a:t>Tổng hợp theo nhóm vai trò chuyên môn (Tổng 10 thành viên = 100%)</a:t>
            </a:r>
            <a:endParaRPr sz="1200" b="0" i="0" u="none" strike="noStrike" cap="none">
              <a:solidFill>
                <a:schemeClr val="dk1"/>
              </a:solidFill>
              <a:latin typeface="Calibri"/>
              <a:ea typeface="Calibri"/>
              <a:cs typeface="Calibri"/>
              <a:sym typeface="Calibri"/>
            </a:endParaRPr>
          </a:p>
        </p:txBody>
      </p:sp>
      <p:sp>
        <p:nvSpPr>
          <p:cNvPr id="332" name="Google Shape;332;p13"/>
          <p:cNvSpPr/>
          <p:nvPr/>
        </p:nvSpPr>
        <p:spPr>
          <a:xfrm>
            <a:off x="812800" y="4974336"/>
            <a:ext cx="2641600" cy="420624"/>
          </a:xfrm>
          <a:custGeom>
            <a:avLst/>
            <a:gdLst/>
            <a:ahLst/>
            <a:cxnLst/>
            <a:rect l="l" t="t" r="r" b="b"/>
            <a:pathLst>
              <a:path w="2641600" h="457200" extrusionOk="0">
                <a:moveTo>
                  <a:pt x="0" y="76200"/>
                </a:moveTo>
                <a:cubicBezTo>
                  <a:pt x="0" y="34116"/>
                  <a:pt x="34116" y="0"/>
                  <a:pt x="76200" y="0"/>
                </a:cubicBezTo>
                <a:lnTo>
                  <a:pt x="2641600" y="0"/>
                </a:lnTo>
                <a:lnTo>
                  <a:pt x="2641600" y="457200"/>
                </a:lnTo>
                <a:lnTo>
                  <a:pt x="76200" y="457200"/>
                </a:lnTo>
                <a:cubicBezTo>
                  <a:pt x="34116" y="457200"/>
                  <a:pt x="0" y="423084"/>
                  <a:pt x="0" y="381000"/>
                </a:cubicBezTo>
                <a:close/>
              </a:path>
            </a:pathLst>
          </a:custGeom>
          <a:solidFill>
            <a:srgbClr val="2556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a:off x="965200" y="5065776"/>
            <a:ext cx="2423160" cy="2387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6F7F4"/>
              </a:buClr>
              <a:buSzPts val="1200"/>
              <a:buFont typeface="Be Vietnam Pro"/>
              <a:buNone/>
            </a:pPr>
            <a:r>
              <a:rPr lang="en-US" sz="950" b="1" i="0" u="none" strike="noStrike" cap="none">
                <a:solidFill>
                  <a:srgbClr val="F6F7F4"/>
                </a:solidFill>
                <a:latin typeface="Be Vietnam Pro"/>
                <a:ea typeface="Be Vietnam Pro"/>
                <a:cs typeface="Be Vietnam Pro"/>
                <a:sym typeface="Be Vietnam Pro"/>
              </a:rPr>
              <a:t>Trưởng nhóm / Full-stack · 29,0%</a:t>
            </a:r>
            <a:endParaRPr sz="1200" b="0" i="0" u="none" strike="noStrike" cap="none">
              <a:solidFill>
                <a:schemeClr val="dk1"/>
              </a:solidFill>
              <a:latin typeface="Calibri"/>
              <a:ea typeface="Calibri"/>
              <a:cs typeface="Calibri"/>
              <a:sym typeface="Calibri"/>
            </a:endParaRPr>
          </a:p>
        </p:txBody>
      </p:sp>
      <p:sp>
        <p:nvSpPr>
          <p:cNvPr id="334" name="Google Shape;334;p13"/>
          <p:cNvSpPr/>
          <p:nvPr/>
        </p:nvSpPr>
        <p:spPr>
          <a:xfrm>
            <a:off x="3454400" y="4974336"/>
            <a:ext cx="2641600" cy="420624"/>
          </a:xfrm>
          <a:prstGeom prst="rect">
            <a:avLst/>
          </a:prstGeom>
          <a:solidFill>
            <a:srgbClr val="F28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3"/>
          <p:cNvSpPr/>
          <p:nvPr/>
        </p:nvSpPr>
        <p:spPr>
          <a:xfrm>
            <a:off x="3606800" y="5065776"/>
            <a:ext cx="2423160" cy="2387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2263A"/>
              </a:buClr>
              <a:buSzPts val="1200"/>
              <a:buFont typeface="Be Vietnam Pro"/>
              <a:buNone/>
            </a:pPr>
            <a:r>
              <a:rPr lang="en-US" sz="950" b="1" i="0" u="none" strike="noStrike" cap="none">
                <a:solidFill>
                  <a:srgbClr val="12263A"/>
                </a:solidFill>
                <a:latin typeface="Be Vietnam Pro"/>
                <a:ea typeface="Be Vietnam Pro"/>
                <a:cs typeface="Be Vietnam Pro"/>
                <a:sym typeface="Be Vietnam Pro"/>
              </a:rPr>
              <a:t>Khối Backend &amp; RLS (3 TV) · 27,8%</a:t>
            </a:r>
            <a:endParaRPr sz="1200" b="0" i="0" u="none" strike="noStrike" cap="none">
              <a:solidFill>
                <a:schemeClr val="dk1"/>
              </a:solidFill>
              <a:latin typeface="Calibri"/>
              <a:ea typeface="Calibri"/>
              <a:cs typeface="Calibri"/>
              <a:sym typeface="Calibri"/>
            </a:endParaRPr>
          </a:p>
        </p:txBody>
      </p:sp>
      <p:sp>
        <p:nvSpPr>
          <p:cNvPr id="336" name="Google Shape;336;p13"/>
          <p:cNvSpPr/>
          <p:nvPr/>
        </p:nvSpPr>
        <p:spPr>
          <a:xfrm>
            <a:off x="6096000" y="4974336"/>
            <a:ext cx="2641600" cy="420624"/>
          </a:xfrm>
          <a:prstGeom prst="rect">
            <a:avLst/>
          </a:prstGeom>
          <a:solidFill>
            <a:srgbClr val="122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3"/>
          <p:cNvSpPr/>
          <p:nvPr/>
        </p:nvSpPr>
        <p:spPr>
          <a:xfrm>
            <a:off x="6248400" y="5065776"/>
            <a:ext cx="2423160" cy="2387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6F7F4"/>
              </a:buClr>
              <a:buSzPts val="1200"/>
              <a:buFont typeface="Be Vietnam Pro"/>
              <a:buNone/>
            </a:pPr>
            <a:r>
              <a:rPr lang="en-US" sz="950" b="1" i="0" u="none" strike="noStrike" cap="none">
                <a:solidFill>
                  <a:srgbClr val="F6F7F4"/>
                </a:solidFill>
                <a:latin typeface="Be Vietnam Pro"/>
                <a:ea typeface="Be Vietnam Pro"/>
                <a:cs typeface="Be Vietnam Pro"/>
                <a:sym typeface="Be Vietnam Pro"/>
              </a:rPr>
              <a:t>Khối Frontend &amp; QR/PDF (3 TV) · 25,6%</a:t>
            </a:r>
            <a:endParaRPr sz="1200" b="0" i="0" u="none" strike="noStrike" cap="none">
              <a:solidFill>
                <a:schemeClr val="dk1"/>
              </a:solidFill>
              <a:latin typeface="Calibri"/>
              <a:ea typeface="Calibri"/>
              <a:cs typeface="Calibri"/>
              <a:sym typeface="Calibri"/>
            </a:endParaRPr>
          </a:p>
        </p:txBody>
      </p:sp>
      <p:sp>
        <p:nvSpPr>
          <p:cNvPr id="338" name="Google Shape;338;p13"/>
          <p:cNvSpPr/>
          <p:nvPr/>
        </p:nvSpPr>
        <p:spPr>
          <a:xfrm>
            <a:off x="8737600" y="4974336"/>
            <a:ext cx="2641600" cy="420624"/>
          </a:xfrm>
          <a:custGeom>
            <a:avLst/>
            <a:gdLst/>
            <a:ahLst/>
            <a:cxnLst/>
            <a:rect l="l" t="t" r="r" b="b"/>
            <a:pathLst>
              <a:path w="2641600" h="457200" extrusionOk="0">
                <a:moveTo>
                  <a:pt x="2565400" y="0"/>
                </a:moveTo>
                <a:cubicBezTo>
                  <a:pt x="2585609" y="0"/>
                  <a:pt x="2604991" y="8028"/>
                  <a:pt x="2619282" y="22318"/>
                </a:cubicBezTo>
                <a:cubicBezTo>
                  <a:pt x="2633572" y="36609"/>
                  <a:pt x="2641600" y="55991"/>
                  <a:pt x="2641600" y="76200"/>
                </a:cubicBezTo>
                <a:lnTo>
                  <a:pt x="2641600" y="381000"/>
                </a:lnTo>
                <a:cubicBezTo>
                  <a:pt x="2641600" y="423084"/>
                  <a:pt x="2607484" y="457200"/>
                  <a:pt x="2565400" y="457200"/>
                </a:cubicBezTo>
                <a:lnTo>
                  <a:pt x="0" y="457200"/>
                </a:lnTo>
                <a:lnTo>
                  <a:pt x="0" y="0"/>
                </a:lnTo>
                <a:close/>
              </a:path>
            </a:pathLst>
          </a:custGeom>
          <a:solidFill>
            <a:srgbClr val="A9B2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3"/>
          <p:cNvSpPr/>
          <p:nvPr/>
        </p:nvSpPr>
        <p:spPr>
          <a:xfrm>
            <a:off x="8890000" y="5065776"/>
            <a:ext cx="2423160" cy="23872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12263A"/>
              </a:buClr>
              <a:buSzPts val="1200"/>
              <a:buFont typeface="Be Vietnam Pro"/>
              <a:buNone/>
            </a:pPr>
            <a:r>
              <a:rPr lang="en-US" sz="950" b="1" i="0" u="none" strike="noStrike" cap="none">
                <a:solidFill>
                  <a:srgbClr val="12263A"/>
                </a:solidFill>
                <a:latin typeface="Be Vietnam Pro"/>
                <a:ea typeface="Be Vietnam Pro"/>
                <a:cs typeface="Be Vietnam Pro"/>
                <a:sym typeface="Be Vietnam Pro"/>
              </a:rPr>
              <a:t>Khối DevOps, QA &amp; Dữ liệu (3 TV) · 17,6%</a:t>
            </a:r>
            <a:endParaRPr sz="1200" b="0" i="0" u="none" strike="noStrike" cap="none">
              <a:solidFill>
                <a:schemeClr val="dk1"/>
              </a:solidFill>
              <a:latin typeface="Calibri"/>
              <a:ea typeface="Calibri"/>
              <a:cs typeface="Calibri"/>
              <a:sym typeface="Calibri"/>
            </a:endParaRPr>
          </a:p>
        </p:txBody>
      </p:sp>
      <p:sp>
        <p:nvSpPr>
          <p:cNvPr id="340" name="Google Shape;340;p13"/>
          <p:cNvSpPr/>
          <p:nvPr/>
        </p:nvSpPr>
        <p:spPr>
          <a:xfrm>
            <a:off x="812800" y="5559552"/>
            <a:ext cx="10883392" cy="45204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3F4A57"/>
              </a:buClr>
              <a:buSzPts val="1200"/>
              <a:buFont typeface="Be Vietnam Pro"/>
              <a:buNone/>
            </a:pPr>
            <a:r>
              <a:rPr lang="en-US" sz="1000" b="0" i="0" u="none" strike="noStrike" cap="none">
                <a:solidFill>
                  <a:srgbClr val="3F4A57"/>
                </a:solidFill>
                <a:latin typeface="Be Vietnam Pro"/>
                <a:ea typeface="Be Vietnam Pro"/>
                <a:cs typeface="Be Vietnam Pro"/>
                <a:sym typeface="Be Vietnam Pro"/>
              </a:rPr>
              <a:t>Tổng = 0,4 × Story point + 0,3 × PR + 0,2 × Đánh giá chéo + 0,1 × Mentor (quy về % trong nhóm) · Mentor xác nhận: Lê Đình Tuấn, 26/10/2026</a:t>
            </a:r>
            <a:endParaRPr sz="1200" b="0" i="0" u="none" strike="noStrike" cap="none">
              <a:solidFill>
                <a:schemeClr val="dk1"/>
              </a:solidFill>
              <a:latin typeface="Calibri"/>
              <a:ea typeface="Calibri"/>
              <a:cs typeface="Calibri"/>
              <a:sym typeface="Calibri"/>
            </a:endParaRPr>
          </a:p>
        </p:txBody>
      </p:sp>
      <p:sp>
        <p:nvSpPr>
          <p:cNvPr id="341" name="Google Shape;341;p13"/>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Nguồn: Jira · Git · phiếu đánh giá chéo · nhận xét mentor</a:t>
            </a:r>
            <a:endParaRPr sz="1200" b="0" i="0" u="none" strike="noStrike" cap="none">
              <a:solidFill>
                <a:schemeClr val="dk1"/>
              </a:solidFill>
              <a:latin typeface="Calibri"/>
              <a:ea typeface="Calibri"/>
              <a:cs typeface="Calibri"/>
              <a:sym typeface="Calibri"/>
            </a:endParaRPr>
          </a:p>
        </p:txBody>
      </p:sp>
      <p:sp>
        <p:nvSpPr>
          <p:cNvPr id="342" name="Google Shape;342;p13"/>
          <p:cNvSpPr/>
          <p:nvPr/>
        </p:nvSpPr>
        <p:spPr>
          <a:xfrm>
            <a:off x="9627344" y="6238280"/>
            <a:ext cx="180441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A — Kết quả nhóm</a:t>
            </a:r>
            <a:endParaRPr sz="1200" b="0" i="0" u="none" strike="noStrike" cap="none">
              <a:solidFill>
                <a:schemeClr val="dk1"/>
              </a:solidFill>
              <a:latin typeface="Calibri"/>
              <a:ea typeface="Calibri"/>
              <a:cs typeface="Calibri"/>
              <a:sym typeface="Calibri"/>
            </a:endParaRPr>
          </a:p>
        </p:txBody>
      </p:sp>
      <p:pic>
        <p:nvPicPr>
          <p:cNvPr id="343" name="Google Shape;343;p13"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344" name="Google Shape;344;p13"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Shape 349"/>
        <p:cNvGrpSpPr/>
        <p:nvPr/>
      </p:nvGrpSpPr>
      <p:grpSpPr>
        <a:xfrm>
          <a:off x="0" y="0"/>
          <a:ext cx="0" cy="0"/>
          <a:chOff x="0" y="0"/>
          <a:chExt cx="0" cy="0"/>
        </a:xfrm>
      </p:grpSpPr>
      <p:sp>
        <p:nvSpPr>
          <p:cNvPr id="350" name="Google Shape;350;p14"/>
          <p:cNvSpPr/>
          <p:nvPr/>
        </p:nvSpPr>
        <p:spPr>
          <a:xfrm>
            <a:off x="812800" y="238001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28C28"/>
              </a:buClr>
              <a:buSzPts val="1400"/>
              <a:buFont typeface="Be Vietnam Pro"/>
              <a:buNone/>
            </a:pPr>
            <a:r>
              <a:rPr lang="en-US" sz="1400" b="1" i="0" u="none" strike="noStrike" cap="none">
                <a:solidFill>
                  <a:srgbClr val="F28C28"/>
                </a:solidFill>
                <a:latin typeface="Be Vietnam Pro"/>
                <a:ea typeface="Be Vietnam Pro"/>
                <a:cs typeface="Be Vietnam Pro"/>
                <a:sym typeface="Be Vietnam Pro"/>
              </a:rPr>
              <a:t>PHẦN B</a:t>
            </a:r>
            <a:endParaRPr sz="1400" b="0" i="0" u="none" strike="noStrike" cap="none">
              <a:solidFill>
                <a:schemeClr val="dk1"/>
              </a:solidFill>
              <a:latin typeface="Calibri"/>
              <a:ea typeface="Calibri"/>
              <a:cs typeface="Calibri"/>
              <a:sym typeface="Calibri"/>
            </a:endParaRPr>
          </a:p>
        </p:txBody>
      </p:sp>
      <p:sp>
        <p:nvSpPr>
          <p:cNvPr id="351" name="Google Shape;351;p14"/>
          <p:cNvSpPr/>
          <p:nvPr/>
        </p:nvSpPr>
        <p:spPr>
          <a:xfrm>
            <a:off x="812800" y="2832100"/>
            <a:ext cx="10883392" cy="6959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F6F7F4"/>
              </a:buClr>
              <a:buSzPts val="4800"/>
              <a:buFont typeface="Be Vietnam Pro"/>
              <a:buNone/>
            </a:pPr>
            <a:r>
              <a:rPr lang="en-US" sz="4800" b="1" i="0" u="none" strike="noStrike" cap="none">
                <a:solidFill>
                  <a:srgbClr val="F6F7F4"/>
                </a:solidFill>
                <a:latin typeface="Be Vietnam Pro"/>
                <a:ea typeface="Be Vietnam Pro"/>
                <a:cs typeface="Be Vietnam Pro"/>
                <a:sym typeface="Be Vietnam Pro"/>
              </a:rPr>
              <a:t>Đóng góp cá nhân</a:t>
            </a:r>
            <a:endParaRPr sz="4800" b="0" i="0" u="none" strike="noStrike" cap="none">
              <a:solidFill>
                <a:schemeClr val="dk1"/>
              </a:solidFill>
              <a:latin typeface="Calibri"/>
              <a:ea typeface="Calibri"/>
              <a:cs typeface="Calibri"/>
              <a:sym typeface="Calibri"/>
            </a:endParaRPr>
          </a:p>
        </p:txBody>
      </p:sp>
      <p:sp>
        <p:nvSpPr>
          <p:cNvPr id="352" name="Google Shape;352;p14"/>
          <p:cNvSpPr/>
          <p:nvPr/>
        </p:nvSpPr>
        <p:spPr>
          <a:xfrm>
            <a:off x="812800" y="3705820"/>
            <a:ext cx="10883392" cy="345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800"/>
              <a:buFont typeface="Be Vietnam Pro"/>
              <a:buNone/>
            </a:pPr>
            <a:r>
              <a:rPr lang="en-US" sz="1800" b="0" i="0" u="none" strike="noStrike" cap="none">
                <a:solidFill>
                  <a:srgbClr val="BFD0DE"/>
                </a:solidFill>
                <a:latin typeface="Be Vietnam Pro"/>
                <a:ea typeface="Be Vietnam Pro"/>
                <a:cs typeface="Be Vietnam Pro"/>
                <a:sym typeface="Be Vietnam Pro"/>
              </a:rPr>
              <a:t>Vai trò · Đóng góp tiêu biểu · Năng lực tăng lên</a:t>
            </a:r>
            <a:endParaRPr sz="1800" b="0" i="0" u="none" strike="noStrike" cap="none">
              <a:solidFill>
                <a:schemeClr val="dk1"/>
              </a:solidFill>
              <a:latin typeface="Calibri"/>
              <a:ea typeface="Calibri"/>
              <a:cs typeface="Calibri"/>
              <a:sym typeface="Calibri"/>
            </a:endParaRPr>
          </a:p>
        </p:txBody>
      </p:sp>
      <p:sp>
        <p:nvSpPr>
          <p:cNvPr id="353" name="Google Shape;353;p14"/>
          <p:cNvSpPr/>
          <p:nvPr/>
        </p:nvSpPr>
        <p:spPr>
          <a:xfrm>
            <a:off x="812800" y="4229050"/>
            <a:ext cx="10883392"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BFD0DE"/>
              </a:buClr>
              <a:buSzPts val="1400"/>
              <a:buFont typeface="Be Vietnam Pro"/>
              <a:buNone/>
            </a:pPr>
            <a:r>
              <a:rPr lang="en-US" sz="1200" b="0" i="0" u="none" strike="noStrike" cap="none">
                <a:solidFill>
                  <a:srgbClr val="BFD0DE"/>
                </a:solidFill>
                <a:latin typeface="Be Vietnam Pro"/>
                <a:ea typeface="Be Vietnam Pro"/>
                <a:cs typeface="Be Vietnam Pro"/>
                <a:sym typeface="Be Vietnam Pro"/>
              </a:rPr>
              <a:t>10 thành viên: Vũ Hiếu Kiên · Đinh Bách Hợp · Lâm Tiến Khởi · Thành Long · Ngọc Linh · Quốc Khánh · Văn Nam · Mạnh Kiên · Tuấn Linh · Trung Kiên</a:t>
            </a:r>
            <a:endParaRPr sz="1400" b="0" i="0" u="none" strike="noStrike" cap="none">
              <a:solidFill>
                <a:schemeClr val="dk1"/>
              </a:solidFill>
              <a:latin typeface="Calibri"/>
              <a:ea typeface="Calibri"/>
              <a:cs typeface="Calibri"/>
              <a:sym typeface="Calibri"/>
            </a:endParaRPr>
          </a:p>
        </p:txBody>
      </p:sp>
      <p:pic>
        <p:nvPicPr>
          <p:cNvPr id="354" name="Google Shape;354;p14"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355" name="Google Shape;355;p14"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360"/>
        <p:cNvGrpSpPr/>
        <p:nvPr/>
      </p:nvGrpSpPr>
      <p:grpSpPr>
        <a:xfrm>
          <a:off x="0" y="0"/>
          <a:ext cx="0" cy="0"/>
          <a:chOff x="0" y="0"/>
          <a:chExt cx="0" cy="0"/>
        </a:xfrm>
      </p:grpSpPr>
      <p:sp>
        <p:nvSpPr>
          <p:cNvPr id="361" name="Google Shape;361;p15"/>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B · 01 — VAI TRÒ &amp; PHẠM VI PHỤ TRÁCH</a:t>
            </a:r>
            <a:endParaRPr sz="1200" b="0" i="0" u="none" strike="noStrike" cap="none">
              <a:solidFill>
                <a:schemeClr val="dk1"/>
              </a:solidFill>
              <a:latin typeface="Calibri"/>
              <a:ea typeface="Calibri"/>
              <a:cs typeface="Calibri"/>
              <a:sym typeface="Calibri"/>
            </a:endParaRPr>
          </a:p>
        </p:txBody>
      </p:sp>
      <p:sp>
        <p:nvSpPr>
          <p:cNvPr id="362" name="Google Shape;362;p15"/>
          <p:cNvSpPr/>
          <p:nvPr/>
        </p:nvSpPr>
        <p:spPr>
          <a:xfrm>
            <a:off x="812800" y="1102320"/>
            <a:ext cx="10883392" cy="47243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2263A"/>
              </a:buClr>
              <a:buSzPts val="3200"/>
              <a:buFont typeface="Be Vietnam Pro"/>
              <a:buNone/>
            </a:pPr>
            <a:r>
              <a:rPr lang="en-US" sz="2800" b="1" i="0" u="none" strike="noStrike" cap="none">
                <a:solidFill>
                  <a:srgbClr val="12263A"/>
                </a:solidFill>
                <a:latin typeface="Be Vietnam Pro"/>
                <a:ea typeface="Be Vietnam Pro"/>
                <a:cs typeface="Be Vietnam Pro"/>
                <a:sym typeface="Be Vietnam Pro"/>
              </a:rPr>
              <a:t>Vũ Hiếu Kiên · Trưởng nhóm / Full-stack Developer</a:t>
            </a:r>
            <a:endParaRPr sz="3200" b="0" i="0" u="none" strike="noStrike" cap="none">
              <a:solidFill>
                <a:schemeClr val="dk1"/>
              </a:solidFill>
              <a:latin typeface="Calibri"/>
              <a:ea typeface="Calibri"/>
              <a:cs typeface="Calibri"/>
              <a:sym typeface="Calibri"/>
            </a:endParaRPr>
          </a:p>
        </p:txBody>
      </p:sp>
      <p:sp>
        <p:nvSpPr>
          <p:cNvPr id="363" name="Google Shape;363;p15"/>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5"/>
          <p:cNvSpPr/>
          <p:nvPr/>
        </p:nvSpPr>
        <p:spPr>
          <a:xfrm>
            <a:off x="1022350" y="2012900"/>
            <a:ext cx="561174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Module / tính năng phụ trách</a:t>
            </a:r>
            <a:endParaRPr sz="1800" b="0" i="0" u="none" strike="noStrike" cap="none">
              <a:solidFill>
                <a:schemeClr val="dk1"/>
              </a:solidFill>
              <a:latin typeface="Calibri"/>
              <a:ea typeface="Calibri"/>
              <a:cs typeface="Calibri"/>
              <a:sym typeface="Calibri"/>
            </a:endParaRPr>
          </a:p>
        </p:txBody>
      </p:sp>
      <p:sp>
        <p:nvSpPr>
          <p:cNvPr id="365" name="Google Shape;365;p15"/>
          <p:cNvSpPr/>
          <p:nvPr/>
        </p:nvSpPr>
        <p:spPr>
          <a:xfrm>
            <a:off x="1022350" y="2363391"/>
            <a:ext cx="5611749" cy="1020961"/>
          </a:xfrm>
          <a:prstGeom prst="rect">
            <a:avLst/>
          </a:prstGeom>
          <a:noFill/>
          <a:ln>
            <a:noFill/>
          </a:ln>
        </p:spPr>
        <p:txBody>
          <a:bodyPr spcFirstLastPara="1" wrap="square" lIns="0" tIns="0" rIns="0" bIns="0" anchor="t" anchorCtr="0">
            <a:normAutofit fontScale="70000" lnSpcReduction="2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Kiến trúc &amp; Bảo mật CSDL — Thiết kế PostgreSQL RLS, chuỗi băm SHA-256 (RFC 8785) và tách quyền runtime.</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Phả hệ, Thu hồi &amp; Chuỗi lạnh — Xây dựng truy vết DAG, lan truyền thu hồi xuôi dòng và xác nhận bất biến.</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Giao diện &amp; Trải nghiệm (UI/UX) — Tối ưu Dashboard 6 vai trò, trang Tra cứu công khai, bản đồ Leaflet &amp; QR.</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50" b="0" i="0" u="none" strike="noStrike" cap="none">
                <a:solidFill>
                  <a:srgbClr val="3F4A57"/>
                </a:solidFill>
                <a:latin typeface="Be Vietnam Pro"/>
                <a:ea typeface="Be Vietnam Pro"/>
                <a:cs typeface="Be Vietnam Pro"/>
                <a:sym typeface="Be Vietnam Pro"/>
              </a:rPr>
              <a:t>Điều phối 8 Sprint trên Jira, Review PR, thiết lập CI/CD GitHub Actions và triển khai Render Staging.</a:t>
            </a:r>
            <a:endParaRPr sz="1400" b="0" i="0" u="none" strike="noStrike" cap="none">
              <a:solidFill>
                <a:schemeClr val="dk1"/>
              </a:solidFill>
              <a:latin typeface="Calibri"/>
              <a:ea typeface="Calibri"/>
              <a:cs typeface="Calibri"/>
              <a:sym typeface="Calibri"/>
            </a:endParaRPr>
          </a:p>
        </p:txBody>
      </p:sp>
      <p:sp>
        <p:nvSpPr>
          <p:cNvPr id="366" name="Google Shape;366;p15"/>
          <p:cNvSpPr/>
          <p:nvPr/>
        </p:nvSpPr>
        <p:spPr>
          <a:xfrm>
            <a:off x="1022350" y="5419130"/>
            <a:ext cx="5611749"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Ticket tiêu biểu: N3-5, N3-6, N3-7, N3-20, N3-22, N3-23, N3-24</a:t>
            </a:r>
            <a:endParaRPr sz="1200" b="0" i="0" u="none" strike="noStrike" cap="none">
              <a:solidFill>
                <a:schemeClr val="dk1"/>
              </a:solidFill>
              <a:latin typeface="Calibri"/>
              <a:ea typeface="Calibri"/>
              <a:cs typeface="Calibri"/>
              <a:sym typeface="Calibri"/>
            </a:endParaRPr>
          </a:p>
        </p:txBody>
      </p:sp>
      <p:sp>
        <p:nvSpPr>
          <p:cNvPr id="367" name="Google Shape;367;p15"/>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5"/>
          <p:cNvSpPr/>
          <p:nvPr/>
        </p:nvSpPr>
        <p:spPr>
          <a:xfrm>
            <a:off x="7118350" y="1962100"/>
            <a:ext cx="184442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Task hoàn thành</a:t>
            </a:r>
            <a:endParaRPr sz="1200" b="0" i="0" u="none" strike="noStrike" cap="none">
              <a:solidFill>
                <a:schemeClr val="dk1"/>
              </a:solidFill>
              <a:latin typeface="Calibri"/>
              <a:ea typeface="Calibri"/>
              <a:cs typeface="Calibri"/>
              <a:sym typeface="Calibri"/>
            </a:endParaRPr>
          </a:p>
        </p:txBody>
      </p:sp>
      <p:sp>
        <p:nvSpPr>
          <p:cNvPr id="369" name="Google Shape;369;p15"/>
          <p:cNvSpPr/>
          <p:nvPr/>
        </p:nvSpPr>
        <p:spPr>
          <a:xfrm>
            <a:off x="7118350" y="2226221"/>
            <a:ext cx="184442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27</a:t>
            </a:r>
            <a:endParaRPr sz="3200" b="0" i="0" u="none" strike="noStrike" cap="none">
              <a:solidFill>
                <a:schemeClr val="dk1"/>
              </a:solidFill>
              <a:latin typeface="Calibri"/>
              <a:ea typeface="Calibri"/>
              <a:cs typeface="Calibri"/>
              <a:sym typeface="Calibri"/>
            </a:endParaRPr>
          </a:p>
        </p:txBody>
      </p:sp>
      <p:sp>
        <p:nvSpPr>
          <p:cNvPr id="370" name="Google Shape;370;p15"/>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5"/>
          <p:cNvSpPr/>
          <p:nvPr/>
        </p:nvSpPr>
        <p:spPr>
          <a:xfrm>
            <a:off x="9404350" y="1962100"/>
            <a:ext cx="184442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Story point</a:t>
            </a:r>
            <a:endParaRPr sz="1200" b="0" i="0" u="none" strike="noStrike" cap="none">
              <a:solidFill>
                <a:schemeClr val="dk1"/>
              </a:solidFill>
              <a:latin typeface="Calibri"/>
              <a:ea typeface="Calibri"/>
              <a:cs typeface="Calibri"/>
              <a:sym typeface="Calibri"/>
            </a:endParaRPr>
          </a:p>
        </p:txBody>
      </p:sp>
      <p:sp>
        <p:nvSpPr>
          <p:cNvPr id="372" name="Google Shape;372;p15"/>
          <p:cNvSpPr/>
          <p:nvPr/>
        </p:nvSpPr>
        <p:spPr>
          <a:xfrm>
            <a:off x="9404350" y="2226221"/>
            <a:ext cx="184442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53</a:t>
            </a:r>
            <a:endParaRPr sz="3200" b="0" i="0" u="none" strike="noStrike" cap="none">
              <a:solidFill>
                <a:schemeClr val="dk1"/>
              </a:solidFill>
              <a:latin typeface="Calibri"/>
              <a:ea typeface="Calibri"/>
              <a:cs typeface="Calibri"/>
              <a:sym typeface="Calibri"/>
            </a:endParaRPr>
          </a:p>
        </p:txBody>
      </p:sp>
      <p:sp>
        <p:nvSpPr>
          <p:cNvPr id="373" name="Google Shape;373;p15"/>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p:cNvSpPr/>
          <p:nvPr/>
        </p:nvSpPr>
        <p:spPr>
          <a:xfrm>
            <a:off x="7118350" y="3117751"/>
            <a:ext cx="184442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Commit</a:t>
            </a:r>
            <a:endParaRPr sz="1200" b="0" i="0" u="none" strike="noStrike" cap="none">
              <a:solidFill>
                <a:schemeClr val="dk1"/>
              </a:solidFill>
              <a:latin typeface="Calibri"/>
              <a:ea typeface="Calibri"/>
              <a:cs typeface="Calibri"/>
              <a:sym typeface="Calibri"/>
            </a:endParaRPr>
          </a:p>
        </p:txBody>
      </p:sp>
      <p:sp>
        <p:nvSpPr>
          <p:cNvPr id="375" name="Google Shape;375;p15"/>
          <p:cNvSpPr/>
          <p:nvPr/>
        </p:nvSpPr>
        <p:spPr>
          <a:xfrm>
            <a:off x="7118350" y="3381871"/>
            <a:ext cx="184442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118</a:t>
            </a:r>
            <a:endParaRPr sz="3200" b="0" i="0" u="none" strike="noStrike" cap="none">
              <a:solidFill>
                <a:schemeClr val="dk1"/>
              </a:solidFill>
              <a:latin typeface="Calibri"/>
              <a:ea typeface="Calibri"/>
              <a:cs typeface="Calibri"/>
              <a:sym typeface="Calibri"/>
            </a:endParaRPr>
          </a:p>
        </p:txBody>
      </p:sp>
      <p:sp>
        <p:nvSpPr>
          <p:cNvPr id="376" name="Google Shape;376;p15"/>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a:off x="9404350" y="3117751"/>
            <a:ext cx="1844421"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PR đã merge</a:t>
            </a:r>
            <a:endParaRPr sz="1200" b="0" i="0" u="none" strike="noStrike" cap="none">
              <a:solidFill>
                <a:schemeClr val="dk1"/>
              </a:solidFill>
              <a:latin typeface="Calibri"/>
              <a:ea typeface="Calibri"/>
              <a:cs typeface="Calibri"/>
              <a:sym typeface="Calibri"/>
            </a:endParaRPr>
          </a:p>
        </p:txBody>
      </p:sp>
      <p:sp>
        <p:nvSpPr>
          <p:cNvPr id="378" name="Google Shape;378;p15"/>
          <p:cNvSpPr/>
          <p:nvPr/>
        </p:nvSpPr>
        <p:spPr>
          <a:xfrm>
            <a:off x="9404350" y="3381871"/>
            <a:ext cx="1844421"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25</a:t>
            </a:r>
            <a:endParaRPr sz="3200" b="0" i="0" u="none" strike="noStrike" cap="none">
              <a:solidFill>
                <a:schemeClr val="dk1"/>
              </a:solidFill>
              <a:latin typeface="Calibri"/>
              <a:ea typeface="Calibri"/>
              <a:cs typeface="Calibri"/>
              <a:sym typeface="Calibri"/>
            </a:endParaRPr>
          </a:p>
        </p:txBody>
      </p:sp>
      <p:sp>
        <p:nvSpPr>
          <p:cNvPr id="379" name="Google Shape;379;p15"/>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0" name="Google Shape;380;p15"/>
          <p:cNvCxnSpPr/>
          <p:nvPr/>
        </p:nvCxnSpPr>
        <p:spPr>
          <a:xfrm>
            <a:off x="6934200" y="4133701"/>
            <a:ext cx="4445000" cy="0"/>
          </a:xfrm>
          <a:prstGeom prst="straightConnector1">
            <a:avLst/>
          </a:prstGeom>
          <a:noFill/>
          <a:ln w="38100" cap="flat" cmpd="sng">
            <a:solidFill>
              <a:srgbClr val="F28C28"/>
            </a:solidFill>
            <a:prstDash val="solid"/>
            <a:round/>
            <a:headEnd type="none" w="sm" len="sm"/>
            <a:tailEnd type="none" w="sm" len="sm"/>
          </a:ln>
        </p:spPr>
      </p:cxnSp>
      <p:sp>
        <p:nvSpPr>
          <p:cNvPr id="381" name="Google Shape;381;p15"/>
          <p:cNvSpPr/>
          <p:nvPr/>
        </p:nvSpPr>
        <p:spPr>
          <a:xfrm>
            <a:off x="7112000" y="4305151"/>
            <a:ext cx="421208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Tỉ lệ đóng góp trong nhóm</a:t>
            </a:r>
            <a:endParaRPr sz="1200" b="0" i="0" u="none" strike="noStrike" cap="none">
              <a:solidFill>
                <a:schemeClr val="dk1"/>
              </a:solidFill>
              <a:latin typeface="Calibri"/>
              <a:ea typeface="Calibri"/>
              <a:cs typeface="Calibri"/>
              <a:sym typeface="Calibri"/>
            </a:endParaRPr>
          </a:p>
        </p:txBody>
      </p:sp>
      <p:sp>
        <p:nvSpPr>
          <p:cNvPr id="382" name="Google Shape;382;p15"/>
          <p:cNvSpPr/>
          <p:nvPr/>
        </p:nvSpPr>
        <p:spPr>
          <a:xfrm>
            <a:off x="7112000" y="4569271"/>
            <a:ext cx="421208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2556C4"/>
              </a:buClr>
              <a:buSzPts val="3200"/>
              <a:buFont typeface="Be Vietnam Pro"/>
              <a:buNone/>
            </a:pPr>
            <a:r>
              <a:rPr lang="en-US" sz="3200" b="1" i="0" u="none" strike="noStrike" cap="none">
                <a:solidFill>
                  <a:srgbClr val="2556C4"/>
                </a:solidFill>
                <a:latin typeface="Be Vietnam Pro"/>
                <a:ea typeface="Be Vietnam Pro"/>
                <a:cs typeface="Be Vietnam Pro"/>
                <a:sym typeface="Be Vietnam Pro"/>
              </a:rPr>
              <a:t>29,0%</a:t>
            </a:r>
            <a:endParaRPr sz="3200" b="0" i="0" u="none" strike="noStrike" cap="none">
              <a:solidFill>
                <a:schemeClr val="dk1"/>
              </a:solidFill>
              <a:latin typeface="Calibri"/>
              <a:ea typeface="Calibri"/>
              <a:cs typeface="Calibri"/>
              <a:sym typeface="Calibri"/>
            </a:endParaRPr>
          </a:p>
        </p:txBody>
      </p:sp>
      <p:sp>
        <p:nvSpPr>
          <p:cNvPr id="383" name="Google Shape;383;p15"/>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Nguồn: Jira Board 4 (VU HIEU KIEN: 27 issues, 53 SP) · GitHub (qtu1053-dev / hieu-kien)</a:t>
            </a:r>
            <a:endParaRPr sz="1200" b="0" i="0" u="none" strike="noStrike" cap="none">
              <a:solidFill>
                <a:schemeClr val="dk1"/>
              </a:solidFill>
              <a:latin typeface="Calibri"/>
              <a:ea typeface="Calibri"/>
              <a:cs typeface="Calibri"/>
              <a:sym typeface="Calibri"/>
            </a:endParaRPr>
          </a:p>
        </p:txBody>
      </p:sp>
      <p:sp>
        <p:nvSpPr>
          <p:cNvPr id="384" name="Google Shape;384;p15"/>
          <p:cNvSpPr/>
          <p:nvPr/>
        </p:nvSpPr>
        <p:spPr>
          <a:xfrm>
            <a:off x="9305627" y="6238280"/>
            <a:ext cx="213578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B — Đóng góp cá nhân</a:t>
            </a:r>
            <a:endParaRPr sz="1200" b="0" i="0" u="none" strike="noStrike" cap="none">
              <a:solidFill>
                <a:schemeClr val="dk1"/>
              </a:solidFill>
              <a:latin typeface="Calibri"/>
              <a:ea typeface="Calibri"/>
              <a:cs typeface="Calibri"/>
              <a:sym typeface="Calibri"/>
            </a:endParaRPr>
          </a:p>
        </p:txBody>
      </p:sp>
      <p:pic>
        <p:nvPicPr>
          <p:cNvPr id="385" name="Google Shape;385;p15"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386" name="Google Shape;386;p15"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391"/>
        <p:cNvGrpSpPr/>
        <p:nvPr/>
      </p:nvGrpSpPr>
      <p:grpSpPr>
        <a:xfrm>
          <a:off x="0" y="0"/>
          <a:ext cx="0" cy="0"/>
          <a:chOff x="0" y="0"/>
          <a:chExt cx="0" cy="0"/>
        </a:xfrm>
      </p:grpSpPr>
      <p:sp>
        <p:nvSpPr>
          <p:cNvPr id="392" name="Google Shape;392;p16"/>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B · 02 — ĐÓNG GÓP TIÊU BIỂU · VŨ HIẾU KIÊN</a:t>
            </a:r>
            <a:endParaRPr sz="1200" b="0" i="0" u="none" strike="noStrike" cap="none">
              <a:solidFill>
                <a:schemeClr val="dk1"/>
              </a:solidFill>
              <a:latin typeface="Calibri"/>
              <a:ea typeface="Calibri"/>
              <a:cs typeface="Calibri"/>
              <a:sym typeface="Calibri"/>
            </a:endParaRPr>
          </a:p>
        </p:txBody>
      </p:sp>
      <p:sp>
        <p:nvSpPr>
          <p:cNvPr id="393" name="Google Shape;393;p16"/>
          <p:cNvSpPr/>
          <p:nvPr/>
        </p:nvSpPr>
        <p:spPr>
          <a:xfrm>
            <a:off x="812800" y="1102320"/>
            <a:ext cx="10883392" cy="472430"/>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rgbClr val="12263A"/>
              </a:buClr>
              <a:buSzPts val="3200"/>
              <a:buFont typeface="Be Vietnam Pro"/>
              <a:buNone/>
            </a:pPr>
            <a:r>
              <a:rPr lang="en-US" sz="2600" b="1" i="0" u="none" strike="noStrike" cap="none">
                <a:solidFill>
                  <a:srgbClr val="12263A"/>
                </a:solidFill>
                <a:latin typeface="Be Vietnam Pro"/>
                <a:ea typeface="Be Vietnam Pro"/>
                <a:cs typeface="Be Vietnam Pro"/>
                <a:sym typeface="Be Vietnam Pro"/>
              </a:rPr>
              <a:t>Xử lý chuỗi băm sự kiện dưới RLS &amp; Tối ưu truy vấn phả hệ</a:t>
            </a:r>
            <a:endParaRPr sz="3200" b="0" i="0" u="none" strike="noStrike" cap="none">
              <a:solidFill>
                <a:schemeClr val="dk1"/>
              </a:solidFill>
              <a:latin typeface="Calibri"/>
              <a:ea typeface="Calibri"/>
              <a:cs typeface="Calibri"/>
              <a:sym typeface="Calibri"/>
            </a:endParaRPr>
          </a:p>
        </p:txBody>
      </p:sp>
      <p:sp>
        <p:nvSpPr>
          <p:cNvPr id="394" name="Google Shape;394;p16"/>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6"/>
          <p:cNvSpPr/>
          <p:nvPr/>
        </p:nvSpPr>
        <p:spPr>
          <a:xfrm>
            <a:off x="1022350" y="2012900"/>
            <a:ext cx="2847264"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Vấn đề</a:t>
            </a:r>
            <a:endParaRPr sz="1800" b="0" i="0" u="none" strike="noStrike" cap="none">
              <a:solidFill>
                <a:schemeClr val="dk1"/>
              </a:solidFill>
              <a:latin typeface="Calibri"/>
              <a:ea typeface="Calibri"/>
              <a:cs typeface="Calibri"/>
              <a:sym typeface="Calibri"/>
            </a:endParaRPr>
          </a:p>
        </p:txBody>
      </p:sp>
      <p:sp>
        <p:nvSpPr>
          <p:cNvPr id="396" name="Google Shape;396;p16"/>
          <p:cNvSpPr/>
          <p:nvPr/>
        </p:nvSpPr>
        <p:spPr>
          <a:xfrm>
            <a:off x="1022350" y="2363391"/>
            <a:ext cx="2847264" cy="523180"/>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100" b="0" i="0" u="none" strike="noStrike" cap="none">
                <a:solidFill>
                  <a:srgbClr val="3F4A57"/>
                </a:solidFill>
                <a:latin typeface="Be Vietnam Pro"/>
                <a:ea typeface="Be Vietnam Pro"/>
                <a:cs typeface="Be Vietnam Pro"/>
                <a:sym typeface="Be Vietnam Pro"/>
              </a:rPr>
              <a:t>Khi lô hàng đã bàn giao sang đối tác sau, RLS ẩn sự kiện mới nhất làm xung đột số thứ tự chuỗi băm khi xác nhận thu hồi.</a:t>
            </a:r>
            <a:endParaRPr sz="1400" b="0" i="0" u="none" strike="noStrike" cap="none">
              <a:solidFill>
                <a:schemeClr val="dk1"/>
              </a:solidFill>
              <a:latin typeface="Calibri"/>
              <a:ea typeface="Calibri"/>
              <a:cs typeface="Calibri"/>
              <a:sym typeface="Calibri"/>
            </a:endParaRPr>
          </a:p>
        </p:txBody>
      </p:sp>
      <p:sp>
        <p:nvSpPr>
          <p:cNvPr id="397" name="Google Shape;397;p16"/>
          <p:cNvSpPr/>
          <p:nvPr/>
        </p:nvSpPr>
        <p:spPr>
          <a:xfrm>
            <a:off x="1022350" y="3127248"/>
            <a:ext cx="2847264" cy="45204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A6573"/>
              </a:buClr>
              <a:buSzPts val="1200"/>
              <a:buFont typeface="Be Vietnam Pro"/>
              <a:buNone/>
            </a:pPr>
            <a:r>
              <a:rPr lang="en-US" sz="1000" b="0" i="1" u="none" strike="noStrike" cap="none">
                <a:solidFill>
                  <a:srgbClr val="5A6573"/>
                </a:solidFill>
                <a:latin typeface="Be Vietnam Pro"/>
                <a:ea typeface="Be Vietnam Pro"/>
                <a:cs typeface="Be Vietnam Pro"/>
                <a:sym typeface="Be Vietnam Pro"/>
              </a:rPr>
              <a:t>Xung đột uq_events_lot_sequence dưới RLS</a:t>
            </a:r>
            <a:endParaRPr sz="1200" b="0" i="0" u="none" strike="noStrike" cap="none">
              <a:solidFill>
                <a:schemeClr val="dk1"/>
              </a:solidFill>
              <a:latin typeface="Calibri"/>
              <a:ea typeface="Calibri"/>
              <a:cs typeface="Calibri"/>
              <a:sym typeface="Calibri"/>
            </a:endParaRPr>
          </a:p>
        </p:txBody>
      </p:sp>
      <p:pic>
        <p:nvPicPr>
          <p:cNvPr id="398" name="Google Shape;398;p16" descr="arrow-right"/>
          <p:cNvPicPr preferRelativeResize="0"/>
          <p:nvPr/>
        </p:nvPicPr>
        <p:blipFill rotWithShape="1">
          <a:blip r:embed="rId3">
            <a:alphaModFix/>
          </a:blip>
          <a:srcRect/>
          <a:stretch/>
        </p:blipFill>
        <p:spPr>
          <a:xfrm>
            <a:off x="4097834" y="2599531"/>
            <a:ext cx="304800" cy="177800"/>
          </a:xfrm>
          <a:prstGeom prst="rect">
            <a:avLst/>
          </a:prstGeom>
          <a:noFill/>
          <a:ln>
            <a:noFill/>
          </a:ln>
        </p:spPr>
      </p:pic>
      <p:sp>
        <p:nvSpPr>
          <p:cNvPr id="399" name="Google Shape;399;p16"/>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a:off x="4713784" y="2012900"/>
            <a:ext cx="2847315"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Giải pháp</a:t>
            </a:r>
            <a:endParaRPr sz="1800" b="0" i="0" u="none" strike="noStrike" cap="none">
              <a:solidFill>
                <a:schemeClr val="dk1"/>
              </a:solidFill>
              <a:latin typeface="Calibri"/>
              <a:ea typeface="Calibri"/>
              <a:cs typeface="Calibri"/>
              <a:sym typeface="Calibri"/>
            </a:endParaRPr>
          </a:p>
        </p:txBody>
      </p:sp>
      <p:sp>
        <p:nvSpPr>
          <p:cNvPr id="401" name="Google Shape;401;p16"/>
          <p:cNvSpPr/>
          <p:nvPr/>
        </p:nvSpPr>
        <p:spPr>
          <a:xfrm>
            <a:off x="4713784" y="2363391"/>
            <a:ext cx="2847315" cy="523180"/>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100" b="0" i="0" u="none" strike="noStrike" cap="none">
                <a:solidFill>
                  <a:srgbClr val="3F4A57"/>
                </a:solidFill>
                <a:latin typeface="Be Vietnam Pro"/>
                <a:ea typeface="Be Vietnam Pro"/>
                <a:cs typeface="Be Vietnam Pro"/>
                <a:sym typeface="Be Vietnam Pro"/>
              </a:rPr>
              <a:t>Viết hàm SECURITY DEFINER khóa và lấy đúng đầu chuỗi sự kiện toàn cục khi ghi sổ cái; kết hợp CTE MATERIALIZED và Index.</a:t>
            </a:r>
            <a:endParaRPr sz="1400" b="0" i="0" u="none" strike="noStrike" cap="none">
              <a:solidFill>
                <a:schemeClr val="dk1"/>
              </a:solidFill>
              <a:latin typeface="Calibri"/>
              <a:ea typeface="Calibri"/>
              <a:cs typeface="Calibri"/>
              <a:sym typeface="Calibri"/>
            </a:endParaRPr>
          </a:p>
        </p:txBody>
      </p:sp>
      <p:sp>
        <p:nvSpPr>
          <p:cNvPr id="402" name="Google Shape;402;p16"/>
          <p:cNvSpPr/>
          <p:nvPr/>
        </p:nvSpPr>
        <p:spPr>
          <a:xfrm>
            <a:off x="4713784" y="3127248"/>
            <a:ext cx="2847315" cy="452041"/>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A6573"/>
              </a:buClr>
              <a:buSzPts val="1200"/>
              <a:buFont typeface="Be Vietnam Pro"/>
              <a:buNone/>
            </a:pPr>
            <a:r>
              <a:rPr lang="en-US" sz="1000" b="0" i="1" u="none" strike="noStrike" cap="none">
                <a:solidFill>
                  <a:srgbClr val="5A6573"/>
                </a:solidFill>
                <a:latin typeface="Be Vietnam Pro"/>
                <a:ea typeface="Be Vietnam Pro"/>
                <a:cs typeface="Be Vietnam Pro"/>
                <a:sym typeface="Be Vietnam Pro"/>
              </a:rPr>
              <a:t>Migration 20261025_45 + CTE MATERIALIZED</a:t>
            </a:r>
            <a:endParaRPr sz="1200" b="0" i="0" u="none" strike="noStrike" cap="none">
              <a:solidFill>
                <a:schemeClr val="dk1"/>
              </a:solidFill>
              <a:latin typeface="Calibri"/>
              <a:ea typeface="Calibri"/>
              <a:cs typeface="Calibri"/>
              <a:sym typeface="Calibri"/>
            </a:endParaRPr>
          </a:p>
        </p:txBody>
      </p:sp>
      <p:pic>
        <p:nvPicPr>
          <p:cNvPr id="403" name="Google Shape;403;p16" descr="arrow-right"/>
          <p:cNvPicPr preferRelativeResize="0"/>
          <p:nvPr/>
        </p:nvPicPr>
        <p:blipFill rotWithShape="1">
          <a:blip r:embed="rId3">
            <a:alphaModFix/>
          </a:blip>
          <a:srcRect/>
          <a:stretch/>
        </p:blipFill>
        <p:spPr>
          <a:xfrm>
            <a:off x="7789317" y="2599531"/>
            <a:ext cx="304800" cy="177800"/>
          </a:xfrm>
          <a:prstGeom prst="rect">
            <a:avLst/>
          </a:prstGeom>
          <a:noFill/>
          <a:ln>
            <a:noFill/>
          </a:ln>
        </p:spPr>
      </p:pic>
      <p:sp>
        <p:nvSpPr>
          <p:cNvPr id="404" name="Google Shape;404;p16"/>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a:off x="8405267" y="2012900"/>
            <a:ext cx="2847315"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Kết quả đo được</a:t>
            </a:r>
            <a:endParaRPr sz="1800" b="0" i="0" u="none" strike="noStrike" cap="none">
              <a:solidFill>
                <a:schemeClr val="dk1"/>
              </a:solidFill>
              <a:latin typeface="Calibri"/>
              <a:ea typeface="Calibri"/>
              <a:cs typeface="Calibri"/>
              <a:sym typeface="Calibri"/>
            </a:endParaRPr>
          </a:p>
        </p:txBody>
      </p:sp>
      <p:sp>
        <p:nvSpPr>
          <p:cNvPr id="406" name="Google Shape;406;p16"/>
          <p:cNvSpPr/>
          <p:nvPr/>
        </p:nvSpPr>
        <p:spPr>
          <a:xfrm>
            <a:off x="8405267" y="2363391"/>
            <a:ext cx="2847315" cy="523180"/>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100" b="0" i="0" u="none" strike="noStrike" cap="none">
                <a:solidFill>
                  <a:srgbClr val="3F4A57"/>
                </a:solidFill>
                <a:latin typeface="Be Vietnam Pro"/>
                <a:ea typeface="Be Vietnam Pro"/>
                <a:cs typeface="Be Vietnam Pro"/>
                <a:sym typeface="Be Vietnam Pro"/>
              </a:rPr>
              <a:t>Xác nhận thu hồi đa tổ chức đạt 200 OK tuyệt đối (0 lỗi 500); truy vấn 200 sự kiện đạt ~68ms, danh sách 5.000 lô đạt ~76ms.</a:t>
            </a:r>
            <a:endParaRPr sz="1400" b="0" i="0" u="none" strike="noStrike" cap="none">
              <a:solidFill>
                <a:schemeClr val="dk1"/>
              </a:solidFill>
              <a:latin typeface="Calibri"/>
              <a:ea typeface="Calibri"/>
              <a:cs typeface="Calibri"/>
              <a:sym typeface="Calibri"/>
            </a:endParaRPr>
          </a:p>
        </p:txBody>
      </p:sp>
      <p:sp>
        <p:nvSpPr>
          <p:cNvPr id="407" name="Google Shape;407;p16"/>
          <p:cNvSpPr/>
          <p:nvPr/>
        </p:nvSpPr>
        <p:spPr>
          <a:xfrm>
            <a:off x="8405267" y="3127248"/>
            <a:ext cx="2847315" cy="23872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5A6573"/>
              </a:buClr>
              <a:buSzPts val="1200"/>
              <a:buFont typeface="Be Vietnam Pro"/>
              <a:buNone/>
            </a:pPr>
            <a:r>
              <a:rPr lang="en-US" sz="1000" b="0" i="1" u="none" strike="noStrike" cap="none">
                <a:solidFill>
                  <a:srgbClr val="5A6573"/>
                </a:solidFill>
                <a:latin typeface="Be Vietnam Pro"/>
                <a:ea typeface="Be Vietnam Pro"/>
                <a:cs typeface="Be Vietnam Pro"/>
                <a:sym typeface="Be Vietnam Pro"/>
              </a:rPr>
              <a:t>SLA &lt; 300ms · 100% toàn vẹn chuỗi băm</a:t>
            </a:r>
            <a:endParaRPr sz="1200" b="0" i="0" u="none" strike="noStrike" cap="none">
              <a:solidFill>
                <a:schemeClr val="dk1"/>
              </a:solidFill>
              <a:latin typeface="Calibri"/>
              <a:ea typeface="Calibri"/>
              <a:cs typeface="Calibri"/>
              <a:sym typeface="Calibri"/>
            </a:endParaRPr>
          </a:p>
        </p:txBody>
      </p:sp>
      <p:sp>
        <p:nvSpPr>
          <p:cNvPr id="408" name="Google Shape;408;p16"/>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6"/>
          <p:cNvSpPr/>
          <p:nvPr/>
        </p:nvSpPr>
        <p:spPr>
          <a:xfrm>
            <a:off x="2405640" y="4710311"/>
            <a:ext cx="2021270"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410" name="Google Shape;410;p16"/>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6"/>
          <p:cNvSpPr/>
          <p:nvPr/>
        </p:nvSpPr>
        <p:spPr>
          <a:xfrm>
            <a:off x="7911257" y="4710311"/>
            <a:ext cx="1728887" cy="274290"/>
          </a:xfrm>
          <a:prstGeom prst="rect">
            <a:avLst/>
          </a:prstGeom>
          <a:noFill/>
          <a:ln>
            <a:noFill/>
          </a:ln>
        </p:spPr>
        <p:txBody>
          <a:bodyPr spcFirstLastPara="1" wrap="square" lIns="0" tIns="0" rIns="0" bIns="0" anchor="t" anchorCtr="0">
            <a:normAutofit fontScale="92500" lnSpcReduction="10000"/>
          </a:bodyPr>
          <a:lstStyle/>
          <a:p>
            <a:pPr marL="0" marR="0" lvl="0" indent="0" algn="ctr" rtl="0">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a:ea typeface="Calibri"/>
              <a:cs typeface="Calibri"/>
              <a:sym typeface="Calibri"/>
            </a:endParaRPr>
          </a:p>
        </p:txBody>
      </p:sp>
      <p:sp>
        <p:nvSpPr>
          <p:cNvPr id="412" name="Google Shape;412;p16"/>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Minh chứng: Commit 6134c39 &amp; 9b75c10 · Ticket N3-20, N3-22, N3-53</a:t>
            </a:r>
            <a:endParaRPr sz="1200" b="0" i="0" u="none" strike="noStrike" cap="none">
              <a:solidFill>
                <a:schemeClr val="dk1"/>
              </a:solidFill>
              <a:latin typeface="Calibri"/>
              <a:ea typeface="Calibri"/>
              <a:cs typeface="Calibri"/>
              <a:sym typeface="Calibri"/>
            </a:endParaRPr>
          </a:p>
        </p:txBody>
      </p:sp>
      <p:sp>
        <p:nvSpPr>
          <p:cNvPr id="413" name="Google Shape;413;p16"/>
          <p:cNvSpPr/>
          <p:nvPr/>
        </p:nvSpPr>
        <p:spPr>
          <a:xfrm>
            <a:off x="9305627" y="6238280"/>
            <a:ext cx="213578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B — Đóng góp cá nhân</a:t>
            </a:r>
            <a:endParaRPr sz="1200" b="0" i="0" u="none" strike="noStrike" cap="none">
              <a:solidFill>
                <a:schemeClr val="dk1"/>
              </a:solidFill>
              <a:latin typeface="Calibri"/>
              <a:ea typeface="Calibri"/>
              <a:cs typeface="Calibri"/>
              <a:sym typeface="Calibri"/>
            </a:endParaRPr>
          </a:p>
        </p:txBody>
      </p:sp>
      <p:pic>
        <p:nvPicPr>
          <p:cNvPr id="414" name="Google Shape;414;p16" descr="Logo Trường Đại học Công nghệ Thông tin và Truyền thông (ICTU)"/>
          <p:cNvPicPr preferRelativeResize="0"/>
          <p:nvPr/>
        </p:nvPicPr>
        <p:blipFill rotWithShape="1">
          <a:blip r:embed="rId4">
            <a:alphaModFix/>
          </a:blip>
          <a:srcRect/>
          <a:stretch/>
        </p:blipFill>
        <p:spPr>
          <a:xfrm>
            <a:off x="4778375" y="203200"/>
            <a:ext cx="406400" cy="406400"/>
          </a:xfrm>
          <a:prstGeom prst="rect">
            <a:avLst/>
          </a:prstGeom>
          <a:noFill/>
          <a:ln>
            <a:noFill/>
          </a:ln>
        </p:spPr>
      </p:pic>
      <p:pic>
        <p:nvPicPr>
          <p:cNvPr id="415" name="Google Shape;415;p16" descr="Logo CodeGym"/>
          <p:cNvPicPr preferRelativeResize="0"/>
          <p:nvPr/>
        </p:nvPicPr>
        <p:blipFill rotWithShape="1">
          <a:blip r:embed="rId5">
            <a:alphaModFix/>
          </a:blip>
          <a:srcRect t="-50" b="-50"/>
          <a:stretch/>
        </p:blipFill>
        <p:spPr>
          <a:xfrm>
            <a:off x="5438775" y="203200"/>
            <a:ext cx="1974850" cy="406400"/>
          </a:xfrm>
          <a:prstGeom prst="rect">
            <a:avLst/>
          </a:prstGeom>
          <a:noFill/>
          <a:ln>
            <a:noFill/>
          </a:ln>
        </p:spPr>
      </p:pic>
      <p:pic>
        <p:nvPicPr>
          <p:cNvPr id="416" name="Picture 415" descr="s16_before.png"/>
          <p:cNvPicPr>
            <a:picLocks noChangeAspect="1"/>
          </p:cNvPicPr>
          <p:nvPr/>
        </p:nvPicPr>
        <p:blipFill>
          <a:blip r:embed="rId6"/>
          <a:stretch>
            <a:fillRect/>
          </a:stretch>
        </p:blipFill>
        <p:spPr>
          <a:xfrm>
            <a:off x="859536" y="3867912"/>
            <a:ext cx="5120640" cy="1974331"/>
          </a:xfrm>
          <a:prstGeom prst="rect">
            <a:avLst/>
          </a:prstGeom>
        </p:spPr>
      </p:pic>
      <p:pic>
        <p:nvPicPr>
          <p:cNvPr id="417" name="Picture 416" descr="s16_after.png"/>
          <p:cNvPicPr>
            <a:picLocks noChangeAspect="1"/>
          </p:cNvPicPr>
          <p:nvPr/>
        </p:nvPicPr>
        <p:blipFill>
          <a:blip r:embed="rId7"/>
          <a:stretch>
            <a:fillRect/>
          </a:stretch>
        </p:blipFill>
        <p:spPr>
          <a:xfrm>
            <a:off x="6217920" y="3867912"/>
            <a:ext cx="5120640" cy="19743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420"/>
        <p:cNvGrpSpPr/>
        <p:nvPr/>
      </p:nvGrpSpPr>
      <p:grpSpPr>
        <a:xfrm>
          <a:off x="0" y="0"/>
          <a:ext cx="0" cy="0"/>
          <a:chOff x="0" y="0"/>
          <a:chExt cx="0" cy="0"/>
        </a:xfrm>
      </p:grpSpPr>
      <p:sp>
        <p:nvSpPr>
          <p:cNvPr id="421" name="Google Shape;421;p17"/>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B · 03 — NĂNG LỰC TĂNG LÊN · VŨ HIẾU KIÊN</a:t>
            </a:r>
            <a:endParaRPr sz="1200" b="0" i="0" u="none" strike="noStrike" cap="none">
              <a:solidFill>
                <a:schemeClr val="dk1"/>
              </a:solidFill>
              <a:latin typeface="Calibri"/>
              <a:ea typeface="Calibri"/>
              <a:cs typeface="Calibri"/>
              <a:sym typeface="Calibri"/>
            </a:endParaRPr>
          </a:p>
        </p:txBody>
      </p:sp>
      <p:sp>
        <p:nvSpPr>
          <p:cNvPr id="422" name="Google Shape;422;p17"/>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Năng lực trước và sau kỳ thực tập</a:t>
            </a:r>
            <a:endParaRPr sz="3200" b="0" i="0" u="none" strike="noStrike" cap="none">
              <a:solidFill>
                <a:schemeClr val="dk1"/>
              </a:solidFill>
              <a:latin typeface="Calibri"/>
              <a:ea typeface="Calibri"/>
              <a:cs typeface="Calibri"/>
              <a:sym typeface="Calibri"/>
            </a:endParaRPr>
          </a:p>
        </p:txBody>
      </p:sp>
      <p:sp>
        <p:nvSpPr>
          <p:cNvPr id="423" name="Google Shape;423;p17"/>
          <p:cNvSpPr/>
          <p:nvPr/>
        </p:nvSpPr>
        <p:spPr>
          <a:xfrm>
            <a:off x="809625" y="1606282"/>
            <a:ext cx="10566400" cy="2191197"/>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4" name="Google Shape;424;p17"/>
          <p:cNvCxnSpPr/>
          <p:nvPr/>
        </p:nvCxnSpPr>
        <p:spPr>
          <a:xfrm>
            <a:off x="11356975" y="1748234"/>
            <a:ext cx="0" cy="2015133"/>
          </a:xfrm>
          <a:prstGeom prst="straightConnector1">
            <a:avLst/>
          </a:prstGeom>
          <a:noFill/>
          <a:ln w="9525" cap="flat" cmpd="sng">
            <a:solidFill>
              <a:srgbClr val="DDE1DC"/>
            </a:solidFill>
            <a:prstDash val="solid"/>
            <a:round/>
            <a:headEnd type="none" w="sm" len="sm"/>
            <a:tailEnd type="none" w="sm" len="sm"/>
          </a:ln>
        </p:spPr>
      </p:cxnSp>
      <p:graphicFrame>
        <p:nvGraphicFramePr>
          <p:cNvPr id="426" name="Google Shape;426;p17"/>
          <p:cNvGraphicFramePr/>
          <p:nvPr>
            <p:extLst>
              <p:ext uri="{D42A27DB-BD31-4B8C-83A1-F6EECF244321}">
                <p14:modId xmlns:p14="http://schemas.microsoft.com/office/powerpoint/2010/main" val="4230726667"/>
              </p:ext>
            </p:extLst>
          </p:nvPr>
        </p:nvGraphicFramePr>
        <p:xfrm>
          <a:off x="809625" y="1628030"/>
          <a:ext cx="10547350" cy="2202837"/>
        </p:xfrm>
        <a:graphic>
          <a:graphicData uri="http://schemas.openxmlformats.org/drawingml/2006/table">
            <a:tbl>
              <a:tblPr>
                <a:noFill/>
                <a:tableStyleId>{F3BF7263-007E-43C9-8404-5F7C5483B795}</a:tableStyleId>
              </a:tblPr>
              <a:tblGrid>
                <a:gridCol w="4008000">
                  <a:extLst>
                    <a:ext uri="{9D8B030D-6E8A-4147-A177-3AD203B41FA5}">
                      <a16:colId xmlns:a16="http://schemas.microsoft.com/office/drawing/2014/main" val="20000"/>
                    </a:ext>
                  </a:extLst>
                </a:gridCol>
                <a:gridCol w="1476625">
                  <a:extLst>
                    <a:ext uri="{9D8B030D-6E8A-4147-A177-3AD203B41FA5}">
                      <a16:colId xmlns:a16="http://schemas.microsoft.com/office/drawing/2014/main" val="20001"/>
                    </a:ext>
                  </a:extLst>
                </a:gridCol>
                <a:gridCol w="1476625">
                  <a:extLst>
                    <a:ext uri="{9D8B030D-6E8A-4147-A177-3AD203B41FA5}">
                      <a16:colId xmlns:a16="http://schemas.microsoft.com/office/drawing/2014/main" val="20002"/>
                    </a:ext>
                  </a:extLst>
                </a:gridCol>
                <a:gridCol w="3586100">
                  <a:extLst>
                    <a:ext uri="{9D8B030D-6E8A-4147-A177-3AD203B41FA5}">
                      <a16:colId xmlns:a16="http://schemas.microsoft.com/office/drawing/2014/main" val="20003"/>
                    </a:ext>
                  </a:extLst>
                </a:gridCol>
              </a:tblGrid>
              <a:tr h="332605">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dirty="0" err="1">
                          <a:solidFill>
                            <a:srgbClr val="F6F7F4"/>
                          </a:solidFill>
                          <a:latin typeface="Be Vietnam Pro"/>
                          <a:ea typeface="Be Vietnam Pro"/>
                          <a:cs typeface="Be Vietnam Pro"/>
                          <a:sym typeface="Be Vietnam Pro"/>
                        </a:rPr>
                        <a:t>Năng</a:t>
                      </a:r>
                      <a:r>
                        <a:rPr lang="en-US" sz="1200" b="1" u="none" strike="noStrike" cap="none" dirty="0">
                          <a:solidFill>
                            <a:srgbClr val="F6F7F4"/>
                          </a:solidFill>
                          <a:latin typeface="Be Vietnam Pro"/>
                          <a:ea typeface="Be Vietnam Pro"/>
                          <a:cs typeface="Be Vietnam Pro"/>
                          <a:sym typeface="Be Vietnam Pro"/>
                        </a:rPr>
                        <a:t> </a:t>
                      </a:r>
                      <a:r>
                        <a:rPr lang="en-US" sz="1200" b="1" u="none" strike="noStrike" cap="none" dirty="0" err="1">
                          <a:solidFill>
                            <a:srgbClr val="F6F7F4"/>
                          </a:solidFill>
                          <a:latin typeface="Be Vietnam Pro"/>
                          <a:ea typeface="Be Vietnam Pro"/>
                          <a:cs typeface="Be Vietnam Pro"/>
                          <a:sym typeface="Be Vietnam Pro"/>
                        </a:rPr>
                        <a:t>lực</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a:solidFill>
                            <a:srgbClr val="F6F7F4"/>
                          </a:solidFill>
                          <a:latin typeface="Be Vietnam Pro"/>
                          <a:ea typeface="Be Vietnam Pro"/>
                          <a:cs typeface="Be Vietnam Pro"/>
                          <a:sym typeface="Be Vietnam Pro"/>
                        </a:rPr>
                        <a:t>Trước (1–5)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dirty="0">
                          <a:solidFill>
                            <a:srgbClr val="F6F7F4"/>
                          </a:solidFill>
                          <a:latin typeface="Be Vietnam Pro"/>
                          <a:ea typeface="Be Vietnam Pro"/>
                          <a:cs typeface="Be Vietnam Pro"/>
                          <a:sym typeface="Be Vietnam Pro"/>
                        </a:rPr>
                        <a:t>Sau (1–5)</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tc>
                  <a:txBody>
                    <a:bodyPr/>
                    <a:lstStyle/>
                    <a:p>
                      <a:pPr marL="0" marR="0" lvl="0" indent="0" algn="l" rtl="0">
                        <a:lnSpc>
                          <a:spcPct val="140000"/>
                        </a:lnSpc>
                        <a:spcBef>
                          <a:spcPts val="0"/>
                        </a:spcBef>
                        <a:spcAft>
                          <a:spcPts val="0"/>
                        </a:spcAft>
                        <a:buClr>
                          <a:srgbClr val="F6F7F4"/>
                        </a:buClr>
                        <a:buSzPts val="1200"/>
                        <a:buFont typeface="Be Vietnam Pro"/>
                        <a:buNone/>
                      </a:pPr>
                      <a:r>
                        <a:rPr lang="en-US" sz="1200" b="1" u="none" strike="noStrike" cap="none">
                          <a:solidFill>
                            <a:srgbClr val="F6F7F4"/>
                          </a:solidFill>
                          <a:latin typeface="Be Vietnam Pro"/>
                          <a:ea typeface="Be Vietnam Pro"/>
                          <a:cs typeface="Be Vietnam Pro"/>
                          <a:sym typeface="Be Vietnam Pro"/>
                        </a:rPr>
                        <a:t>Minh chứng</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122231"/>
                      </a:solidFill>
                      <a:prstDash val="solid"/>
                      <a:round/>
                      <a:headEnd type="none" w="sm" len="sm"/>
                      <a:tailEnd type="none" w="sm" len="sm"/>
                    </a:lnL>
                    <a:lnR w="12700" cap="flat" cmpd="sng">
                      <a:solidFill>
                        <a:srgbClr val="122231"/>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122231"/>
                      </a:solidFill>
                      <a:prstDash val="solid"/>
                      <a:round/>
                      <a:headEnd type="none" w="sm" len="sm"/>
                      <a:tailEnd type="none" w="sm" len="sm"/>
                    </a:lnB>
                    <a:solidFill>
                      <a:srgbClr val="12263A"/>
                    </a:solidFill>
                  </a:tcPr>
                </a:tc>
                <a:extLst>
                  <a:ext uri="{0D108BD9-81ED-4DB2-BD59-A6C34878D82A}">
                    <a16:rowId xmlns:a16="http://schemas.microsoft.com/office/drawing/2014/main" val="10000"/>
                  </a:ext>
                </a:extLst>
              </a:tr>
              <a:tr h="328322">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Chuyên môn: FastAPI, SQLAlchemy 2.0 &amp; React 19</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Xây dựng 69 API endpoints &amp; giao diện 6 vai trò</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122231"/>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1"/>
                  </a:ext>
                </a:extLst>
              </a:tr>
              <a:tr h="328322">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Bảo mật CSDL: PostgreSQL RLS &amp; Chuỗi băm SHA-256</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45 bản Alembic migration, chuẩn RFC 8785 JCS</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2"/>
                  </a:ext>
                </a:extLst>
              </a:tr>
              <a:tr h="545304">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Công </a:t>
                      </a:r>
                      <a:r>
                        <a:rPr lang="en-US" sz="1100" u="none" strike="noStrike" cap="none" dirty="0" err="1">
                          <a:solidFill>
                            <a:srgbClr val="12263A"/>
                          </a:solidFill>
                          <a:latin typeface="Be Vietnam Pro"/>
                          <a:ea typeface="Be Vietnam Pro"/>
                          <a:cs typeface="Be Vietnam Pro"/>
                          <a:sym typeface="Be Vietnam Pro"/>
                        </a:rPr>
                        <a:t>cụ</a:t>
                      </a:r>
                      <a:r>
                        <a:rPr lang="en-US" sz="1100" u="none" strike="noStrike" cap="none" dirty="0">
                          <a:solidFill>
                            <a:srgbClr val="12263A"/>
                          </a:solidFill>
                          <a:latin typeface="Be Vietnam Pro"/>
                          <a:ea typeface="Be Vietnam Pro"/>
                          <a:cs typeface="Be Vietnam Pro"/>
                          <a:sym typeface="Be Vietnam Pro"/>
                        </a:rPr>
                        <a:t>: Git Flow, Jira Scrum &amp; CI/CD Docker</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Điều phối 8 Sprint (160 issues, 170 SP), tự động CI/CD</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3"/>
                  </a:ext>
                </a:extLst>
              </a:tr>
              <a:tr h="328322">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Làm việc nhóm, phân rã bài toán &amp; Code Review</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3</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5</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Trưởng nhóm / Scrum Master, review 38 PR</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4"/>
                  </a:ext>
                </a:extLst>
              </a:tr>
              <a:tr h="328322">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Kiểm thử tự động (Pytest, Playwright E2E)</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a:solidFill>
                            <a:srgbClr val="12263A"/>
                          </a:solidFill>
                          <a:latin typeface="Be Vietnam Pro"/>
                          <a:ea typeface="Be Vietnam Pro"/>
                          <a:cs typeface="Be Vietnam Pro"/>
                          <a:sym typeface="Be Vietnam Pro"/>
                        </a:rPr>
                        <a:t>2</a:t>
                      </a:r>
                      <a:endParaRPr sz="1200" u="none" strike="noStrike" cap="none">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4</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tc>
                  <a:txBody>
                    <a:bodyPr/>
                    <a:lstStyle/>
                    <a:p>
                      <a:pPr marL="0" marR="0" lvl="0" indent="0" algn="l" rtl="0">
                        <a:lnSpc>
                          <a:spcPct val="140000"/>
                        </a:lnSpc>
                        <a:spcBef>
                          <a:spcPts val="0"/>
                        </a:spcBef>
                        <a:spcAft>
                          <a:spcPts val="0"/>
                        </a:spcAft>
                        <a:buClr>
                          <a:srgbClr val="12263A"/>
                        </a:buClr>
                        <a:buSzPts val="1200"/>
                        <a:buFont typeface="Be Vietnam Pro"/>
                        <a:buNone/>
                      </a:pPr>
                      <a:r>
                        <a:rPr lang="en-US" sz="1100" u="none" strike="noStrike" cap="none" dirty="0">
                          <a:solidFill>
                            <a:srgbClr val="12263A"/>
                          </a:solidFill>
                          <a:latin typeface="Be Vietnam Pro"/>
                          <a:ea typeface="Be Vietnam Pro"/>
                          <a:cs typeface="Be Vietnam Pro"/>
                          <a:sym typeface="Be Vietnam Pro"/>
                        </a:rPr>
                        <a:t>73 </a:t>
                      </a:r>
                      <a:r>
                        <a:rPr lang="en-US" sz="1100" u="none" strike="noStrike" cap="none" dirty="0" err="1">
                          <a:solidFill>
                            <a:srgbClr val="12263A"/>
                          </a:solidFill>
                          <a:latin typeface="Be Vietnam Pro"/>
                          <a:ea typeface="Be Vietnam Pro"/>
                          <a:cs typeface="Be Vietnam Pro"/>
                          <a:sym typeface="Be Vietnam Pro"/>
                        </a:rPr>
                        <a:t>bài</a:t>
                      </a:r>
                      <a:r>
                        <a:rPr lang="en-US" sz="1100" u="none" strike="noStrike" cap="none" dirty="0">
                          <a:solidFill>
                            <a:srgbClr val="12263A"/>
                          </a:solidFill>
                          <a:latin typeface="Be Vietnam Pro"/>
                          <a:ea typeface="Be Vietnam Pro"/>
                          <a:cs typeface="Be Vietnam Pro"/>
                          <a:sym typeface="Be Vietnam Pro"/>
                        </a:rPr>
                        <a:t> test FE, </a:t>
                      </a:r>
                      <a:r>
                        <a:rPr lang="en-US" sz="1100" u="none" strike="noStrike" cap="none" dirty="0" err="1">
                          <a:solidFill>
                            <a:srgbClr val="12263A"/>
                          </a:solidFill>
                          <a:latin typeface="Be Vietnam Pro"/>
                          <a:ea typeface="Be Vietnam Pro"/>
                          <a:cs typeface="Be Vietnam Pro"/>
                          <a:sym typeface="Be Vietnam Pro"/>
                        </a:rPr>
                        <a:t>bộ</a:t>
                      </a:r>
                      <a:r>
                        <a:rPr lang="en-US" sz="1100" u="none" strike="noStrike" cap="none" dirty="0">
                          <a:solidFill>
                            <a:srgbClr val="12263A"/>
                          </a:solidFill>
                          <a:latin typeface="Be Vietnam Pro"/>
                          <a:ea typeface="Be Vietnam Pro"/>
                          <a:cs typeface="Be Vietnam Pro"/>
                          <a:sym typeface="Be Vietnam Pro"/>
                        </a:rPr>
                        <a:t> test </a:t>
                      </a:r>
                      <a:r>
                        <a:rPr lang="en-US" sz="1100" u="none" strike="noStrike" cap="none" dirty="0" err="1">
                          <a:solidFill>
                            <a:srgbClr val="12263A"/>
                          </a:solidFill>
                          <a:latin typeface="Be Vietnam Pro"/>
                          <a:ea typeface="Be Vietnam Pro"/>
                          <a:cs typeface="Be Vietnam Pro"/>
                          <a:sym typeface="Be Vietnam Pro"/>
                        </a:rPr>
                        <a:t>tích</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hợp</a:t>
                      </a:r>
                      <a:r>
                        <a:rPr lang="en-US" sz="1100" u="none" strike="noStrike" cap="none" dirty="0">
                          <a:solidFill>
                            <a:srgbClr val="12263A"/>
                          </a:solidFill>
                          <a:latin typeface="Be Vietnam Pro"/>
                          <a:ea typeface="Be Vietnam Pro"/>
                          <a:cs typeface="Be Vietnam Pro"/>
                          <a:sym typeface="Be Vietnam Pro"/>
                        </a:rPr>
                        <a:t> &amp; </a:t>
                      </a:r>
                      <a:r>
                        <a:rPr lang="en-US" sz="1100" u="none" strike="noStrike" cap="none" dirty="0" err="1">
                          <a:solidFill>
                            <a:srgbClr val="12263A"/>
                          </a:solidFill>
                          <a:latin typeface="Be Vietnam Pro"/>
                          <a:ea typeface="Be Vietnam Pro"/>
                          <a:cs typeface="Be Vietnam Pro"/>
                          <a:sym typeface="Be Vietnam Pro"/>
                        </a:rPr>
                        <a:t>hiệu</a:t>
                      </a:r>
                      <a:r>
                        <a:rPr lang="en-US" sz="1100" u="none" strike="noStrike" cap="none" dirty="0">
                          <a:solidFill>
                            <a:srgbClr val="12263A"/>
                          </a:solidFill>
                          <a:latin typeface="Be Vietnam Pro"/>
                          <a:ea typeface="Be Vietnam Pro"/>
                          <a:cs typeface="Be Vietnam Pro"/>
                          <a:sym typeface="Be Vietnam Pro"/>
                        </a:rPr>
                        <a:t> </a:t>
                      </a:r>
                      <a:r>
                        <a:rPr lang="en-US" sz="1100" u="none" strike="noStrike" cap="none" dirty="0" err="1">
                          <a:solidFill>
                            <a:srgbClr val="12263A"/>
                          </a:solidFill>
                          <a:latin typeface="Be Vietnam Pro"/>
                          <a:ea typeface="Be Vietnam Pro"/>
                          <a:cs typeface="Be Vietnam Pro"/>
                          <a:sym typeface="Be Vietnam Pro"/>
                        </a:rPr>
                        <a:t>năng</a:t>
                      </a:r>
                      <a:r>
                        <a:rPr lang="en-US" sz="1100" u="none" strike="noStrike" cap="none" dirty="0">
                          <a:solidFill>
                            <a:srgbClr val="12263A"/>
                          </a:solidFill>
                          <a:latin typeface="Be Vietnam Pro"/>
                          <a:ea typeface="Be Vietnam Pro"/>
                          <a:cs typeface="Be Vietnam Pro"/>
                          <a:sym typeface="Be Vietnam Pro"/>
                        </a:rPr>
                        <a:t> BE</a:t>
                      </a:r>
                      <a:endParaRPr sz="1200" u="none" strike="noStrike" cap="none" dirty="0">
                        <a:latin typeface="Be Vietnam Pro"/>
                        <a:ea typeface="Be Vietnam Pro"/>
                        <a:cs typeface="Be Vietnam Pro"/>
                        <a:sym typeface="Be Vietnam Pro"/>
                      </a:endParaRPr>
                    </a:p>
                  </a:txBody>
                  <a:tcPr marL="53350" marR="53350" marT="53350" marB="53350">
                    <a:lnL w="12700" cap="flat" cmpd="sng">
                      <a:solidFill>
                        <a:srgbClr val="CACAC8"/>
                      </a:solidFill>
                      <a:prstDash val="solid"/>
                      <a:round/>
                      <a:headEnd type="none" w="sm" len="sm"/>
                      <a:tailEnd type="none" w="sm" len="sm"/>
                    </a:lnL>
                    <a:lnR w="12700" cap="flat" cmpd="sng">
                      <a:solidFill>
                        <a:srgbClr val="CACAC8"/>
                      </a:solidFill>
                      <a:prstDash val="solid"/>
                      <a:round/>
                      <a:headEnd type="none" w="sm" len="sm"/>
                      <a:tailEnd type="none" w="sm" len="sm"/>
                    </a:lnR>
                    <a:lnT w="12700" cap="flat" cmpd="sng">
                      <a:solidFill>
                        <a:srgbClr val="CACAC8"/>
                      </a:solidFill>
                      <a:prstDash val="solid"/>
                      <a:round/>
                      <a:headEnd type="none" w="sm" len="sm"/>
                      <a:tailEnd type="none" w="sm" len="sm"/>
                    </a:lnT>
                    <a:lnB w="12700" cap="flat" cmpd="sng">
                      <a:solidFill>
                        <a:srgbClr val="CACAC8"/>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27" name="Google Shape;427;p17"/>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7"/>
          <p:cNvSpPr/>
          <p:nvPr/>
        </p:nvSpPr>
        <p:spPr>
          <a:xfrm>
            <a:off x="1022350" y="4256633"/>
            <a:ext cx="493153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Nhận xét từ mentor / code review</a:t>
            </a:r>
            <a:endParaRPr sz="1800" b="0" i="0" u="none" strike="noStrike" cap="none">
              <a:solidFill>
                <a:schemeClr val="dk1"/>
              </a:solidFill>
              <a:latin typeface="Calibri"/>
              <a:ea typeface="Calibri"/>
              <a:cs typeface="Calibri"/>
              <a:sym typeface="Calibri"/>
            </a:endParaRPr>
          </a:p>
        </p:txBody>
      </p:sp>
      <p:sp>
        <p:nvSpPr>
          <p:cNvPr id="429" name="Google Shape;429;p17"/>
          <p:cNvSpPr/>
          <p:nvPr/>
        </p:nvSpPr>
        <p:spPr>
          <a:xfrm>
            <a:off x="1022350" y="4607123"/>
            <a:ext cx="4931537" cy="274290"/>
          </a:xfrm>
          <a:prstGeom prst="rect">
            <a:avLst/>
          </a:prstGeom>
          <a:noFill/>
          <a:ln>
            <a:noFill/>
          </a:ln>
        </p:spPr>
        <p:txBody>
          <a:bodyPr spcFirstLastPara="1" wrap="square" lIns="0" tIns="0" rIns="0" bIns="0" anchor="t" anchorCtr="0">
            <a:normAutofit fontScale="475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400" b="0" i="0" u="none" strike="noStrike" cap="none">
                <a:solidFill>
                  <a:srgbClr val="3F4A57"/>
                </a:solidFill>
                <a:latin typeface="Be Vietnam Pro"/>
                <a:ea typeface="Be Vietnam Pro"/>
                <a:cs typeface="Be Vietnam Pro"/>
                <a:sym typeface="Be Vietnam Pro"/>
              </a:rPr>
              <a:t>“Nhóm vận hành tốt quy trình Scrum, kiến trúc bảo mật RLS và chuỗi băm được kiểm chứng bài bản.” — Mentor Lê Đình Tuấn</a:t>
            </a:r>
            <a:endParaRPr sz="1400" b="0" i="0" u="none" strike="noStrike" cap="none">
              <a:solidFill>
                <a:schemeClr val="dk1"/>
              </a:solidFill>
              <a:latin typeface="Calibri"/>
              <a:ea typeface="Calibri"/>
              <a:cs typeface="Calibri"/>
              <a:sym typeface="Calibri"/>
            </a:endParaRPr>
          </a:p>
        </p:txBody>
      </p:sp>
      <p:sp>
        <p:nvSpPr>
          <p:cNvPr id="430" name="Google Shape;430;p17"/>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7"/>
          <p:cNvSpPr/>
          <p:nvPr/>
        </p:nvSpPr>
        <p:spPr>
          <a:xfrm>
            <a:off x="6381750" y="4256633"/>
            <a:ext cx="493153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Tiếp tục cải thiện</a:t>
            </a:r>
            <a:endParaRPr sz="1800" b="0" i="0" u="none" strike="noStrike" cap="none">
              <a:solidFill>
                <a:schemeClr val="dk1"/>
              </a:solidFill>
              <a:latin typeface="Calibri"/>
              <a:ea typeface="Calibri"/>
              <a:cs typeface="Calibri"/>
              <a:sym typeface="Calibri"/>
            </a:endParaRPr>
          </a:p>
        </p:txBody>
      </p:sp>
      <p:sp>
        <p:nvSpPr>
          <p:cNvPr id="432" name="Google Shape;432;p17"/>
          <p:cNvSpPr/>
          <p:nvPr/>
        </p:nvSpPr>
        <p:spPr>
          <a:xfrm>
            <a:off x="6381750" y="4607123"/>
            <a:ext cx="4931537" cy="274290"/>
          </a:xfrm>
          <a:prstGeom prst="rect">
            <a:avLst/>
          </a:prstGeom>
          <a:noFill/>
          <a:ln>
            <a:noFill/>
          </a:ln>
        </p:spPr>
        <p:txBody>
          <a:bodyPr spcFirstLastPara="1" wrap="square" lIns="0" tIns="0" rIns="0" bIns="0" anchor="t" anchorCtr="0">
            <a:normAutofit fontScale="55000" lnSpcReduction="20000"/>
          </a:bodyPr>
          <a:lstStyle/>
          <a:p>
            <a:pPr marL="0" marR="0" lvl="0" indent="0" algn="l" rtl="0">
              <a:lnSpc>
                <a:spcPct val="140000"/>
              </a:lnSpc>
              <a:spcBef>
                <a:spcPts val="0"/>
              </a:spcBef>
              <a:spcAft>
                <a:spcPts val="0"/>
              </a:spcAft>
              <a:buClr>
                <a:srgbClr val="3F4A57"/>
              </a:buClr>
              <a:buSzPts val="1400"/>
              <a:buFont typeface="Be Vietnam Pro"/>
              <a:buNone/>
            </a:pPr>
            <a:r>
              <a:rPr lang="en-US" sz="1400" b="0" i="0" u="none" strike="noStrike" cap="none">
                <a:solidFill>
                  <a:srgbClr val="3F4A57"/>
                </a:solidFill>
                <a:latin typeface="Be Vietnam Pro"/>
                <a:ea typeface="Be Vietnam Pro"/>
                <a:cs typeface="Be Vietnam Pro"/>
                <a:sym typeface="Be Vietnam Pro"/>
              </a:rPr>
              <a:t>Mở rộng tích hợp cảm biến IoT thời gian thực qua MQTT và ứng dụng di động chuyên dụng.</a:t>
            </a:r>
            <a:endParaRPr sz="1400" b="0" i="0" u="none" strike="noStrike" cap="none">
              <a:solidFill>
                <a:schemeClr val="dk1"/>
              </a:solidFill>
              <a:latin typeface="Calibri"/>
              <a:ea typeface="Calibri"/>
              <a:cs typeface="Calibri"/>
              <a:sym typeface="Calibri"/>
            </a:endParaRPr>
          </a:p>
        </p:txBody>
      </p:sp>
      <p:sp>
        <p:nvSpPr>
          <p:cNvPr id="433" name="Google Shape;433;p17"/>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434" name="Google Shape;434;p17"/>
          <p:cNvSpPr/>
          <p:nvPr/>
        </p:nvSpPr>
        <p:spPr>
          <a:xfrm>
            <a:off x="9305627" y="6238280"/>
            <a:ext cx="213578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B — Đóng góp cá nhân</a:t>
            </a:r>
            <a:endParaRPr sz="1200" b="0" i="0" u="none" strike="noStrike" cap="none">
              <a:solidFill>
                <a:schemeClr val="dk1"/>
              </a:solidFill>
              <a:latin typeface="Calibri"/>
              <a:ea typeface="Calibri"/>
              <a:cs typeface="Calibri"/>
              <a:sym typeface="Calibri"/>
            </a:endParaRPr>
          </a:p>
        </p:txBody>
      </p:sp>
      <p:pic>
        <p:nvPicPr>
          <p:cNvPr id="435" name="Google Shape;435;p17"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436" name="Google Shape;436;p17"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Shape 441"/>
        <p:cNvGrpSpPr/>
        <p:nvPr/>
      </p:nvGrpSpPr>
      <p:grpSpPr>
        <a:xfrm>
          <a:off x="0" y="0"/>
          <a:ext cx="0" cy="0"/>
          <a:chOff x="0" y="0"/>
          <a:chExt cx="0" cy="0"/>
        </a:xfrm>
      </p:grpSpPr>
      <p:sp>
        <p:nvSpPr>
          <p:cNvPr id="442" name="Google Shape;442;p18"/>
          <p:cNvSpPr/>
          <p:nvPr/>
        </p:nvSpPr>
        <p:spPr>
          <a:xfrm>
            <a:off x="812800" y="238001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F28C28"/>
              </a:buClr>
              <a:buSzPts val="1400"/>
              <a:buFont typeface="Be Vietnam Pro"/>
              <a:buNone/>
            </a:pPr>
            <a:r>
              <a:rPr lang="en-US" sz="1400" b="1" i="0" u="none" strike="noStrike" cap="none">
                <a:solidFill>
                  <a:srgbClr val="F28C28"/>
                </a:solidFill>
                <a:latin typeface="Be Vietnam Pro"/>
                <a:ea typeface="Be Vietnam Pro"/>
                <a:cs typeface="Be Vietnam Pro"/>
                <a:sym typeface="Be Vietnam Pro"/>
              </a:rPr>
              <a:t>PHẦN C</a:t>
            </a:r>
            <a:endParaRPr sz="1400" b="0" i="0" u="none" strike="noStrike" cap="none">
              <a:solidFill>
                <a:schemeClr val="dk1"/>
              </a:solidFill>
              <a:latin typeface="Calibri"/>
              <a:ea typeface="Calibri"/>
              <a:cs typeface="Calibri"/>
              <a:sym typeface="Calibri"/>
            </a:endParaRPr>
          </a:p>
        </p:txBody>
      </p:sp>
      <p:sp>
        <p:nvSpPr>
          <p:cNvPr id="443" name="Google Shape;443;p18"/>
          <p:cNvSpPr/>
          <p:nvPr/>
        </p:nvSpPr>
        <p:spPr>
          <a:xfrm>
            <a:off x="812800" y="2832100"/>
            <a:ext cx="10883392" cy="6959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F6F7F4"/>
              </a:buClr>
              <a:buSzPts val="4800"/>
              <a:buFont typeface="Be Vietnam Pro"/>
              <a:buNone/>
            </a:pPr>
            <a:r>
              <a:rPr lang="en-US" sz="4800" b="1" i="0" u="none" strike="noStrike" cap="none">
                <a:solidFill>
                  <a:srgbClr val="F6F7F4"/>
                </a:solidFill>
                <a:latin typeface="Be Vietnam Pro"/>
                <a:ea typeface="Be Vietnam Pro"/>
                <a:cs typeface="Be Vietnam Pro"/>
                <a:sym typeface="Be Vietnam Pro"/>
              </a:rPr>
              <a:t>Tổng kết</a:t>
            </a:r>
            <a:endParaRPr sz="4800" b="0" i="0" u="none" strike="noStrike" cap="none">
              <a:solidFill>
                <a:schemeClr val="dk1"/>
              </a:solidFill>
              <a:latin typeface="Calibri"/>
              <a:ea typeface="Calibri"/>
              <a:cs typeface="Calibri"/>
              <a:sym typeface="Calibri"/>
            </a:endParaRPr>
          </a:p>
        </p:txBody>
      </p:sp>
      <p:sp>
        <p:nvSpPr>
          <p:cNvPr id="444" name="Google Shape;444;p18"/>
          <p:cNvSpPr/>
          <p:nvPr/>
        </p:nvSpPr>
        <p:spPr>
          <a:xfrm>
            <a:off x="812800" y="3705820"/>
            <a:ext cx="10883392" cy="345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800"/>
              <a:buFont typeface="Be Vietnam Pro"/>
              <a:buNone/>
            </a:pPr>
            <a:r>
              <a:rPr lang="en-US" sz="1800" b="0" i="0" u="none" strike="noStrike" cap="none">
                <a:solidFill>
                  <a:srgbClr val="BFD0DE"/>
                </a:solidFill>
                <a:latin typeface="Be Vietnam Pro"/>
                <a:ea typeface="Be Vietnam Pro"/>
                <a:cs typeface="Be Vietnam Pro"/>
                <a:sym typeface="Be Vietnam Pro"/>
              </a:rPr>
              <a:t>Giá trị đạt được · Bài học · Hướng phát triển · Demo</a:t>
            </a:r>
            <a:endParaRPr sz="1800" b="0" i="0" u="none" strike="noStrike" cap="none">
              <a:solidFill>
                <a:schemeClr val="dk1"/>
              </a:solidFill>
              <a:latin typeface="Calibri"/>
              <a:ea typeface="Calibri"/>
              <a:cs typeface="Calibri"/>
              <a:sym typeface="Calibri"/>
            </a:endParaRPr>
          </a:p>
        </p:txBody>
      </p:sp>
      <p:sp>
        <p:nvSpPr>
          <p:cNvPr id="445" name="Google Shape;445;p18"/>
          <p:cNvSpPr/>
          <p:nvPr/>
        </p:nvSpPr>
        <p:spPr>
          <a:xfrm>
            <a:off x="812800" y="422905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BFD0DE"/>
              </a:buClr>
              <a:buSzPts val="1400"/>
              <a:buFont typeface="Be Vietnam Pro"/>
              <a:buNone/>
            </a:pPr>
            <a:r>
              <a:rPr lang="en-US" sz="1400" b="0" i="0" u="none" strike="noStrike" cap="none">
                <a:solidFill>
                  <a:srgbClr val="BFD0DE"/>
                </a:solidFill>
                <a:latin typeface="Be Vietnam Pro"/>
                <a:ea typeface="Be Vietnam Pro"/>
                <a:cs typeface="Be Vietnam Pro"/>
                <a:sym typeface="Be Vietnam Pro"/>
              </a:rPr>
              <a:t>Người trình bày: Vũ Hiếu Kiên · Khoảng 7 phút</a:t>
            </a:r>
            <a:endParaRPr sz="1400" b="0" i="0" u="none" strike="noStrike" cap="none">
              <a:solidFill>
                <a:schemeClr val="dk1"/>
              </a:solidFill>
              <a:latin typeface="Calibri"/>
              <a:ea typeface="Calibri"/>
              <a:cs typeface="Calibri"/>
              <a:sym typeface="Calibri"/>
            </a:endParaRPr>
          </a:p>
        </p:txBody>
      </p:sp>
      <p:pic>
        <p:nvPicPr>
          <p:cNvPr id="446" name="Google Shape;446;p18"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447" name="Google Shape;447;p18"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452"/>
        <p:cNvGrpSpPr/>
        <p:nvPr/>
      </p:nvGrpSpPr>
      <p:grpSpPr>
        <a:xfrm>
          <a:off x="0" y="0"/>
          <a:ext cx="0" cy="0"/>
          <a:chOff x="0" y="0"/>
          <a:chExt cx="0" cy="0"/>
        </a:xfrm>
      </p:grpSpPr>
      <p:sp>
        <p:nvSpPr>
          <p:cNvPr id="453" name="Google Shape;453;p19"/>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C · 01 — GIÁ TRỊ</a:t>
            </a:r>
            <a:endParaRPr sz="1200" b="0" i="0" u="none" strike="noStrike" cap="none">
              <a:solidFill>
                <a:schemeClr val="dk1"/>
              </a:solidFill>
              <a:latin typeface="Calibri"/>
              <a:ea typeface="Calibri"/>
              <a:cs typeface="Calibri"/>
              <a:sym typeface="Calibri"/>
            </a:endParaRPr>
          </a:p>
        </p:txBody>
      </p:sp>
      <p:sp>
        <p:nvSpPr>
          <p:cNvPr id="454" name="Google Shape;454;p19"/>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Giá trị đạt được</a:t>
            </a:r>
            <a:endParaRPr sz="3200" b="0" i="0" u="none" strike="noStrike" cap="none">
              <a:solidFill>
                <a:schemeClr val="dk1"/>
              </a:solidFill>
              <a:latin typeface="Calibri"/>
              <a:ea typeface="Calibri"/>
              <a:cs typeface="Calibri"/>
              <a:sym typeface="Calibri"/>
            </a:endParaRPr>
          </a:p>
        </p:txBody>
      </p:sp>
      <p:sp>
        <p:nvSpPr>
          <p:cNvPr id="455" name="Google Shape;455;p19"/>
          <p:cNvSpPr/>
          <p:nvPr/>
        </p:nvSpPr>
        <p:spPr>
          <a:xfrm>
            <a:off x="815975" y="1806525"/>
            <a:ext cx="3414167"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6" name="Google Shape;456;p19" descr="Globe"/>
          <p:cNvPicPr preferRelativeResize="0"/>
          <p:nvPr/>
        </p:nvPicPr>
        <p:blipFill rotWithShape="1">
          <a:blip r:embed="rId3">
            <a:alphaModFix/>
          </a:blip>
          <a:srcRect/>
          <a:stretch/>
        </p:blipFill>
        <p:spPr>
          <a:xfrm>
            <a:off x="1022350" y="2012900"/>
            <a:ext cx="355600" cy="355600"/>
          </a:xfrm>
          <a:prstGeom prst="rect">
            <a:avLst/>
          </a:prstGeom>
          <a:noFill/>
          <a:ln>
            <a:noFill/>
          </a:ln>
        </p:spPr>
      </p:pic>
      <p:sp>
        <p:nvSpPr>
          <p:cNvPr id="457" name="Google Shape;457;p19"/>
          <p:cNvSpPr/>
          <p:nvPr/>
        </p:nvSpPr>
        <p:spPr>
          <a:xfrm>
            <a:off x="1022350" y="2444700"/>
            <a:ext cx="3091459" cy="57398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Cho doanh nghiệp</a:t>
            </a:r>
            <a:endParaRPr sz="1800" b="0" i="0" u="none" strike="noStrike" cap="none">
              <a:solidFill>
                <a:schemeClr val="dk1"/>
              </a:solidFill>
              <a:latin typeface="Calibri"/>
              <a:ea typeface="Calibri"/>
              <a:cs typeface="Calibri"/>
              <a:sym typeface="Calibri"/>
            </a:endParaRPr>
          </a:p>
        </p:txBody>
      </p:sp>
      <p:sp>
        <p:nvSpPr>
          <p:cNvPr id="458" name="Google Shape;458;p19"/>
          <p:cNvSpPr/>
          <p:nvPr/>
        </p:nvSpPr>
        <p:spPr>
          <a:xfrm>
            <a:off x="1022350" y="2798064"/>
            <a:ext cx="3091459" cy="1269851"/>
          </a:xfrm>
          <a:prstGeom prst="rect">
            <a:avLst/>
          </a:prstGeom>
          <a:noFill/>
          <a:ln>
            <a:noFill/>
          </a:ln>
        </p:spPr>
        <p:txBody>
          <a:bodyPr spcFirstLastPara="1" wrap="square" lIns="0" tIns="0" rIns="0" bIns="0" anchor="t" anchorCtr="0">
            <a:normAutofit fontScale="92500" lnSpcReduction="1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Hệ thống Web hoàn chỉnh, đã triển khai Cloud cho chuỗi cung ứng nông sản.</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Module Chuỗi băm RFC 8785, Phả hệ DAG, Chuỗi lạnh &amp; PDF tái sử dụng cao.</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Tài liệu kiến trúc, vận hành và diễn tập sao lưu/khôi phục đầy đủ.</a:t>
            </a:r>
            <a:endParaRPr sz="1400" b="0" i="0" u="none" strike="noStrike" cap="none">
              <a:solidFill>
                <a:schemeClr val="dk1"/>
              </a:solidFill>
              <a:latin typeface="Calibri"/>
              <a:ea typeface="Calibri"/>
              <a:cs typeface="Calibri"/>
              <a:sym typeface="Calibri"/>
            </a:endParaRPr>
          </a:p>
        </p:txBody>
      </p:sp>
      <p:sp>
        <p:nvSpPr>
          <p:cNvPr id="459" name="Google Shape;459;p19"/>
          <p:cNvSpPr/>
          <p:nvPr/>
        </p:nvSpPr>
        <p:spPr>
          <a:xfrm>
            <a:off x="4388892" y="1806525"/>
            <a:ext cx="3414216"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0" name="Google Shape;460;p19" descr="Users"/>
          <p:cNvPicPr preferRelativeResize="0"/>
          <p:nvPr/>
        </p:nvPicPr>
        <p:blipFill rotWithShape="1">
          <a:blip r:embed="rId4">
            <a:alphaModFix/>
          </a:blip>
          <a:srcRect/>
          <a:stretch/>
        </p:blipFill>
        <p:spPr>
          <a:xfrm>
            <a:off x="4595267" y="2012900"/>
            <a:ext cx="355600" cy="355600"/>
          </a:xfrm>
          <a:prstGeom prst="rect">
            <a:avLst/>
          </a:prstGeom>
          <a:noFill/>
          <a:ln>
            <a:noFill/>
          </a:ln>
        </p:spPr>
      </p:pic>
      <p:sp>
        <p:nvSpPr>
          <p:cNvPr id="461" name="Google Shape;461;p19"/>
          <p:cNvSpPr/>
          <p:nvPr/>
        </p:nvSpPr>
        <p:spPr>
          <a:xfrm>
            <a:off x="4595267" y="2444700"/>
            <a:ext cx="3091510"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Cho nhóm</a:t>
            </a:r>
            <a:endParaRPr sz="1800" b="0" i="0" u="none" strike="noStrike" cap="none">
              <a:solidFill>
                <a:schemeClr val="dk1"/>
              </a:solidFill>
              <a:latin typeface="Calibri"/>
              <a:ea typeface="Calibri"/>
              <a:cs typeface="Calibri"/>
              <a:sym typeface="Calibri"/>
            </a:endParaRPr>
          </a:p>
        </p:txBody>
      </p:sp>
      <p:sp>
        <p:nvSpPr>
          <p:cNvPr id="462" name="Google Shape;462;p19"/>
          <p:cNvSpPr/>
          <p:nvPr/>
        </p:nvSpPr>
        <p:spPr>
          <a:xfrm>
            <a:off x="4595267" y="2795191"/>
            <a:ext cx="3091510" cy="1269851"/>
          </a:xfrm>
          <a:prstGeom prst="rect">
            <a:avLst/>
          </a:prstGeom>
          <a:noFill/>
          <a:ln>
            <a:noFill/>
          </a:ln>
        </p:spPr>
        <p:txBody>
          <a:bodyPr spcFirstLastPara="1" wrap="square" lIns="0" tIns="0" rIns="0" bIns="0" anchor="t" anchorCtr="0">
            <a:normAutofit fontScale="92500" lnSpcReduction="1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Vận hành ổn định quy trình Scrum qua 8 Sprint, hoàn thành 100% (170/170 SP).</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Phối hợp nhịp nhàng 10 thành viên BE – FE – DevOps – QA, duy trì CI xanh.</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Xây dựng được sản phẩm có chiều sâu về bảo mật RLS và toàn vẹn dữ liệu.</a:t>
            </a:r>
            <a:endParaRPr sz="1400" b="0" i="0" u="none" strike="noStrike" cap="none">
              <a:solidFill>
                <a:schemeClr val="dk1"/>
              </a:solidFill>
              <a:latin typeface="Calibri"/>
              <a:ea typeface="Calibri"/>
              <a:cs typeface="Calibri"/>
              <a:sym typeface="Calibri"/>
            </a:endParaRPr>
          </a:p>
        </p:txBody>
      </p:sp>
      <p:sp>
        <p:nvSpPr>
          <p:cNvPr id="463" name="Google Shape;463;p19"/>
          <p:cNvSpPr/>
          <p:nvPr/>
        </p:nvSpPr>
        <p:spPr>
          <a:xfrm>
            <a:off x="7961858" y="1806525"/>
            <a:ext cx="3414167"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4" name="Google Shape;464;p19" descr="GraduationCap"/>
          <p:cNvPicPr preferRelativeResize="0"/>
          <p:nvPr/>
        </p:nvPicPr>
        <p:blipFill rotWithShape="1">
          <a:blip r:embed="rId5">
            <a:alphaModFix/>
          </a:blip>
          <a:srcRect/>
          <a:stretch/>
        </p:blipFill>
        <p:spPr>
          <a:xfrm>
            <a:off x="8168233" y="2012900"/>
            <a:ext cx="355600" cy="355600"/>
          </a:xfrm>
          <a:prstGeom prst="rect">
            <a:avLst/>
          </a:prstGeom>
          <a:noFill/>
          <a:ln>
            <a:noFill/>
          </a:ln>
        </p:spPr>
      </p:pic>
      <p:sp>
        <p:nvSpPr>
          <p:cNvPr id="465" name="Google Shape;465;p19"/>
          <p:cNvSpPr/>
          <p:nvPr/>
        </p:nvSpPr>
        <p:spPr>
          <a:xfrm>
            <a:off x="8168233" y="2444700"/>
            <a:ext cx="3091459"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Cho cá nhân</a:t>
            </a:r>
            <a:endParaRPr sz="1800" b="0" i="0" u="none" strike="noStrike" cap="none">
              <a:solidFill>
                <a:schemeClr val="dk1"/>
              </a:solidFill>
              <a:latin typeface="Calibri"/>
              <a:ea typeface="Calibri"/>
              <a:cs typeface="Calibri"/>
              <a:sym typeface="Calibri"/>
            </a:endParaRPr>
          </a:p>
        </p:txBody>
      </p:sp>
      <p:sp>
        <p:nvSpPr>
          <p:cNvPr id="466" name="Google Shape;466;p19"/>
          <p:cNvSpPr/>
          <p:nvPr/>
        </p:nvSpPr>
        <p:spPr>
          <a:xfrm>
            <a:off x="8168233" y="2795191"/>
            <a:ext cx="3091459" cy="1269851"/>
          </a:xfrm>
          <a:prstGeom prst="rect">
            <a:avLst/>
          </a:prstGeom>
          <a:noFill/>
          <a:ln>
            <a:noFill/>
          </a:ln>
        </p:spPr>
        <p:txBody>
          <a:bodyPr spcFirstLastPara="1" wrap="square" lIns="0" tIns="0" rIns="0" bIns="0" anchor="t" anchorCtr="0">
            <a:normAutofit fontScale="92500" lnSpcReduction="1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Nâng cao năng lực thiết kế hệ thống Multi-tenant RLS và tối ưu hiệu năng.</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Sở hữu sản phẩm thực tế hoàn chỉnh (link Staging &amp; mã nguồn sạch) cho CV.</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Sẵn sàng tham gia các dự án phát triển phần mềm tại doanh nghiệp.</a:t>
            </a:r>
            <a:endParaRPr sz="1400" b="0" i="0" u="none" strike="noStrike" cap="none">
              <a:solidFill>
                <a:schemeClr val="dk1"/>
              </a:solidFill>
              <a:latin typeface="Calibri"/>
              <a:ea typeface="Calibri"/>
              <a:cs typeface="Calibri"/>
              <a:sym typeface="Calibri"/>
            </a:endParaRPr>
          </a:p>
        </p:txBody>
      </p:sp>
      <p:sp>
        <p:nvSpPr>
          <p:cNvPr id="467" name="Google Shape;467;p19"/>
          <p:cNvSpPr/>
          <p:nvPr/>
        </p:nvSpPr>
        <p:spPr>
          <a:xfrm>
            <a:off x="812800" y="5288310"/>
            <a:ext cx="10566400" cy="553690"/>
          </a:xfrm>
          <a:prstGeom prst="roundRect">
            <a:avLst>
              <a:gd name="adj" fmla="val 18350"/>
            </a:avLst>
          </a:prstGeom>
          <a:solidFill>
            <a:srgbClr val="122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1016000" y="5440710"/>
            <a:ext cx="10464800"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F28C28"/>
              </a:buClr>
              <a:buSzPts val="1400"/>
              <a:buFont typeface="Be Vietnam Pro"/>
              <a:buNone/>
            </a:pPr>
            <a:r>
              <a:rPr lang="en-US" sz="1150" b="1" i="0" u="none" strike="noStrike" cap="none">
                <a:solidFill>
                  <a:srgbClr val="F28C28"/>
                </a:solidFill>
                <a:latin typeface="Be Vietnam Pro"/>
                <a:ea typeface="Be Vietnam Pro"/>
                <a:cs typeface="Be Vietnam Pro"/>
                <a:sym typeface="Be Vietnam Pro"/>
              </a:rPr>
              <a:t>Tổng kết một câu: Xây dựng thành công hệ thống truy xuất nguồn gốc chuỗi lạnh nông sản minh bạch, toàn vẹn mật mã và chạy thực tế.</a:t>
            </a:r>
            <a:endParaRPr sz="1400" b="0" i="0" u="none" strike="noStrike" cap="none">
              <a:solidFill>
                <a:schemeClr val="dk1"/>
              </a:solidFill>
              <a:latin typeface="Calibri"/>
              <a:ea typeface="Calibri"/>
              <a:cs typeface="Calibri"/>
              <a:sym typeface="Calibri"/>
            </a:endParaRPr>
          </a:p>
        </p:txBody>
      </p:sp>
      <p:sp>
        <p:nvSpPr>
          <p:cNvPr id="469" name="Google Shape;469;p19"/>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470" name="Google Shape;470;p19"/>
          <p:cNvSpPr/>
          <p:nvPr/>
        </p:nvSpPr>
        <p:spPr>
          <a:xfrm>
            <a:off x="9988352" y="6238280"/>
            <a:ext cx="1441648"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C — Tổng kết</a:t>
            </a:r>
            <a:endParaRPr sz="1200" b="0" i="0" u="none" strike="noStrike" cap="none">
              <a:solidFill>
                <a:schemeClr val="dk1"/>
              </a:solidFill>
              <a:latin typeface="Calibri"/>
              <a:ea typeface="Calibri"/>
              <a:cs typeface="Calibri"/>
              <a:sym typeface="Calibri"/>
            </a:endParaRPr>
          </a:p>
        </p:txBody>
      </p:sp>
      <p:pic>
        <p:nvPicPr>
          <p:cNvPr id="471" name="Google Shape;471;p19" descr="Logo Trường Đại học Công nghệ Thông tin và Truyền thông (ICTU)"/>
          <p:cNvPicPr preferRelativeResize="0"/>
          <p:nvPr/>
        </p:nvPicPr>
        <p:blipFill rotWithShape="1">
          <a:blip r:embed="rId6">
            <a:alphaModFix/>
          </a:blip>
          <a:srcRect/>
          <a:stretch/>
        </p:blipFill>
        <p:spPr>
          <a:xfrm>
            <a:off x="4778375" y="203200"/>
            <a:ext cx="406400" cy="406400"/>
          </a:xfrm>
          <a:prstGeom prst="rect">
            <a:avLst/>
          </a:prstGeom>
          <a:noFill/>
          <a:ln>
            <a:noFill/>
          </a:ln>
        </p:spPr>
      </p:pic>
      <p:pic>
        <p:nvPicPr>
          <p:cNvPr id="472" name="Google Shape;472;p19" descr="Logo CodeGym"/>
          <p:cNvPicPr preferRelativeResize="0"/>
          <p:nvPr/>
        </p:nvPicPr>
        <p:blipFill rotWithShape="1">
          <a:blip r:embed="rId7">
            <a:alphaModFix/>
          </a:blip>
          <a:srcRect t="-50" b="-50"/>
          <a:stretch/>
        </p:blipFill>
        <p:spPr>
          <a:xfrm>
            <a:off x="5438775" y="203200"/>
            <a:ext cx="1974850" cy="406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477"/>
        <p:cNvGrpSpPr/>
        <p:nvPr/>
      </p:nvGrpSpPr>
      <p:grpSpPr>
        <a:xfrm>
          <a:off x="0" y="0"/>
          <a:ext cx="0" cy="0"/>
          <a:chOff x="0" y="0"/>
          <a:chExt cx="0" cy="0"/>
        </a:xfrm>
      </p:grpSpPr>
      <p:sp>
        <p:nvSpPr>
          <p:cNvPr id="478" name="Google Shape;478;p20"/>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C · 02 — BÀI HỌC</a:t>
            </a:r>
            <a:endParaRPr sz="1200" b="0" i="0" u="none" strike="noStrike" cap="none">
              <a:solidFill>
                <a:schemeClr val="dk1"/>
              </a:solidFill>
              <a:latin typeface="Calibri"/>
              <a:ea typeface="Calibri"/>
              <a:cs typeface="Calibri"/>
              <a:sym typeface="Calibri"/>
            </a:endParaRPr>
          </a:p>
        </p:txBody>
      </p:sp>
      <p:sp>
        <p:nvSpPr>
          <p:cNvPr id="479" name="Google Shape;479;p20"/>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Bài học &amp; điểm cần cải thiện</a:t>
            </a:r>
            <a:endParaRPr sz="3200" b="0" i="0" u="none" strike="noStrike" cap="none">
              <a:solidFill>
                <a:schemeClr val="dk1"/>
              </a:solidFill>
              <a:latin typeface="Calibri"/>
              <a:ea typeface="Calibri"/>
              <a:cs typeface="Calibri"/>
              <a:sym typeface="Calibri"/>
            </a:endParaRPr>
          </a:p>
        </p:txBody>
      </p:sp>
      <p:sp>
        <p:nvSpPr>
          <p:cNvPr id="480" name="Google Shape;480;p20"/>
          <p:cNvSpPr/>
          <p:nvPr/>
        </p:nvSpPr>
        <p:spPr>
          <a:xfrm>
            <a:off x="815975" y="1806525"/>
            <a:ext cx="5200650" cy="2165152"/>
          </a:xfrm>
          <a:prstGeom prst="roundRect">
            <a:avLst>
              <a:gd name="adj" fmla="val 454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1022350" y="2012900"/>
            <a:ext cx="493153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Kỹ thuật</a:t>
            </a:r>
            <a:endParaRPr sz="1800" b="0" i="0" u="none" strike="noStrike" cap="none">
              <a:solidFill>
                <a:schemeClr val="dk1"/>
              </a:solidFill>
              <a:latin typeface="Calibri"/>
              <a:ea typeface="Calibri"/>
              <a:cs typeface="Calibri"/>
              <a:sym typeface="Calibri"/>
            </a:endParaRPr>
          </a:p>
        </p:txBody>
      </p:sp>
      <p:sp>
        <p:nvSpPr>
          <p:cNvPr id="482" name="Google Shape;482;p20"/>
          <p:cNvSpPr/>
          <p:nvPr/>
        </p:nvSpPr>
        <p:spPr>
          <a:xfrm>
            <a:off x="1022350" y="2363391"/>
            <a:ext cx="493153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BÀI HỌC</a:t>
            </a:r>
            <a:endParaRPr sz="1200" b="0" i="0" u="none" strike="noStrike" cap="none">
              <a:solidFill>
                <a:schemeClr val="dk1"/>
              </a:solidFill>
              <a:latin typeface="Calibri"/>
              <a:ea typeface="Calibri"/>
              <a:cs typeface="Calibri"/>
              <a:sym typeface="Calibri"/>
            </a:endParaRPr>
          </a:p>
        </p:txBody>
      </p:sp>
      <p:sp>
        <p:nvSpPr>
          <p:cNvPr id="483" name="Google Shape;483;p20"/>
          <p:cNvSpPr/>
          <p:nvPr/>
        </p:nvSpPr>
        <p:spPr>
          <a:xfrm>
            <a:off x="1022350" y="2652911"/>
            <a:ext cx="4931537" cy="523180"/>
          </a:xfrm>
          <a:prstGeom prst="rect">
            <a:avLst/>
          </a:prstGeom>
          <a:noFill/>
          <a:ln>
            <a:noFill/>
          </a:ln>
        </p:spPr>
        <p:txBody>
          <a:bodyPr spcFirstLastPara="1" wrap="square" lIns="0" tIns="0" rIns="0" bIns="0" anchor="t" anchorCtr="0">
            <a:normAutofit fontScale="925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Thiết kế RLS cần tính trước luồng sự kiện xuyên tổ chức sau bàn giao.</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Kiểm thử E2E trực tiếp trên môi trường Staging giúp bắt lỗi sát thực tế.</a:t>
            </a:r>
            <a:endParaRPr sz="1400" b="0" i="0" u="none" strike="noStrike" cap="none">
              <a:solidFill>
                <a:schemeClr val="dk1"/>
              </a:solidFill>
              <a:latin typeface="Calibri"/>
              <a:ea typeface="Calibri"/>
              <a:cs typeface="Calibri"/>
              <a:sym typeface="Calibri"/>
            </a:endParaRPr>
          </a:p>
        </p:txBody>
      </p:sp>
      <p:sp>
        <p:nvSpPr>
          <p:cNvPr id="484" name="Google Shape;484;p20"/>
          <p:cNvSpPr/>
          <p:nvPr/>
        </p:nvSpPr>
        <p:spPr>
          <a:xfrm>
            <a:off x="1022350" y="3246120"/>
            <a:ext cx="493153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NẾU LÀM LẠI, NHÓM SẼ</a:t>
            </a:r>
            <a:endParaRPr sz="1200" b="0" i="0" u="none" strike="noStrike" cap="none">
              <a:solidFill>
                <a:schemeClr val="dk1"/>
              </a:solidFill>
              <a:latin typeface="Calibri"/>
              <a:ea typeface="Calibri"/>
              <a:cs typeface="Calibri"/>
              <a:sym typeface="Calibri"/>
            </a:endParaRPr>
          </a:p>
        </p:txBody>
      </p:sp>
      <p:sp>
        <p:nvSpPr>
          <p:cNvPr id="485" name="Google Shape;485;p20"/>
          <p:cNvSpPr/>
          <p:nvPr/>
        </p:nvSpPr>
        <p:spPr>
          <a:xfrm>
            <a:off x="1022350" y="3520440"/>
            <a:ext cx="4931537" cy="274290"/>
          </a:xfrm>
          <a:prstGeom prst="rect">
            <a:avLst/>
          </a:prstGeom>
          <a:noFill/>
          <a:ln>
            <a:noFill/>
          </a:ln>
        </p:spPr>
        <p:txBody>
          <a:bodyPr spcFirstLastPara="1" wrap="square" lIns="0" tIns="0" rIns="0" bIns="0" anchor="t" anchorCtr="0">
            <a:normAutofit/>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Viết kiểm thử hợp đồng (Contract Test) và E2E đa vai trò từ Sprint 2.</a:t>
            </a:r>
            <a:endParaRPr sz="1400" b="0" i="0" u="none" strike="noStrike" cap="none">
              <a:solidFill>
                <a:schemeClr val="dk1"/>
              </a:solidFill>
              <a:latin typeface="Calibri"/>
              <a:ea typeface="Calibri"/>
              <a:cs typeface="Calibri"/>
              <a:sym typeface="Calibri"/>
            </a:endParaRPr>
          </a:p>
        </p:txBody>
      </p:sp>
      <p:sp>
        <p:nvSpPr>
          <p:cNvPr id="486" name="Google Shape;486;p20"/>
          <p:cNvSpPr/>
          <p:nvPr/>
        </p:nvSpPr>
        <p:spPr>
          <a:xfrm>
            <a:off x="6175375" y="1806525"/>
            <a:ext cx="5200650" cy="2165152"/>
          </a:xfrm>
          <a:prstGeom prst="roundRect">
            <a:avLst>
              <a:gd name="adj" fmla="val 454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6381750" y="2012900"/>
            <a:ext cx="4931537"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Làm việc nhóm</a:t>
            </a:r>
            <a:endParaRPr sz="1800" b="0" i="0" u="none" strike="noStrike" cap="none">
              <a:solidFill>
                <a:schemeClr val="dk1"/>
              </a:solidFill>
              <a:latin typeface="Calibri"/>
              <a:ea typeface="Calibri"/>
              <a:cs typeface="Calibri"/>
              <a:sym typeface="Calibri"/>
            </a:endParaRPr>
          </a:p>
        </p:txBody>
      </p:sp>
      <p:sp>
        <p:nvSpPr>
          <p:cNvPr id="488" name="Google Shape;488;p20"/>
          <p:cNvSpPr/>
          <p:nvPr/>
        </p:nvSpPr>
        <p:spPr>
          <a:xfrm>
            <a:off x="6381750" y="2363391"/>
            <a:ext cx="493153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BÀI HỌC</a:t>
            </a:r>
            <a:endParaRPr sz="1200" b="0" i="0" u="none" strike="noStrike" cap="none">
              <a:solidFill>
                <a:schemeClr val="dk1"/>
              </a:solidFill>
              <a:latin typeface="Calibri"/>
              <a:ea typeface="Calibri"/>
              <a:cs typeface="Calibri"/>
              <a:sym typeface="Calibri"/>
            </a:endParaRPr>
          </a:p>
        </p:txBody>
      </p:sp>
      <p:sp>
        <p:nvSpPr>
          <p:cNvPr id="489" name="Google Shape;489;p20"/>
          <p:cNvSpPr/>
          <p:nvPr/>
        </p:nvSpPr>
        <p:spPr>
          <a:xfrm>
            <a:off x="6381750" y="2652911"/>
            <a:ext cx="4931537" cy="523180"/>
          </a:xfrm>
          <a:prstGeom prst="rect">
            <a:avLst/>
          </a:prstGeom>
          <a:noFill/>
          <a:ln>
            <a:noFill/>
          </a:ln>
        </p:spPr>
        <p:txBody>
          <a:bodyPr spcFirstLastPara="1" wrap="square" lIns="0" tIns="0" rIns="0" bIns="0" anchor="t" anchorCtr="0">
            <a:normAutofit fontScale="925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Cập nhật tiến độ chi tiết trên từng ticket Jira giúp phối hợp nhịp nhàng.</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Chốt sớm hợp đồng API (OpenAPI) giúp FE và BE làm việc song song.</a:t>
            </a:r>
            <a:endParaRPr sz="1400" b="0" i="0" u="none" strike="noStrike" cap="none">
              <a:solidFill>
                <a:schemeClr val="dk1"/>
              </a:solidFill>
              <a:latin typeface="Calibri"/>
              <a:ea typeface="Calibri"/>
              <a:cs typeface="Calibri"/>
              <a:sym typeface="Calibri"/>
            </a:endParaRPr>
          </a:p>
        </p:txBody>
      </p:sp>
      <p:sp>
        <p:nvSpPr>
          <p:cNvPr id="490" name="Google Shape;490;p20"/>
          <p:cNvSpPr/>
          <p:nvPr/>
        </p:nvSpPr>
        <p:spPr>
          <a:xfrm>
            <a:off x="6381750" y="3246120"/>
            <a:ext cx="4931537"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NẾU LÀM LẠI, NHÓM SẼ</a:t>
            </a:r>
            <a:endParaRPr sz="1200" b="0" i="0" u="none" strike="noStrike" cap="none">
              <a:solidFill>
                <a:schemeClr val="dk1"/>
              </a:solidFill>
              <a:latin typeface="Calibri"/>
              <a:ea typeface="Calibri"/>
              <a:cs typeface="Calibri"/>
              <a:sym typeface="Calibri"/>
            </a:endParaRPr>
          </a:p>
        </p:txBody>
      </p:sp>
      <p:sp>
        <p:nvSpPr>
          <p:cNvPr id="491" name="Google Shape;491;p20"/>
          <p:cNvSpPr/>
          <p:nvPr/>
        </p:nvSpPr>
        <p:spPr>
          <a:xfrm>
            <a:off x="6381750" y="3520440"/>
            <a:ext cx="4931537" cy="274290"/>
          </a:xfrm>
          <a:prstGeom prst="rect">
            <a:avLst/>
          </a:prstGeom>
          <a:noFill/>
          <a:ln>
            <a:noFill/>
          </a:ln>
        </p:spPr>
        <p:txBody>
          <a:bodyPr spcFirstLastPara="1" wrap="square" lIns="0" tIns="0" rIns="0" bIns="0" anchor="t" anchorCtr="0">
            <a:normAutofit fontScale="925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Tổ chức kiểm thử chéo (Bug Bash) giữa các thành viên vào cuối mỗi Sprint.</a:t>
            </a:r>
            <a:endParaRPr sz="1400" b="0" i="0" u="none" strike="noStrike" cap="none">
              <a:solidFill>
                <a:schemeClr val="dk1"/>
              </a:solidFill>
              <a:latin typeface="Calibri"/>
              <a:ea typeface="Calibri"/>
              <a:cs typeface="Calibri"/>
              <a:sym typeface="Calibri"/>
            </a:endParaRPr>
          </a:p>
        </p:txBody>
      </p:sp>
      <p:sp>
        <p:nvSpPr>
          <p:cNvPr id="492" name="Google Shape;492;p20"/>
          <p:cNvSpPr/>
          <p:nvPr/>
        </p:nvSpPr>
        <p:spPr>
          <a:xfrm>
            <a:off x="812800" y="4228852"/>
            <a:ext cx="10566400" cy="1613148"/>
          </a:xfrm>
          <a:prstGeom prst="rect">
            <a:avLst/>
          </a:prstGeom>
          <a:solidFill>
            <a:srgbClr val="FDF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3" name="Google Shape;493;p20"/>
          <p:cNvCxnSpPr/>
          <p:nvPr/>
        </p:nvCxnSpPr>
        <p:spPr>
          <a:xfrm>
            <a:off x="812800" y="4247902"/>
            <a:ext cx="10566400" cy="0"/>
          </a:xfrm>
          <a:prstGeom prst="straightConnector1">
            <a:avLst/>
          </a:prstGeom>
          <a:noFill/>
          <a:ln w="38100" cap="flat" cmpd="sng">
            <a:solidFill>
              <a:srgbClr val="F28C28"/>
            </a:solidFill>
            <a:prstDash val="solid"/>
            <a:round/>
            <a:headEnd type="none" w="sm" len="sm"/>
            <a:tailEnd type="none" w="sm" len="sm"/>
          </a:ln>
        </p:spPr>
      </p:cxnSp>
      <p:sp>
        <p:nvSpPr>
          <p:cNvPr id="494" name="Google Shape;494;p20"/>
          <p:cNvSpPr/>
          <p:nvPr/>
        </p:nvSpPr>
        <p:spPr>
          <a:xfrm>
            <a:off x="1016000" y="4444752"/>
            <a:ext cx="10464800"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Khó khăn lớn nhất &amp; cách xử lý</a:t>
            </a:r>
            <a:endParaRPr sz="1800" b="0" i="0" u="none" strike="noStrike" cap="none">
              <a:solidFill>
                <a:schemeClr val="dk1"/>
              </a:solidFill>
              <a:latin typeface="Calibri"/>
              <a:ea typeface="Calibri"/>
              <a:cs typeface="Calibri"/>
              <a:sym typeface="Calibri"/>
            </a:endParaRPr>
          </a:p>
        </p:txBody>
      </p:sp>
      <p:sp>
        <p:nvSpPr>
          <p:cNvPr id="495" name="Google Shape;495;p20"/>
          <p:cNvSpPr/>
          <p:nvPr/>
        </p:nvSpPr>
        <p:spPr>
          <a:xfrm>
            <a:off x="1016000" y="4795242"/>
            <a:ext cx="10464800" cy="274290"/>
          </a:xfrm>
          <a:prstGeom prst="rect">
            <a:avLst/>
          </a:prstGeom>
          <a:noFill/>
          <a:ln>
            <a:noFill/>
          </a:ln>
        </p:spPr>
        <p:txBody>
          <a:bodyPr spcFirstLastPara="1" wrap="square" lIns="0" tIns="0" rIns="0" bIns="0" anchor="t" anchorCtr="0">
            <a:normAutofit fontScale="92500"/>
          </a:bodyPr>
          <a:lstStyle/>
          <a:p>
            <a:pPr marL="0" marR="0" lvl="0" indent="0" algn="l" rtl="0">
              <a:lnSpc>
                <a:spcPct val="140000"/>
              </a:lnSpc>
              <a:spcBef>
                <a:spcPts val="0"/>
              </a:spcBef>
              <a:spcAft>
                <a:spcPts val="0"/>
              </a:spcAft>
              <a:buClr>
                <a:srgbClr val="3F4A57"/>
              </a:buClr>
              <a:buSzPts val="1400"/>
              <a:buFont typeface="Be Vietnam Pro"/>
              <a:buNone/>
            </a:pPr>
            <a:r>
              <a:rPr lang="en-US" sz="1100" b="0" i="0" u="none" strike="noStrike" cap="none">
                <a:solidFill>
                  <a:srgbClr val="3F4A57"/>
                </a:solidFill>
                <a:latin typeface="Be Vietnam Pro"/>
                <a:ea typeface="Be Vietnam Pro"/>
                <a:cs typeface="Be Vietnam Pro"/>
                <a:sym typeface="Be Vietnam Pro"/>
              </a:rPr>
              <a:t>Độ phức tạp của phả hệ tách/gộp đa tầng kèm thu hồi xuôi dòng → Xây dựng bộ đáp án chuẩn (Oracle JSON) &amp; kiểm thử tự động đệ quy CTE → Đạt độ chính xác 100%.</a:t>
            </a:r>
            <a:endParaRPr sz="1400" b="0" i="0" u="none" strike="noStrike" cap="none">
              <a:solidFill>
                <a:schemeClr val="dk1"/>
              </a:solidFill>
              <a:latin typeface="Calibri"/>
              <a:ea typeface="Calibri"/>
              <a:cs typeface="Calibri"/>
              <a:sym typeface="Calibri"/>
            </a:endParaRPr>
          </a:p>
        </p:txBody>
      </p:sp>
      <p:sp>
        <p:nvSpPr>
          <p:cNvPr id="496" name="Google Shape;496;p20"/>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497" name="Google Shape;497;p20"/>
          <p:cNvSpPr/>
          <p:nvPr/>
        </p:nvSpPr>
        <p:spPr>
          <a:xfrm>
            <a:off x="9988352" y="6238280"/>
            <a:ext cx="1441648"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C — Tổng kết</a:t>
            </a:r>
            <a:endParaRPr sz="1200" b="0" i="0" u="none" strike="noStrike" cap="none">
              <a:solidFill>
                <a:schemeClr val="dk1"/>
              </a:solidFill>
              <a:latin typeface="Calibri"/>
              <a:ea typeface="Calibri"/>
              <a:cs typeface="Calibri"/>
              <a:sym typeface="Calibri"/>
            </a:endParaRPr>
          </a:p>
        </p:txBody>
      </p:sp>
      <p:pic>
        <p:nvPicPr>
          <p:cNvPr id="498" name="Google Shape;498;p20"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499" name="Google Shape;499;p20"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Shape 504"/>
        <p:cNvGrpSpPr/>
        <p:nvPr/>
      </p:nvGrpSpPr>
      <p:grpSpPr>
        <a:xfrm>
          <a:off x="0" y="0"/>
          <a:ext cx="0" cy="0"/>
          <a:chOff x="0" y="0"/>
          <a:chExt cx="0" cy="0"/>
        </a:xfrm>
      </p:grpSpPr>
      <p:sp>
        <p:nvSpPr>
          <p:cNvPr id="505" name="Google Shape;505;p21"/>
          <p:cNvSpPr/>
          <p:nvPr/>
        </p:nvSpPr>
        <p:spPr>
          <a:xfrm>
            <a:off x="812800" y="812800"/>
            <a:ext cx="10883392"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C · 03 — HƯỚNG PHÁT TRIỂN</a:t>
            </a:r>
            <a:endParaRPr sz="1200" b="0" i="0" u="none" strike="noStrike" cap="none">
              <a:solidFill>
                <a:schemeClr val="dk1"/>
              </a:solidFill>
              <a:latin typeface="Calibri"/>
              <a:ea typeface="Calibri"/>
              <a:cs typeface="Calibri"/>
              <a:sym typeface="Calibri"/>
            </a:endParaRPr>
          </a:p>
        </p:txBody>
      </p:sp>
      <p:sp>
        <p:nvSpPr>
          <p:cNvPr id="506" name="Google Shape;506;p21"/>
          <p:cNvSpPr/>
          <p:nvPr/>
        </p:nvSpPr>
        <p:spPr>
          <a:xfrm>
            <a:off x="812800" y="1102320"/>
            <a:ext cx="10883392" cy="472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3200"/>
              <a:buFont typeface="Be Vietnam Pro"/>
              <a:buNone/>
            </a:pPr>
            <a:r>
              <a:rPr lang="en-US" sz="3200" b="1" i="0" u="none" strike="noStrike" cap="none">
                <a:solidFill>
                  <a:srgbClr val="12263A"/>
                </a:solidFill>
                <a:latin typeface="Be Vietnam Pro"/>
                <a:ea typeface="Be Vietnam Pro"/>
                <a:cs typeface="Be Vietnam Pro"/>
                <a:sym typeface="Be Vietnam Pro"/>
              </a:rPr>
              <a:t>Hướng phát triển tiếp theo</a:t>
            </a:r>
            <a:endParaRPr sz="3200" b="0" i="0" u="none" strike="noStrike" cap="none">
              <a:solidFill>
                <a:schemeClr val="dk1"/>
              </a:solidFill>
              <a:latin typeface="Calibri"/>
              <a:ea typeface="Calibri"/>
              <a:cs typeface="Calibri"/>
              <a:sym typeface="Calibri"/>
            </a:endParaRPr>
          </a:p>
        </p:txBody>
      </p:sp>
      <p:sp>
        <p:nvSpPr>
          <p:cNvPr id="507" name="Google Shape;507;p21"/>
          <p:cNvSpPr/>
          <p:nvPr/>
        </p:nvSpPr>
        <p:spPr>
          <a:xfrm>
            <a:off x="815975" y="1806525"/>
            <a:ext cx="51498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1"/>
          <p:cNvSpPr/>
          <p:nvPr/>
        </p:nvSpPr>
        <p:spPr>
          <a:xfrm>
            <a:off x="1022350" y="2012900"/>
            <a:ext cx="4879213"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Roadmap sản phẩm</a:t>
            </a:r>
            <a:endParaRPr sz="1800" b="0" i="0" u="none" strike="noStrike" cap="none">
              <a:solidFill>
                <a:schemeClr val="dk1"/>
              </a:solidFill>
              <a:latin typeface="Calibri"/>
              <a:ea typeface="Calibri"/>
              <a:cs typeface="Calibri"/>
              <a:sym typeface="Calibri"/>
            </a:endParaRPr>
          </a:p>
        </p:txBody>
      </p:sp>
      <p:sp>
        <p:nvSpPr>
          <p:cNvPr id="509" name="Google Shape;509;p21"/>
          <p:cNvSpPr/>
          <p:nvPr/>
        </p:nvSpPr>
        <p:spPr>
          <a:xfrm>
            <a:off x="1022350" y="2514600"/>
            <a:ext cx="132080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NGẮN HẠN</a:t>
            </a:r>
            <a:endParaRPr sz="1200" b="0" i="0" u="none" strike="noStrike" cap="none">
              <a:solidFill>
                <a:schemeClr val="dk1"/>
              </a:solidFill>
              <a:latin typeface="Calibri"/>
              <a:ea typeface="Calibri"/>
              <a:cs typeface="Calibri"/>
              <a:sym typeface="Calibri"/>
            </a:endParaRPr>
          </a:p>
        </p:txBody>
      </p:sp>
      <p:sp>
        <p:nvSpPr>
          <p:cNvPr id="510" name="Google Shape;510;p21"/>
          <p:cNvSpPr/>
          <p:nvPr/>
        </p:nvSpPr>
        <p:spPr>
          <a:xfrm>
            <a:off x="2444750" y="2514600"/>
            <a:ext cx="3414141" cy="2742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err="1">
                <a:solidFill>
                  <a:srgbClr val="3F4A57"/>
                </a:solidFill>
                <a:latin typeface="Be Vietnam Pro"/>
                <a:ea typeface="Be Vietnam Pro"/>
                <a:cs typeface="Be Vietnam Pro"/>
                <a:sym typeface="Be Vietnam Pro"/>
              </a:rPr>
              <a:t>Tích</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hợp</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cảnh</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báo</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tức</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thời</a:t>
            </a:r>
            <a:r>
              <a:rPr lang="en-US" sz="1050" b="1" i="0" u="none" strike="noStrike" cap="none" dirty="0">
                <a:solidFill>
                  <a:srgbClr val="3F4A57"/>
                </a:solidFill>
                <a:latin typeface="Be Vietnam Pro"/>
                <a:ea typeface="Be Vietnam Pro"/>
                <a:cs typeface="Be Vietnam Pro"/>
                <a:sym typeface="Be Vietnam Pro"/>
              </a:rPr>
              <a:t> qua </a:t>
            </a:r>
            <a:r>
              <a:rPr lang="en-US" sz="1050" b="1" i="0" u="none" strike="noStrike" cap="none" dirty="0" err="1">
                <a:solidFill>
                  <a:srgbClr val="3F4A57"/>
                </a:solidFill>
                <a:latin typeface="Be Vietnam Pro"/>
                <a:ea typeface="Be Vietnam Pro"/>
                <a:cs typeface="Be Vietnam Pro"/>
                <a:sym typeface="Be Vietnam Pro"/>
              </a:rPr>
              <a:t>Zalo</a:t>
            </a:r>
            <a:r>
              <a:rPr lang="en-US" sz="1050" b="1" i="0" u="none" strike="noStrike" cap="none" dirty="0">
                <a:solidFill>
                  <a:srgbClr val="3F4A57"/>
                </a:solidFill>
                <a:latin typeface="Be Vietnam Pro"/>
                <a:ea typeface="Be Vietnam Pro"/>
                <a:cs typeface="Be Vietnam Pro"/>
                <a:sym typeface="Be Vietnam Pro"/>
              </a:rPr>
              <a:t> OA / Telegram </a:t>
            </a:r>
            <a:r>
              <a:rPr lang="en-US" sz="1050" b="1" i="0" u="none" strike="noStrike" cap="none" dirty="0" err="1">
                <a:solidFill>
                  <a:srgbClr val="3F4A57"/>
                </a:solidFill>
                <a:latin typeface="Be Vietnam Pro"/>
                <a:ea typeface="Be Vietnam Pro"/>
                <a:cs typeface="Be Vietnam Pro"/>
                <a:sym typeface="Be Vietnam Pro"/>
              </a:rPr>
              <a:t>khi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nhiệt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độ</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vượt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ngưỡng</a:t>
            </a:r>
            <a:r>
              <a:rPr lang="en-US" sz="1050" b="1" i="0" u="none" strike="noStrike" cap="none" dirty="0">
                <a:solidFill>
                  <a:srgbClr val="3F4A57"/>
                </a:solidFill>
                <a:latin typeface="Be Vietnam Pro"/>
                <a:ea typeface="Be Vietnam Pro"/>
                <a:cs typeface="Be Vietnam Pro"/>
                <a:sym typeface="Be Vietnam Pro"/>
              </a:rPr>
              <a:t>.</a:t>
            </a:r>
            <a:endParaRPr sz="1050" b="1" i="0" u="none" strike="noStrike" cap="none" dirty="0">
              <a:solidFill>
                <a:schemeClr val="dk1"/>
              </a:solidFill>
              <a:latin typeface="Calibri"/>
              <a:ea typeface="Calibri"/>
              <a:cs typeface="Calibri"/>
              <a:sym typeface="Calibri"/>
            </a:endParaRPr>
          </a:p>
        </p:txBody>
      </p:sp>
      <p:sp>
        <p:nvSpPr>
          <p:cNvPr id="511" name="Google Shape;511;p21"/>
          <p:cNvSpPr/>
          <p:nvPr/>
        </p:nvSpPr>
        <p:spPr>
          <a:xfrm>
            <a:off x="1022350" y="3291840"/>
            <a:ext cx="132080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1–3 THÁNG</a:t>
            </a:r>
            <a:endParaRPr sz="1200" b="0" i="0" u="none" strike="noStrike" cap="none">
              <a:solidFill>
                <a:schemeClr val="dk1"/>
              </a:solidFill>
              <a:latin typeface="Calibri"/>
              <a:ea typeface="Calibri"/>
              <a:cs typeface="Calibri"/>
              <a:sym typeface="Calibri"/>
            </a:endParaRPr>
          </a:p>
        </p:txBody>
      </p:sp>
      <p:sp>
        <p:nvSpPr>
          <p:cNvPr id="512" name="Google Shape;512;p21"/>
          <p:cNvSpPr/>
          <p:nvPr/>
        </p:nvSpPr>
        <p:spPr>
          <a:xfrm>
            <a:off x="2444750" y="3291840"/>
            <a:ext cx="3414141" cy="2742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err="1">
                <a:solidFill>
                  <a:srgbClr val="3F4A57"/>
                </a:solidFill>
                <a:latin typeface="Be Vietnam Pro"/>
                <a:ea typeface="Be Vietnam Pro"/>
                <a:cs typeface="Be Vietnam Pro"/>
                <a:sym typeface="Be Vietnam Pro"/>
              </a:rPr>
              <a:t>Kết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nối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thiết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bị</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cảm</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biến</a:t>
            </a:r>
            <a:r>
              <a:rPr lang="en-US" sz="1050" b="1" i="0" u="none" strike="noStrike" cap="none" dirty="0">
                <a:solidFill>
                  <a:srgbClr val="3F4A57"/>
                </a:solidFill>
                <a:latin typeface="Be Vietnam Pro"/>
                <a:ea typeface="Be Vietnam Pro"/>
                <a:cs typeface="Be Vietnam Pro"/>
                <a:sym typeface="Be Vietnam Pro"/>
              </a:rPr>
              <a:t> IoT qua MQTT &amp; </a:t>
            </a:r>
            <a:r>
              <a:rPr lang="en-US" sz="1050" b="1" i="0" u="none" strike="noStrike" cap="none" dirty="0" err="1">
                <a:solidFill>
                  <a:srgbClr val="3F4A57"/>
                </a:solidFill>
                <a:latin typeface="Be Vietnam Pro"/>
                <a:ea typeface="Be Vietnam Pro"/>
                <a:cs typeface="Be Vietnam Pro"/>
                <a:sym typeface="Be Vietnam Pro"/>
              </a:rPr>
              <a:t>phát</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triển</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ứng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dụng</a:t>
            </a:r>
            <a:r>
              <a:rPr lang="en-US" sz="1050" b="1" i="0" u="none" strike="noStrike" cap="none" dirty="0">
                <a:solidFill>
                  <a:srgbClr val="3F4A57"/>
                </a:solidFill>
                <a:latin typeface="Be Vietnam Pro"/>
                <a:ea typeface="Be Vietnam Pro"/>
                <a:cs typeface="Be Vietnam Pro"/>
                <a:sym typeface="Be Vietnam Pro"/>
              </a:rPr>
              <a:t> Mobile </a:t>
            </a:r>
            <a:r>
              <a:rPr lang="en-US" sz="1050" b="1" i="0" u="none" strike="noStrike" cap="none" dirty="0" err="1">
                <a:solidFill>
                  <a:srgbClr val="3F4A57"/>
                </a:solidFill>
                <a:latin typeface="Be Vietnam Pro"/>
                <a:ea typeface="Be Vietnam Pro"/>
                <a:cs typeface="Be Vietnam Pro"/>
                <a:sym typeface="Be Vietnam Pro"/>
              </a:rPr>
              <a:t>quét</a:t>
            </a:r>
            <a:r>
              <a:rPr lang="en-US" sz="1050" b="1" i="0" u="none" strike="noStrike" cap="none" dirty="0">
                <a:solidFill>
                  <a:srgbClr val="3F4A57"/>
                </a:solidFill>
                <a:latin typeface="Be Vietnam Pro"/>
                <a:ea typeface="Be Vietnam Pro"/>
                <a:cs typeface="Be Vietnam Pro"/>
                <a:sym typeface="Be Vietnam Pro"/>
              </a:rPr>
              <a:t> QR.</a:t>
            </a:r>
            <a:endParaRPr sz="1050" b="1" i="0" u="none" strike="noStrike" cap="none" dirty="0">
              <a:solidFill>
                <a:schemeClr val="dk1"/>
              </a:solidFill>
              <a:latin typeface="Calibri"/>
              <a:ea typeface="Calibri"/>
              <a:cs typeface="Calibri"/>
              <a:sym typeface="Calibri"/>
            </a:endParaRPr>
          </a:p>
        </p:txBody>
      </p:sp>
      <p:sp>
        <p:nvSpPr>
          <p:cNvPr id="513" name="Google Shape;513;p21"/>
          <p:cNvSpPr/>
          <p:nvPr/>
        </p:nvSpPr>
        <p:spPr>
          <a:xfrm>
            <a:off x="1022350" y="4069080"/>
            <a:ext cx="132080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2556C4"/>
              </a:buClr>
              <a:buSzPts val="1200"/>
              <a:buFont typeface="Be Vietnam Pro"/>
              <a:buNone/>
            </a:pPr>
            <a:r>
              <a:rPr lang="en-US" sz="1200" b="1" i="0" u="none" strike="noStrike" cap="none">
                <a:solidFill>
                  <a:srgbClr val="2556C4"/>
                </a:solidFill>
                <a:latin typeface="Be Vietnam Pro"/>
                <a:ea typeface="Be Vietnam Pro"/>
                <a:cs typeface="Be Vietnam Pro"/>
                <a:sym typeface="Be Vietnam Pro"/>
              </a:rPr>
              <a:t>DÀI HẠN</a:t>
            </a:r>
            <a:endParaRPr sz="1200" b="0" i="0" u="none" strike="noStrike" cap="none">
              <a:solidFill>
                <a:schemeClr val="dk1"/>
              </a:solidFill>
              <a:latin typeface="Calibri"/>
              <a:ea typeface="Calibri"/>
              <a:cs typeface="Calibri"/>
              <a:sym typeface="Calibri"/>
            </a:endParaRPr>
          </a:p>
        </p:txBody>
      </p:sp>
      <p:sp>
        <p:nvSpPr>
          <p:cNvPr id="514" name="Google Shape;514;p21"/>
          <p:cNvSpPr/>
          <p:nvPr/>
        </p:nvSpPr>
        <p:spPr>
          <a:xfrm>
            <a:off x="2444750" y="4069080"/>
            <a:ext cx="3414141" cy="27429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3F4A57"/>
              </a:buClr>
              <a:buSzPts val="1400"/>
              <a:buFont typeface="Be Vietnam Pro"/>
              <a:buNone/>
            </a:pPr>
            <a:r>
              <a:rPr lang="en-US" sz="1050" b="1" i="0" u="none" strike="noStrike" cap="none" dirty="0">
                <a:solidFill>
                  <a:srgbClr val="3F4A57"/>
                </a:solidFill>
                <a:latin typeface="Be Vietnam Pro"/>
                <a:ea typeface="Be Vietnam Pro"/>
                <a:cs typeface="Be Vietnam Pro"/>
                <a:sym typeface="Be Vietnam Pro"/>
              </a:rPr>
              <a:t>Neo </a:t>
            </a:r>
            <a:r>
              <a:rPr lang="en-US" sz="1050" b="1" i="0" u="none" strike="noStrike" cap="none" dirty="0" err="1">
                <a:solidFill>
                  <a:srgbClr val="3F4A57"/>
                </a:solidFill>
                <a:latin typeface="Be Vietnam Pro"/>
                <a:ea typeface="Be Vietnam Pro"/>
                <a:cs typeface="Be Vietnam Pro"/>
                <a:sym typeface="Be Vietnam Pro"/>
              </a:rPr>
              <a:t>mã</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băm</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gốc</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định</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kỳ</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lên</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mạng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lưới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liên</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minh</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để</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tăng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tính</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đối</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chứng</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độc</a:t>
            </a:r>
            <a:r>
              <a:rPr lang="en-US" sz="1050" b="1" i="0" u="none" strike="noStrike" cap="none" dirty="0">
                <a:solidFill>
                  <a:srgbClr val="3F4A57"/>
                </a:solidFill>
                <a:latin typeface="Be Vietnam Pro"/>
                <a:ea typeface="Be Vietnam Pro"/>
                <a:cs typeface="Be Vietnam Pro"/>
                <a:sym typeface="Be Vietnam Pro"/>
              </a:rPr>
              <a:t> </a:t>
            </a:r>
            <a:r>
              <a:rPr lang="en-US" sz="1050" b="1" i="0" u="none" strike="noStrike" cap="none" dirty="0" err="1">
                <a:solidFill>
                  <a:srgbClr val="3F4A57"/>
                </a:solidFill>
                <a:latin typeface="Be Vietnam Pro"/>
                <a:ea typeface="Be Vietnam Pro"/>
                <a:cs typeface="Be Vietnam Pro"/>
                <a:sym typeface="Be Vietnam Pro"/>
              </a:rPr>
              <a:t>lập</a:t>
            </a:r>
            <a:r>
              <a:rPr lang="en-US" sz="1050" b="1" i="0" u="none" strike="noStrike" cap="none" dirty="0">
                <a:solidFill>
                  <a:srgbClr val="3F4A57"/>
                </a:solidFill>
                <a:latin typeface="Be Vietnam Pro"/>
                <a:ea typeface="Be Vietnam Pro"/>
                <a:cs typeface="Be Vietnam Pro"/>
                <a:sym typeface="Be Vietnam Pro"/>
              </a:rPr>
              <a:t>.</a:t>
            </a:r>
            <a:endParaRPr sz="1050" b="1" i="0" u="none" strike="noStrike" cap="none" dirty="0">
              <a:solidFill>
                <a:schemeClr val="dk1"/>
              </a:solidFill>
              <a:latin typeface="Calibri"/>
              <a:ea typeface="Calibri"/>
              <a:cs typeface="Calibri"/>
              <a:sym typeface="Calibri"/>
            </a:endParaRPr>
          </a:p>
        </p:txBody>
      </p:sp>
      <p:sp>
        <p:nvSpPr>
          <p:cNvPr id="515" name="Google Shape;515;p21"/>
          <p:cNvSpPr/>
          <p:nvPr/>
        </p:nvSpPr>
        <p:spPr>
          <a:xfrm>
            <a:off x="6226175" y="1806525"/>
            <a:ext cx="51498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1"/>
          <p:cNvSpPr/>
          <p:nvPr/>
        </p:nvSpPr>
        <p:spPr>
          <a:xfrm>
            <a:off x="6432550" y="2012900"/>
            <a:ext cx="4879213" cy="2996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20000"/>
              </a:lnSpc>
              <a:spcBef>
                <a:spcPts val="0"/>
              </a:spcBef>
              <a:spcAft>
                <a:spcPts val="0"/>
              </a:spcAft>
              <a:buClr>
                <a:srgbClr val="12263A"/>
              </a:buClr>
              <a:buSzPts val="1800"/>
              <a:buFont typeface="Be Vietnam Pro"/>
              <a:buNone/>
            </a:pPr>
            <a:r>
              <a:rPr lang="en-US" sz="1800" b="1" i="0" u="none" strike="noStrike" cap="none">
                <a:solidFill>
                  <a:srgbClr val="12263A"/>
                </a:solidFill>
                <a:latin typeface="Be Vietnam Pro"/>
                <a:ea typeface="Be Vietnam Pro"/>
                <a:cs typeface="Be Vietnam Pro"/>
                <a:sym typeface="Be Vietnam Pro"/>
              </a:rPr>
              <a:t>Định hướng nghề nghiệp</a:t>
            </a:r>
            <a:endParaRPr sz="1800" b="0" i="0" u="none" strike="noStrike" cap="none">
              <a:solidFill>
                <a:schemeClr val="dk1"/>
              </a:solidFill>
              <a:latin typeface="Calibri"/>
              <a:ea typeface="Calibri"/>
              <a:cs typeface="Calibri"/>
              <a:sym typeface="Calibri"/>
            </a:endParaRPr>
          </a:p>
        </p:txBody>
      </p:sp>
      <p:sp>
        <p:nvSpPr>
          <p:cNvPr id="517" name="Google Shape;517;p21"/>
          <p:cNvSpPr/>
          <p:nvPr/>
        </p:nvSpPr>
        <p:spPr>
          <a:xfrm>
            <a:off x="6432550" y="2363391"/>
            <a:ext cx="4879213" cy="1020961"/>
          </a:xfrm>
          <a:prstGeom prst="rect">
            <a:avLst/>
          </a:prstGeom>
          <a:noFill/>
          <a:ln>
            <a:noFill/>
          </a:ln>
        </p:spPr>
        <p:txBody>
          <a:bodyPr spcFirstLastPara="1" wrap="square" lIns="0" tIns="0" rIns="0" bIns="0" anchor="t" anchorCtr="0">
            <a:normAutofit fontScale="85000" lnSpcReduction="10000"/>
          </a:bodyPr>
          <a:lstStyle/>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Full-stack / Backend Engineer: Vũ Hiếu Kiên, Đinh Bách Hợp, Đồng Quốc Khánh</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Frontend / Web Application: Lâm Tiến Khởi, Nguyễn Thành Long, Hoàng Trung Kiên</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Software Developer &amp; QA Automation: Nguyễn Ngọc Linh, Triệu Văn Nam</a:t>
            </a:r>
            <a:endParaRPr sz="1400" b="0" i="0" u="none" strike="noStrike" cap="none">
              <a:solidFill>
                <a:schemeClr val="dk1"/>
              </a:solidFill>
              <a:latin typeface="Calibri"/>
              <a:ea typeface="Calibri"/>
              <a:cs typeface="Calibri"/>
              <a:sym typeface="Calibri"/>
            </a:endParaRPr>
          </a:p>
          <a:p>
            <a:pPr marL="213360" marR="0" lvl="0" indent="-169418" algn="l" rtl="0">
              <a:lnSpc>
                <a:spcPct val="140000"/>
              </a:lnSpc>
              <a:spcBef>
                <a:spcPts val="0"/>
              </a:spcBef>
              <a:spcAft>
                <a:spcPts val="0"/>
              </a:spcAft>
              <a:buClr>
                <a:srgbClr val="3F4A57"/>
              </a:buClr>
              <a:buSzPts val="1400"/>
              <a:buFont typeface="Be Vietnam Pro"/>
              <a:buChar char="•"/>
            </a:pPr>
            <a:r>
              <a:rPr lang="en-US" sz="1100" b="0" i="0" u="none" strike="noStrike" cap="none">
                <a:solidFill>
                  <a:srgbClr val="3F4A57"/>
                </a:solidFill>
                <a:latin typeface="Be Vietnam Pro"/>
                <a:ea typeface="Be Vietnam Pro"/>
                <a:cs typeface="Be Vietnam Pro"/>
                <a:sym typeface="Be Vietnam Pro"/>
              </a:rPr>
              <a:t>DevOps / Cloud &amp; Data Security: Nguyễn Mạnh Kiên, Thân Tuấn Linh</a:t>
            </a:r>
            <a:endParaRPr sz="1400" b="0" i="0" u="none" strike="noStrike" cap="none">
              <a:solidFill>
                <a:schemeClr val="dk1"/>
              </a:solidFill>
              <a:latin typeface="Calibri"/>
              <a:ea typeface="Calibri"/>
              <a:cs typeface="Calibri"/>
              <a:sym typeface="Calibri"/>
            </a:endParaRPr>
          </a:p>
        </p:txBody>
      </p:sp>
      <p:sp>
        <p:nvSpPr>
          <p:cNvPr id="518" name="Google Shape;518;p21"/>
          <p:cNvSpPr/>
          <p:nvPr/>
        </p:nvSpPr>
        <p:spPr>
          <a:xfrm>
            <a:off x="812800" y="6238280"/>
            <a:ext cx="8046720"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VietFarm Trace (AgroChain) · Báo cáo tổng kết thực tập</a:t>
            </a:r>
            <a:endParaRPr sz="1200" b="0" i="0" u="none" strike="noStrike" cap="none">
              <a:solidFill>
                <a:schemeClr val="dk1"/>
              </a:solidFill>
              <a:latin typeface="Calibri"/>
              <a:ea typeface="Calibri"/>
              <a:cs typeface="Calibri"/>
              <a:sym typeface="Calibri"/>
            </a:endParaRPr>
          </a:p>
        </p:txBody>
      </p:sp>
      <p:sp>
        <p:nvSpPr>
          <p:cNvPr id="519" name="Google Shape;519;p21"/>
          <p:cNvSpPr/>
          <p:nvPr/>
        </p:nvSpPr>
        <p:spPr>
          <a:xfrm>
            <a:off x="9988352" y="6238280"/>
            <a:ext cx="1441648"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5A6573"/>
              </a:buClr>
              <a:buSzPts val="1200"/>
              <a:buFont typeface="Be Vietnam Pro"/>
              <a:buNone/>
            </a:pPr>
            <a:r>
              <a:rPr lang="en-US" sz="1200" b="0" i="0" u="none" strike="noStrike" cap="none">
                <a:solidFill>
                  <a:srgbClr val="5A6573"/>
                </a:solidFill>
                <a:latin typeface="Be Vietnam Pro"/>
                <a:ea typeface="Be Vietnam Pro"/>
                <a:cs typeface="Be Vietnam Pro"/>
                <a:sym typeface="Be Vietnam Pro"/>
              </a:rPr>
              <a:t>Phần C — Tổng kết</a:t>
            </a:r>
            <a:endParaRPr sz="1200" b="0" i="0" u="none" strike="noStrike" cap="none">
              <a:solidFill>
                <a:schemeClr val="dk1"/>
              </a:solidFill>
              <a:latin typeface="Calibri"/>
              <a:ea typeface="Calibri"/>
              <a:cs typeface="Calibri"/>
              <a:sym typeface="Calibri"/>
            </a:endParaRPr>
          </a:p>
        </p:txBody>
      </p:sp>
      <p:pic>
        <p:nvPicPr>
          <p:cNvPr id="520" name="Google Shape;520;p21"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521" name="Google Shape;521;p21"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8C28"/>
        </a:solidFill>
        <a:effectLst/>
      </p:bgPr>
    </p:bg>
    <p:spTree>
      <p:nvGrpSpPr>
        <p:cNvPr id="1" name="Shape 526"/>
        <p:cNvGrpSpPr/>
        <p:nvPr/>
      </p:nvGrpSpPr>
      <p:grpSpPr>
        <a:xfrm>
          <a:off x="0" y="0"/>
          <a:ext cx="0" cy="0"/>
          <a:chOff x="0" y="0"/>
          <a:chExt cx="0" cy="0"/>
        </a:xfrm>
      </p:grpSpPr>
      <p:sp>
        <p:nvSpPr>
          <p:cNvPr id="527" name="Google Shape;527;p22"/>
          <p:cNvSpPr/>
          <p:nvPr/>
        </p:nvSpPr>
        <p:spPr>
          <a:xfrm>
            <a:off x="812800" y="812800"/>
            <a:ext cx="10883392" cy="27429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400"/>
              <a:buFont typeface="Be Vietnam Pro"/>
              <a:buNone/>
            </a:pPr>
            <a:r>
              <a:rPr lang="en-US" sz="1400" b="1" i="0" u="none" strike="noStrike" cap="none">
                <a:solidFill>
                  <a:srgbClr val="12263A"/>
                </a:solidFill>
                <a:latin typeface="Be Vietnam Pro"/>
                <a:ea typeface="Be Vietnam Pro"/>
                <a:cs typeface="Be Vietnam Pro"/>
                <a:sym typeface="Be Vietnam Pro"/>
              </a:rPr>
              <a:t>PHẦN C · KẾT THÚC</a:t>
            </a:r>
            <a:endParaRPr sz="1400" b="0" i="0" u="none" strike="noStrike" cap="none">
              <a:solidFill>
                <a:schemeClr val="dk1"/>
              </a:solidFill>
              <a:latin typeface="Calibri"/>
              <a:ea typeface="Calibri"/>
              <a:cs typeface="Calibri"/>
              <a:sym typeface="Calibri"/>
            </a:endParaRPr>
          </a:p>
        </p:txBody>
      </p:sp>
      <p:sp>
        <p:nvSpPr>
          <p:cNvPr id="528" name="Google Shape;528;p22"/>
          <p:cNvSpPr/>
          <p:nvPr/>
        </p:nvSpPr>
        <p:spPr>
          <a:xfrm>
            <a:off x="812800" y="1214090"/>
            <a:ext cx="10883392" cy="69592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10000"/>
              </a:lnSpc>
              <a:spcBef>
                <a:spcPts val="0"/>
              </a:spcBef>
              <a:spcAft>
                <a:spcPts val="0"/>
              </a:spcAft>
              <a:buClr>
                <a:srgbClr val="12263A"/>
              </a:buClr>
              <a:buSzPts val="4800"/>
              <a:buFont typeface="Be Vietnam Pro"/>
              <a:buNone/>
            </a:pPr>
            <a:r>
              <a:rPr lang="en-US" sz="4800" b="1" i="0" u="none" strike="noStrike" cap="none">
                <a:solidFill>
                  <a:srgbClr val="12263A"/>
                </a:solidFill>
                <a:latin typeface="Be Vietnam Pro"/>
                <a:ea typeface="Be Vietnam Pro"/>
                <a:cs typeface="Be Vietnam Pro"/>
                <a:sym typeface="Be Vietnam Pro"/>
              </a:rPr>
              <a:t>Demo trực tiếp &amp; Hỏi đáp</a:t>
            </a:r>
            <a:endParaRPr sz="4800" b="0" i="0" u="none" strike="noStrike" cap="none">
              <a:solidFill>
                <a:schemeClr val="dk1"/>
              </a:solidFill>
              <a:latin typeface="Calibri"/>
              <a:ea typeface="Calibri"/>
              <a:cs typeface="Calibri"/>
              <a:sym typeface="Calibri"/>
            </a:endParaRPr>
          </a:p>
        </p:txBody>
      </p:sp>
      <p:sp>
        <p:nvSpPr>
          <p:cNvPr id="529" name="Google Shape;529;p22"/>
          <p:cNvSpPr/>
          <p:nvPr/>
        </p:nvSpPr>
        <p:spPr>
          <a:xfrm>
            <a:off x="812800" y="2037011"/>
            <a:ext cx="10883392" cy="34543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40000"/>
              </a:lnSpc>
              <a:spcBef>
                <a:spcPts val="0"/>
              </a:spcBef>
              <a:spcAft>
                <a:spcPts val="0"/>
              </a:spcAft>
              <a:buClr>
                <a:srgbClr val="12263A"/>
              </a:buClr>
              <a:buSzPts val="1800"/>
              <a:buFont typeface="Be Vietnam Pro"/>
              <a:buNone/>
            </a:pPr>
            <a:r>
              <a:rPr lang="en-US" sz="1800" b="0" i="0" u="none" strike="noStrike" cap="none">
                <a:solidFill>
                  <a:srgbClr val="12263A"/>
                </a:solidFill>
                <a:latin typeface="Be Vietnam Pro"/>
                <a:ea typeface="Be Vietnam Pro"/>
                <a:cs typeface="Be Vietnam Pro"/>
                <a:sym typeface="Be Vietnam Pro"/>
              </a:rPr>
              <a:t>Cảm ơn Mentor Lê Đình Tuấn, đơn vị đào tạo CodeGym, Khoa CNTT (ICTU) và Hội đồng đã lắng nghe.</a:t>
            </a:r>
            <a:endParaRPr sz="1800" b="0" i="0" u="none" strike="noStrike" cap="none">
              <a:solidFill>
                <a:schemeClr val="dk1"/>
              </a:solidFill>
              <a:latin typeface="Calibri"/>
              <a:ea typeface="Calibri"/>
              <a:cs typeface="Calibri"/>
              <a:sym typeface="Calibri"/>
            </a:endParaRPr>
          </a:p>
        </p:txBody>
      </p:sp>
      <p:sp>
        <p:nvSpPr>
          <p:cNvPr id="530" name="Google Shape;530;p22"/>
          <p:cNvSpPr/>
          <p:nvPr/>
        </p:nvSpPr>
        <p:spPr>
          <a:xfrm>
            <a:off x="812800" y="5532189"/>
            <a:ext cx="3418484"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2263A"/>
              </a:buClr>
              <a:buSzPts val="1200"/>
              <a:buFont typeface="Be Vietnam Pro"/>
              <a:buNone/>
            </a:pPr>
            <a:r>
              <a:rPr lang="en-US" sz="1200" b="1" i="0" u="none" strike="noStrike" cap="none">
                <a:solidFill>
                  <a:srgbClr val="12263A"/>
                </a:solidFill>
                <a:latin typeface="Be Vietnam Pro"/>
                <a:ea typeface="Be Vietnam Pro"/>
                <a:cs typeface="Be Vietnam Pro"/>
                <a:sym typeface="Be Vietnam Pro"/>
              </a:rPr>
              <a:t>SẢN PHẨM</a:t>
            </a:r>
            <a:endParaRPr sz="1200" b="0" i="0" u="none" strike="noStrike" cap="none">
              <a:solidFill>
                <a:schemeClr val="dk1"/>
              </a:solidFill>
              <a:latin typeface="Calibri"/>
              <a:ea typeface="Calibri"/>
              <a:cs typeface="Calibri"/>
              <a:sym typeface="Calibri"/>
            </a:endParaRPr>
          </a:p>
        </p:txBody>
      </p:sp>
      <p:sp>
        <p:nvSpPr>
          <p:cNvPr id="531" name="Google Shape;531;p22"/>
          <p:cNvSpPr/>
          <p:nvPr/>
        </p:nvSpPr>
        <p:spPr>
          <a:xfrm>
            <a:off x="812800" y="5796310"/>
            <a:ext cx="3418484"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2263A"/>
              </a:buClr>
              <a:buSzPts val="1400"/>
              <a:buFont typeface="Be Vietnam Pro"/>
              <a:buNone/>
            </a:pPr>
            <a:r>
              <a:rPr lang="en-US" sz="1100" b="0" i="0" u="none" strike="noStrike" cap="none">
                <a:solidFill>
                  <a:srgbClr val="12263A"/>
                </a:solidFill>
                <a:latin typeface="Be Vietnam Pro"/>
                <a:ea typeface="Be Vietnam Pro"/>
                <a:cs typeface="Be Vietnam Pro"/>
                <a:sym typeface="Be Vietnam Pro"/>
              </a:rPr>
              <a:t>https://ttcs-frontend-staging.onrender.com</a:t>
            </a:r>
            <a:endParaRPr sz="1400" b="0" i="0" u="none" strike="noStrike" cap="none">
              <a:solidFill>
                <a:schemeClr val="dk1"/>
              </a:solidFill>
              <a:latin typeface="Calibri"/>
              <a:ea typeface="Calibri"/>
              <a:cs typeface="Calibri"/>
              <a:sym typeface="Calibri"/>
            </a:endParaRPr>
          </a:p>
        </p:txBody>
      </p:sp>
      <p:sp>
        <p:nvSpPr>
          <p:cNvPr id="532" name="Google Shape;532;p22"/>
          <p:cNvSpPr/>
          <p:nvPr/>
        </p:nvSpPr>
        <p:spPr>
          <a:xfrm>
            <a:off x="4436517" y="5532189"/>
            <a:ext cx="3418484"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2263A"/>
              </a:buClr>
              <a:buSzPts val="1200"/>
              <a:buFont typeface="Be Vietnam Pro"/>
              <a:buNone/>
            </a:pPr>
            <a:r>
              <a:rPr lang="en-US" sz="1200" b="1" i="0" u="none" strike="noStrike" cap="none">
                <a:solidFill>
                  <a:srgbClr val="12263A"/>
                </a:solidFill>
                <a:latin typeface="Be Vietnam Pro"/>
                <a:ea typeface="Be Vietnam Pro"/>
                <a:cs typeface="Be Vietnam Pro"/>
                <a:sym typeface="Be Vietnam Pro"/>
              </a:rPr>
              <a:t>MÃ NGUỒN</a:t>
            </a:r>
            <a:endParaRPr sz="1200" b="0" i="0" u="none" strike="noStrike" cap="none">
              <a:solidFill>
                <a:schemeClr val="dk1"/>
              </a:solidFill>
              <a:latin typeface="Calibri"/>
              <a:ea typeface="Calibri"/>
              <a:cs typeface="Calibri"/>
              <a:sym typeface="Calibri"/>
            </a:endParaRPr>
          </a:p>
        </p:txBody>
      </p:sp>
      <p:sp>
        <p:nvSpPr>
          <p:cNvPr id="533" name="Google Shape;533;p22"/>
          <p:cNvSpPr/>
          <p:nvPr/>
        </p:nvSpPr>
        <p:spPr>
          <a:xfrm>
            <a:off x="4436517" y="5796310"/>
            <a:ext cx="3474720"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2263A"/>
              </a:buClr>
              <a:buSzPts val="1400"/>
              <a:buFont typeface="Be Vietnam Pro"/>
              <a:buNone/>
            </a:pPr>
            <a:r>
              <a:rPr lang="en-US" sz="1100" b="0" i="0" u="none" strike="noStrike" cap="none">
                <a:solidFill>
                  <a:srgbClr val="12263A"/>
                </a:solidFill>
                <a:latin typeface="Be Vietnam Pro"/>
                <a:ea typeface="Be Vietnam Pro"/>
                <a:cs typeface="Be Vietnam Pro"/>
                <a:sym typeface="Be Vietnam Pro"/>
              </a:rPr>
              <a:t>github.com/nhom-3-cnttk23c</a:t>
            </a:r>
            <a:endParaRPr sz="1400" b="0" i="0" u="none" strike="noStrike" cap="none">
              <a:solidFill>
                <a:schemeClr val="dk1"/>
              </a:solidFill>
              <a:latin typeface="Calibri"/>
              <a:ea typeface="Calibri"/>
              <a:cs typeface="Calibri"/>
              <a:sym typeface="Calibri"/>
            </a:endParaRPr>
          </a:p>
        </p:txBody>
      </p:sp>
      <p:sp>
        <p:nvSpPr>
          <p:cNvPr id="534" name="Google Shape;534;p22"/>
          <p:cNvSpPr/>
          <p:nvPr/>
        </p:nvSpPr>
        <p:spPr>
          <a:xfrm>
            <a:off x="8060234" y="5532189"/>
            <a:ext cx="3418535" cy="238720"/>
          </a:xfrm>
          <a:prstGeom prst="rect">
            <a:avLst/>
          </a:prstGeom>
          <a:noFill/>
          <a:ln>
            <a:noFill/>
          </a:ln>
        </p:spPr>
        <p:txBody>
          <a:bodyPr spcFirstLastPara="1" wrap="square" lIns="0" tIns="0" rIns="0" bIns="0" anchor="t" anchorCtr="0">
            <a:normAutofit lnSpcReduction="10000"/>
          </a:bodyPr>
          <a:lstStyle/>
          <a:p>
            <a:pPr marL="0" marR="0" lvl="0" indent="0" algn="l" rtl="0">
              <a:lnSpc>
                <a:spcPct val="140000"/>
              </a:lnSpc>
              <a:spcBef>
                <a:spcPts val="0"/>
              </a:spcBef>
              <a:spcAft>
                <a:spcPts val="0"/>
              </a:spcAft>
              <a:buClr>
                <a:srgbClr val="12263A"/>
              </a:buClr>
              <a:buSzPts val="1200"/>
              <a:buFont typeface="Be Vietnam Pro"/>
              <a:buNone/>
            </a:pPr>
            <a:r>
              <a:rPr lang="en-US" sz="1200" b="1" i="0" u="none" strike="noStrike" cap="none">
                <a:solidFill>
                  <a:srgbClr val="12263A"/>
                </a:solidFill>
                <a:latin typeface="Be Vietnam Pro"/>
                <a:ea typeface="Be Vietnam Pro"/>
                <a:cs typeface="Be Vietnam Pro"/>
                <a:sym typeface="Be Vietnam Pro"/>
              </a:rPr>
              <a:t>JIRA</a:t>
            </a:r>
            <a:endParaRPr sz="1200" b="0" i="0" u="none" strike="noStrike" cap="none">
              <a:solidFill>
                <a:schemeClr val="dk1"/>
              </a:solidFill>
              <a:latin typeface="Calibri"/>
              <a:ea typeface="Calibri"/>
              <a:cs typeface="Calibri"/>
              <a:sym typeface="Calibri"/>
            </a:endParaRPr>
          </a:p>
        </p:txBody>
      </p:sp>
      <p:sp>
        <p:nvSpPr>
          <p:cNvPr id="535" name="Google Shape;535;p22"/>
          <p:cNvSpPr/>
          <p:nvPr/>
        </p:nvSpPr>
        <p:spPr>
          <a:xfrm>
            <a:off x="8060234" y="5796310"/>
            <a:ext cx="3418535" cy="274290"/>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Clr>
                <a:srgbClr val="12263A"/>
              </a:buClr>
              <a:buSzPts val="1400"/>
              <a:buFont typeface="Be Vietnam Pro"/>
              <a:buNone/>
            </a:pPr>
            <a:r>
              <a:rPr lang="en-US" sz="1100" b="0" i="0" u="none" strike="noStrike" cap="none">
                <a:solidFill>
                  <a:srgbClr val="12263A"/>
                </a:solidFill>
                <a:latin typeface="Be Vietnam Pro"/>
                <a:ea typeface="Be Vietnam Pro"/>
                <a:cs typeface="Be Vietnam Pro"/>
                <a:sym typeface="Be Vietnam Pro"/>
              </a:rPr>
              <a:t>Project Key: N3 · Board 4 (160 Issues · 170 SP)</a:t>
            </a:r>
            <a:endParaRPr sz="1400" b="0" i="0" u="none" strike="noStrike" cap="none">
              <a:solidFill>
                <a:schemeClr val="dk1"/>
              </a:solidFill>
              <a:latin typeface="Calibri"/>
              <a:ea typeface="Calibri"/>
              <a:cs typeface="Calibri"/>
              <a:sym typeface="Calibri"/>
            </a:endParaRPr>
          </a:p>
        </p:txBody>
      </p:sp>
      <p:pic>
        <p:nvPicPr>
          <p:cNvPr id="536" name="Google Shape;536;p22" descr="Logo Trường Đại học Công nghệ Thông tin và Truyền thông (ICTU)"/>
          <p:cNvPicPr preferRelativeResize="0"/>
          <p:nvPr/>
        </p:nvPicPr>
        <p:blipFill rotWithShape="1">
          <a:blip r:embed="rId3">
            <a:alphaModFix/>
          </a:blip>
          <a:srcRect/>
          <a:stretch/>
        </p:blipFill>
        <p:spPr>
          <a:xfrm>
            <a:off x="4778375" y="203200"/>
            <a:ext cx="406400" cy="406400"/>
          </a:xfrm>
          <a:prstGeom prst="rect">
            <a:avLst/>
          </a:prstGeom>
          <a:noFill/>
          <a:ln>
            <a:noFill/>
          </a:ln>
        </p:spPr>
      </p:pic>
      <p:pic>
        <p:nvPicPr>
          <p:cNvPr id="537" name="Google Shape;537;p22" descr="Logo CodeGym"/>
          <p:cNvPicPr preferRelativeResize="0"/>
          <p:nvPr/>
        </p:nvPicPr>
        <p:blipFill rotWithShape="1">
          <a:blip r:embed="rId4">
            <a:alphaModFix/>
          </a:blip>
          <a:srcRect t="-50" b="-50"/>
          <a:stretch/>
        </p:blipFill>
        <p:spPr>
          <a:xfrm>
            <a:off x="5438775" y="203200"/>
            <a:ext cx="1974850" cy="4064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4666</Words>
  <Application>Microsoft Office PowerPoint</Application>
  <PresentationFormat>Màn hình rộng</PresentationFormat>
  <Paragraphs>549</Paragraphs>
  <Slides>22</Slides>
  <Notes>22</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22</vt:i4>
      </vt:variant>
    </vt:vector>
  </HeadingPairs>
  <TitlesOfParts>
    <vt:vector size="27" baseType="lpstr">
      <vt:lpstr>Be Vietnam Pro</vt:lpstr>
      <vt:lpstr>Arial</vt:lpstr>
      <vt:lpstr>Calibri</vt:lpstr>
      <vt:lpstr>JetBrains Mono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Hiếu Kiên Vũ</cp:lastModifiedBy>
  <cp:revision>1</cp:revision>
  <dcterms:created xsi:type="dcterms:W3CDTF">2026-09-28T02:57:02Z</dcterms:created>
  <dcterms:modified xsi:type="dcterms:W3CDTF">2026-10-26T11:30:29Z</dcterms:modified>
</cp:coreProperties>
</file>